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  <p:embeddedFont>
      <p:font typeface="Inter"/>
      <p:regular r:id="rId25"/>
    </p:embeddedFont>
    <p:embeddedFont>
      <p:font typeface="Inter"/>
      <p:regular r:id="rId26"/>
    </p:embeddedFont>
    <p:embeddedFont>
      <p:font typeface="Inter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font" Target="fonts/font1.fntdata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4.fntdata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slideLayout" Target="../slideLayouts/slideLayout12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sv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sv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sv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sv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sv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sv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svg"/><Relationship Id="rId24" Type="http://schemas.openxmlformats.org/officeDocument/2006/relationships/slideLayout" Target="../slideLayouts/slideLayout13.xml"/><Relationship Id="rId2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26302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Intelligence Culturelle Augmentée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280190" y="3800832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Personnaliser l'expérience client à l'échelle mondiale grâce aux jumeaux numériques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4758302"/>
            <a:ext cx="7556421" cy="32385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80190" y="5013841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Case EMBA HEG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 3 : Rémy Giglio • David Valdivia • Nicolas Alexandre • Romain Pacheff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Novembre 2025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013" y="598051"/>
            <a:ext cx="9768364" cy="526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Summary : L'Opportunité Stratégique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4013" y="1545788"/>
            <a:ext cx="2527697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Contexte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74013" y="2030135"/>
            <a:ext cx="6435685" cy="1347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secteur du luxe traverse une transformation majeure. La fatigue du luxe se traduit par une perte de 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300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de la clientèle en 2 ans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selon le Comité Colbert et Deloitte. Les Millennials et la Gen Z représenteront </a:t>
            </a:r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 des acheteurs de luxe d'ici 2026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avec des attentes digitales natives et une exigence de personnalisation inspirée des standards technologiques.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74013" y="3546396"/>
            <a:ext cx="2527697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Gap Stratégique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74013" y="4030742"/>
            <a:ext cx="6435685" cy="1078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acteur horloger n'a implémenté d'intelligence culturelle à grande échelle. Cartier propose des recommandations IA mais sans adaptation culturelle. TAG Heuer possède une 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légitimité technologique reconnue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l'écosystème LVMH offre un avantage unique pour devenir pionnier.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28322" y="1545788"/>
            <a:ext cx="2527697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Solution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528322" y="2051209"/>
            <a:ext cx="6435685" cy="1254919"/>
          </a:xfrm>
          <a:prstGeom prst="roundRect">
            <a:avLst>
              <a:gd name="adj" fmla="val 5640"/>
            </a:avLst>
          </a:prstGeom>
          <a:solidFill>
            <a:srgbClr val="B3FFE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795" y="2304693"/>
            <a:ext cx="210622" cy="1684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75890" y="2261711"/>
            <a:ext cx="5719643" cy="808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Jumeau Numérique Culturel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des profils comportementaux régionaux via IA pour personnaliser automatiquement l'expérience client (site web + formation vendeurs)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28322" y="3495675"/>
            <a:ext cx="2527697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Business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528322" y="4085273"/>
            <a:ext cx="3112532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+20M</a:t>
            </a:r>
            <a:endParaRPr lang="en-US" sz="4350" dirty="0"/>
          </a:p>
        </p:txBody>
      </p:sp>
      <p:sp>
        <p:nvSpPr>
          <p:cNvPr id="13" name="Text 10"/>
          <p:cNvSpPr/>
          <p:nvPr/>
        </p:nvSpPr>
        <p:spPr>
          <a:xfrm>
            <a:off x="8031361" y="4851797"/>
            <a:ext cx="2106335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ROI Attendu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528322" y="5283518"/>
            <a:ext cx="311253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CHF/an après déploiement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851475" y="4085273"/>
            <a:ext cx="3112532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1.35M</a:t>
            </a:r>
            <a:endParaRPr lang="en-US" sz="4350" dirty="0"/>
          </a:p>
        </p:txBody>
      </p:sp>
      <p:sp>
        <p:nvSpPr>
          <p:cNvPr id="16" name="Text 13"/>
          <p:cNvSpPr/>
          <p:nvPr/>
        </p:nvSpPr>
        <p:spPr>
          <a:xfrm>
            <a:off x="11354514" y="4851797"/>
            <a:ext cx="2106335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Budget Total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0851475" y="5283518"/>
            <a:ext cx="311253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sur 24 mois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89839" y="5974199"/>
            <a:ext cx="3112532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4350" dirty="0"/>
          </a:p>
        </p:txBody>
      </p:sp>
      <p:sp>
        <p:nvSpPr>
          <p:cNvPr id="19" name="Text 16"/>
          <p:cNvSpPr/>
          <p:nvPr/>
        </p:nvSpPr>
        <p:spPr>
          <a:xfrm>
            <a:off x="9692878" y="6740723"/>
            <a:ext cx="2106335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Break-even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9189839" y="7172444"/>
            <a:ext cx="311253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 après POC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5908"/>
            <a:ext cx="905589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Contexte : La Transformation du Luxe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1282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L'industrie du luxe traverse une inflexion stratégique majeure. Trois forces convergentes rendent l'adoption de l'IA non plus souhaitable, mais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00815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essentielle pour la survie des maisons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471142"/>
            <a:ext cx="4215289" cy="3857625"/>
          </a:xfrm>
          <a:prstGeom prst="roundRect">
            <a:avLst>
              <a:gd name="adj" fmla="val 2161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768" y="267712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0081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479" y="2840712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9768" y="3470791"/>
            <a:ext cx="32256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Force 1 : "Fatigue du Luxe"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9768" y="3900011"/>
            <a:ext cx="380333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secteur a perdu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de sa clientèle en 2 ans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selon le Comité Colbert et Deloitte. Cette érosion témoigne d'une lassitude face à des expériences client qui peinent à se renouveler face aux attentes modernes et à l'hyperconnectivité.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2471142"/>
            <a:ext cx="4215408" cy="3857625"/>
          </a:xfrm>
          <a:prstGeom prst="roundRect">
            <a:avLst>
              <a:gd name="adj" fmla="val 2161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13415" y="267712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00815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126" y="2840712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415" y="3470791"/>
            <a:ext cx="380345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Force 2 : Nouvelles Générations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413415" y="4210169"/>
            <a:ext cx="380345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Millennials et Gen Z représenteront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 des acheteurs luxe d'ici 2026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Natifs du numérique, ils attendent des expériences fluides, instantanées et hyper-personnalisées au standard des géants tech comme Amazon ou Netflix.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21203" y="2471142"/>
            <a:ext cx="4215289" cy="3857625"/>
          </a:xfrm>
          <a:prstGeom prst="roundRect">
            <a:avLst>
              <a:gd name="adj" fmla="val 2161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27181" y="267712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00815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0892" y="2840712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7181" y="3470791"/>
            <a:ext cx="380333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Force 3 : Mondialisation Culturelle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27181" y="4210169"/>
            <a:ext cx="380333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clients internationaux ont des codes culturels radicalement différents. Une étude BCG révèle qu'ils comparent désormais l'expérience luxe aux standards établis par des entreprises tech d'autres secteurs.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091446" y="6775252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"L'IA est perçue comme un puissant levier de réconciliation pour réenchanter l'expérience client et raviver la désirabilité, tout en respectant les codes du luxe authentique."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793790" y="6552009"/>
            <a:ext cx="22860" cy="1081564"/>
          </a:xfrm>
          <a:prstGeom prst="rect">
            <a:avLst/>
          </a:prstGeom>
          <a:solidFill>
            <a:srgbClr val="00815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5917" y="457795"/>
            <a:ext cx="514862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État de l'Art : Benchmark Concurrentiel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5917" y="1012269"/>
            <a:ext cx="1329856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L'analyse du marché révèle des niveaux de maturité IA très variables dans l'horlogerie de luxe, avec un </a:t>
            </a:r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E300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stratégique majeur</a:t>
            </a:r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TAG Heuer peut exploiter.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65917" y="1307068"/>
            <a:ext cx="13298567" cy="1524714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15240">
            <a:solidFill>
              <a:srgbClr val="B2E5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157" y="1322308"/>
            <a:ext cx="432792" cy="1494234"/>
          </a:xfrm>
          <a:prstGeom prst="roundRect">
            <a:avLst>
              <a:gd name="adj" fmla="val 6276"/>
            </a:avLst>
          </a:prstGeom>
          <a:solidFill>
            <a:srgbClr val="CCFF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602" y="1988225"/>
            <a:ext cx="162282" cy="1622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2058" y="1430417"/>
            <a:ext cx="1352669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Cartier — Leader IA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22058" y="1664375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Maturité Élevée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222058" y="1902381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Moteur recommandation (+35% engagement online)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222058" y="2113359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Détection fraude sophistiquée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222058" y="2324338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Essayage virtuel AR opérationnel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222058" y="2535317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E300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: personnalisation culturelle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65917" y="2939891"/>
            <a:ext cx="13298567" cy="1313736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 w="15240">
            <a:solidFill>
              <a:srgbClr val="B2E5D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1157" y="2955131"/>
            <a:ext cx="432792" cy="1283256"/>
          </a:xfrm>
          <a:prstGeom prst="roundRect">
            <a:avLst>
              <a:gd name="adj" fmla="val 6276"/>
            </a:avLst>
          </a:prstGeom>
          <a:solidFill>
            <a:srgbClr val="CCFFE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602" y="3515558"/>
            <a:ext cx="162282" cy="1622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22058" y="3063240"/>
            <a:ext cx="1352669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Omega — Innovant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222058" y="3297198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Maturité Moyenne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222058" y="3535204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Try-On (réalité augmentée)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222058" y="3746183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Personnalisation limitée aux modèles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222058" y="3957161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E300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: adaptation comportementale régionale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65917" y="4361736"/>
            <a:ext cx="13298567" cy="1102757"/>
          </a:xfrm>
          <a:prstGeom prst="roundRect">
            <a:avLst>
              <a:gd name="adj" fmla="val 4122"/>
            </a:avLst>
          </a:prstGeom>
          <a:solidFill>
            <a:srgbClr val="FFFFFF"/>
          </a:solidFill>
          <a:ln w="15240">
            <a:solidFill>
              <a:srgbClr val="B2E5D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1157" y="4376976"/>
            <a:ext cx="432792" cy="1072277"/>
          </a:xfrm>
          <a:prstGeom prst="roundRect">
            <a:avLst>
              <a:gd name="adj" fmla="val 6276"/>
            </a:avLst>
          </a:prstGeom>
          <a:solidFill>
            <a:srgbClr val="CCFFEC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602" y="4831913"/>
            <a:ext cx="162282" cy="16228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22058" y="4485084"/>
            <a:ext cx="1352669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Rolex — Discret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222058" y="4719042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Maturité Faible côté client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222058" y="4957048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interne (contrôle qualité, anti-contrefaçon)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222058" y="5168027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E300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: initiatives client-facing visibles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665917" y="5572601"/>
            <a:ext cx="13298567" cy="1313736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 w="15240">
            <a:solidFill>
              <a:srgbClr val="B2E5D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81157" y="5587841"/>
            <a:ext cx="432792" cy="1283256"/>
          </a:xfrm>
          <a:prstGeom prst="roundRect">
            <a:avLst>
              <a:gd name="adj" fmla="val 6276"/>
            </a:avLst>
          </a:prstGeom>
          <a:solidFill>
            <a:srgbClr val="CCFFEC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602" y="6148268"/>
            <a:ext cx="162282" cy="16228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22058" y="5695950"/>
            <a:ext cx="1403866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LVMH — Écosystème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222058" y="5929908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Groupe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222058" y="6167914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Philosophie "Quiet Tech" (IA invisible)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1222058" y="6378893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Plateforme data mutualisée (GCP + Dataiku)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1222058" y="6589871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IA interne "MaIA" (40,000 employés)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665917" y="7008019"/>
            <a:ext cx="13298567" cy="770572"/>
          </a:xfrm>
          <a:prstGeom prst="roundRect">
            <a:avLst>
              <a:gd name="adj" fmla="val 5898"/>
            </a:avLst>
          </a:prstGeom>
          <a:solidFill>
            <a:srgbClr val="B3FFE2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025" y="7161133"/>
            <a:ext cx="202883" cy="16228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085017" y="7143155"/>
            <a:ext cx="1847017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Opportunité TAG Heuer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1085017" y="7454027"/>
            <a:ext cx="12771358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Devenir </a:t>
            </a:r>
            <a:pPr algn="l"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pionnier de l'intelligence culturelle</a:t>
            </a:r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dans l'horlogerie de luxe — aucun concurrent ne l'a implémentée à grande échelle.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538639"/>
            <a:ext cx="4734520" cy="489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Défi : Gap Stratégique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82955" y="1419344"/>
            <a:ext cx="2348984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Problème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82955" y="1869519"/>
            <a:ext cx="4996577" cy="1002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 Heuer opère sur tous les continents avec des clients aux codes culturels radicalement différents. Actuellement, 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300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l'expérience proposée est standardisée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ne tenant pas compte des nuances comportementales régionales.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2955" y="3028117"/>
            <a:ext cx="2826306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Conséquences Business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82955" y="3478292"/>
            <a:ext cx="499657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de conversion suboptimal (friction culturelle)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2955" y="3783568"/>
            <a:ext cx="4996577" cy="501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vendeurs standardisée inadaptée aux spécificités locales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2955" y="4339352"/>
            <a:ext cx="499657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Opportunités de personnalisation manquées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2955" y="4644628"/>
            <a:ext cx="499657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Désalignement avec attentes clients internationaux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69104" y="1419344"/>
            <a:ext cx="4056817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Exemples Concrets de Divergences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69104" y="1889046"/>
            <a:ext cx="3764637" cy="1926431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 w="22860">
            <a:solidFill>
              <a:srgbClr val="B2E5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8532" y="2068473"/>
            <a:ext cx="195750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🇨🇳</a:t>
            </a:r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Client Chinois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48532" y="2469713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Valorise prestige social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48532" y="2774990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Recherche connexions réseau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8532" y="3080266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Préfère navigation visuelle riche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8532" y="3385542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Sensible au storytelling héritage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90309" y="1889046"/>
            <a:ext cx="3764637" cy="1926431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 w="22860">
            <a:solidFill>
              <a:srgbClr val="B2E5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69736" y="2068473"/>
            <a:ext cx="195750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🇺🇸</a:t>
            </a:r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Client Américain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69736" y="2469713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Axé performance/innovation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69736" y="2774990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Comparaison rapide specs techniques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69736" y="3080266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Décision autonome et rapide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69736" y="3385542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Valorise l'authenticité directe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69104" y="3972044"/>
            <a:ext cx="7685842" cy="1926431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 w="22860">
            <a:solidFill>
              <a:srgbClr val="B2E5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8532" y="4151471"/>
            <a:ext cx="2401491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🇦🇪</a:t>
            </a:r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Client Moyen-Oriental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48532" y="4552712"/>
            <a:ext cx="732698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Importance exclusivité/personnalisation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48532" y="4857988"/>
            <a:ext cx="732698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 vendeur privilégiée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48532" y="5163264"/>
            <a:ext cx="732698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Recherche pièces uniques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48532" y="5468541"/>
            <a:ext cx="732698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Valorise service VIP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7746" y="6485453"/>
            <a:ext cx="2348984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L'Opportunité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17746" y="7013853"/>
            <a:ext cx="12829699" cy="501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Avec sa </a:t>
            </a:r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légitimité technologique établie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(TAG Heuer Connected) et l'infrastructure LVMH (GCP, Dataiku), TAG Heuer peut devenir pionnier de l'intelligence culturelle horlogère.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2955" y="6250662"/>
            <a:ext cx="22860" cy="1440299"/>
          </a:xfrm>
          <a:prstGeom prst="rect">
            <a:avLst/>
          </a:prstGeom>
          <a:solidFill>
            <a:srgbClr val="00815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543282"/>
            <a:ext cx="9352836" cy="58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Solution : Jumeau Numérique Culturel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90218" y="1598890"/>
            <a:ext cx="281511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Concept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0218" y="2138363"/>
            <a:ext cx="5620583" cy="120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un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highlight>
                  <a:srgbClr val="00815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"profil comportemental intelligent"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 région pour personnaliser automatiquement l'expérience client, en s'appuyant sur des patterns réels issus de milliers de comportements clients.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90218" y="3526631"/>
            <a:ext cx="3858697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Principe de Fonctionnement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0218" y="4066103"/>
            <a:ext cx="5620583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L'IA analyse les données historiques (navigation site, achats, interactions boutiques) pour identifier des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comportementaux par région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Ces profils ne sont pas des stéréotypes, mais des tendances probabilistes validées par des données réelles.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90218" y="5777984"/>
            <a:ext cx="5620583" cy="1697831"/>
          </a:xfrm>
          <a:prstGeom prst="roundRect">
            <a:avLst>
              <a:gd name="adj" fmla="val 4643"/>
            </a:avLst>
          </a:prstGeom>
          <a:solidFill>
            <a:srgbClr val="B3FFE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860" y="6061710"/>
            <a:ext cx="234553" cy="1876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00056" y="6012537"/>
            <a:ext cx="4823103" cy="120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Philosophie "Quiet Tech"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L'IA opère en coulisses pour augmenter les capacités humaines sans jamais déshumaniser la relation client — alignement total avec la stratégie LVMH.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876336" y="1598890"/>
            <a:ext cx="3561278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 Applications Prioritaires</a:t>
            </a:r>
            <a:endParaRPr lang="en-US" sz="2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336" y="2161818"/>
            <a:ext cx="938332" cy="17565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02310" y="2349460"/>
            <a:ext cx="2365058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Site Web Adaptatif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002310" y="2830235"/>
            <a:ext cx="5845373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Personnaliser automatiquement la navigation online selon le profil culturel détecté : mise en avant produits, argumentaires, visuels, parcours adaptés aux codes régionaux.</a:t>
            </a:r>
            <a:endParaRPr lang="en-US" sz="14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336" y="3918347"/>
            <a:ext cx="938332" cy="175652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02310" y="4105989"/>
            <a:ext cx="2597229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Formation Vendeurs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002310" y="4586764"/>
            <a:ext cx="5845373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Entraîner nos équipes aux codes culturels via simulateurs IA conversationnels permettant de pratiquer avec des "clients virtuels" représentatifs de chaque région.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876336" y="5885974"/>
            <a:ext cx="6971348" cy="600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Analogie : Comme un bon ami qui connaît les goûts de chaque invité avant une soirée.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1670"/>
            <a:ext cx="97100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 Détaillé : Intelligence Culturelle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9858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312908"/>
            <a:ext cx="4215289" cy="22860"/>
          </a:xfrm>
          <a:prstGeom prst="rect">
            <a:avLst/>
          </a:prstGeom>
          <a:solidFill>
            <a:srgbClr val="00815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457807"/>
            <a:ext cx="30135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de Données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887028"/>
            <a:ext cx="4215289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système s'appuie sur 3 sources fusionnées : historiques comportements clients (boutiques + online), CRM Salesforce (achats, préférences, interactions), navigation site web (clics, temps, parcours), données mutualisées LVMH (Hublot, Zenith).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199858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2312908"/>
            <a:ext cx="4215408" cy="22860"/>
          </a:xfrm>
          <a:prstGeom prst="rect">
            <a:avLst/>
          </a:prstGeom>
          <a:solidFill>
            <a:srgbClr val="008150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2457807"/>
            <a:ext cx="37183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Création des Profils Régionaux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2887028"/>
            <a:ext cx="4215408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Algorithmes Machine Learning (GCP + Dataiku) analysent des milliers de clients par région pour identifier des patterns comportementaux récurrents. Ces profils sont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probabilistes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(tendances) et non déterministes (stéréotypes).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199858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2312908"/>
            <a:ext cx="4215289" cy="22860"/>
          </a:xfrm>
          <a:prstGeom prst="rect">
            <a:avLst/>
          </a:prstGeom>
          <a:solidFill>
            <a:srgbClr val="008150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24578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 Continue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2887028"/>
            <a:ext cx="42152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loop : chaque interaction enrichit le profil. Validation données réelles (pas d'hypothèses non fondées). Amélioration continue via A/B testing systématique.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523875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Garanties Éthiques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3790" y="608707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basés sur comportements réels (milliers de clients)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93790" y="647402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stéréotypes raciaux ou discriminatoires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93790" y="686097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RGPD-compliant strict (Suisse)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64874" y="608707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Opt-in utilisateur explicite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64874" y="647402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Données anonymisées et chiffrées end-to-end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564874" y="686097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algorithmes régulier (détection biais)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620" y="529114"/>
            <a:ext cx="5061228" cy="39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1 : Site Web Adaptatif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769620" y="1232416"/>
            <a:ext cx="1875949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69620" y="1591985"/>
            <a:ext cx="438352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site TAG Heuer détecte automatiquement la région du visiteur et adapte l'expérience de navigation selon le profil comportemental régional,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intervention humaine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69620" y="2332673"/>
            <a:ext cx="4383524" cy="931307"/>
          </a:xfrm>
          <a:prstGeom prst="roundRect">
            <a:avLst>
              <a:gd name="adj" fmla="val 5640"/>
            </a:avLst>
          </a:prstGeom>
          <a:solidFill>
            <a:srgbClr val="B3FFE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636" y="2524244"/>
            <a:ext cx="156329" cy="1250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5980" y="2488883"/>
            <a:ext cx="385214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Salesforce Commerce Cloud + algorithmes ML temps réel (latence &lt;200ms pour expérience fluide)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69620" y="3404592"/>
            <a:ext cx="1875949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Résultat Attendu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9620" y="3764161"/>
            <a:ext cx="43835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Augmentation conversion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+15-25%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grâce à personnalisation culturelle pertinente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65802" y="1232416"/>
            <a:ext cx="2186583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Éléments Personnalisés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65802" y="1607582"/>
            <a:ext cx="8402479" cy="1516856"/>
          </a:xfrm>
          <a:prstGeom prst="roundRect">
            <a:avLst>
              <a:gd name="adj" fmla="val 3463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98438" y="1740218"/>
            <a:ext cx="2019181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Navigation &amp; Mise en page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98438" y="2060615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Hiérarchie visuelle adaptée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98438" y="2304336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Visuels dominants pour Asie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598438" y="2548057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Specs techniques en avant pour USA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598438" y="2791778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Parcours optimisé par région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65802" y="3249454"/>
            <a:ext cx="8402479" cy="1516856"/>
          </a:xfrm>
          <a:prstGeom prst="roundRect">
            <a:avLst>
              <a:gd name="adj" fmla="val 3463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98438" y="3382089"/>
            <a:ext cx="1967389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Contenu &amp; Argumentaires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98438" y="3702487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Collections pertinentes par région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598438" y="3946207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Carrera sport → USA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598438" y="4189928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Monaco prestige → Moyen-Orient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598438" y="4433649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Arguments contextualisés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65802" y="4891326"/>
            <a:ext cx="8402479" cy="1273135"/>
          </a:xfrm>
          <a:prstGeom prst="roundRect">
            <a:avLst>
              <a:gd name="adj" fmla="val 4126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98438" y="5023961"/>
            <a:ext cx="1633776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Visuels &amp; Storytelling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598438" y="5344358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résonnant avec codes culturels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598438" y="5588079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éditorial adapté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598438" y="5831800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Direct/factuel vs narratif/émotionnel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465802" y="6289477"/>
            <a:ext cx="8402479" cy="1273135"/>
          </a:xfrm>
          <a:prstGeom prst="roundRect">
            <a:avLst>
              <a:gd name="adj" fmla="val 4126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98438" y="6422112"/>
            <a:ext cx="2099191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Recommandations Produits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598438" y="6742509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Suggestions basées sur patterns régionaux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598438" y="6986230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Cross-selling intelligent adapté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598438" y="7229951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Personnalisation temps réel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3672"/>
            <a:ext cx="681930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2 : Formation Vendeurs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363266"/>
            <a:ext cx="471094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Simulateur IA Conversationnel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93790" y="2156936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Besoin Terrain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93790" y="2613303"/>
            <a:ext cx="4984790" cy="1016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 Lucato (Directeur Boutique TAG Heuer Genève) identifie l'adaptation culturelle comme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compétence clé mais difficile à acquérir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La formation actuelle standardisée est inadaptée aux spécificités locales.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31915" y="3808214"/>
            <a:ext cx="474666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"Ce serait dommage de ne pas y croire. L'IA doit rester un outil ; la vente, c'est avant tout une rencontre humaine."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Marc Lucato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3790" y="3808214"/>
            <a:ext cx="22860" cy="762238"/>
          </a:xfrm>
          <a:prstGeom prst="rect">
            <a:avLst/>
          </a:prstGeom>
          <a:solidFill>
            <a:srgbClr val="008150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4749046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 Direction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93790" y="5205413"/>
            <a:ext cx="4984790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Julien De Coupigny (Directeur E-Commerce TAG Heuer) valide la pertinence pour training et maintien expertise relationnelle,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pilier de l'expérience luxe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73391" y="2156936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Solution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173391" y="2613303"/>
            <a:ext cx="76707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Plateforme de formation utilisant GPT-4 pour créer des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"jumeaux numériques clients"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représentatifs de chaque région, permettant aux vendeurs de s'entraîner dans un environnement sûr.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3391" y="3300055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89288" y="335458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Fonctionnement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89288" y="3761303"/>
            <a:ext cx="3220283" cy="1270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vendeur sélectionne un profil client régional (ex: "Young Striver Chine") et engage une conversation réaliste avec l'agent IA qui simule comportements, objections, attentes spécifiques.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107930" y="3300055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23828" y="3354586"/>
            <a:ext cx="20007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Bénéfices Formation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623828" y="3761303"/>
            <a:ext cx="3220283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Entraînement illimité sans risque client réel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23828" y="4324945"/>
            <a:ext cx="3220283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immédiat sur adaptation culturelle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623828" y="4888587"/>
            <a:ext cx="3220283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Maintien storytelling marque TAG Heuer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623828" y="5452229"/>
            <a:ext cx="3220283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Montée en compétence accélérée nouveaux collaborateurs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3391" y="6277928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89288" y="633245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Déploiement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689288" y="6739176"/>
            <a:ext cx="7154823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Boutique Genève (4 collaborateurs) → Extension réseau owned stores → Wholesale partenaires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018" y="490895"/>
            <a:ext cx="4862036" cy="362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Insights Terrain : Boutique Genève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14018" y="899874"/>
            <a:ext cx="4944785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Retour d'Expérience Marc Lucato, Directeur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4018" y="1479828"/>
            <a:ext cx="1740575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Profil Boutique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4018" y="1885831"/>
            <a:ext cx="4436745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07062" y="2413635"/>
            <a:ext cx="1450538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Collaborateurs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4018" y="2710815"/>
            <a:ext cx="44367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10-20 ans expérience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4018" y="3186589"/>
            <a:ext cx="4436745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07062" y="3714393"/>
            <a:ext cx="1450538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 sur RDV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4018" y="4011573"/>
            <a:ext cx="44367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Rencontres programmées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4018" y="4487347"/>
            <a:ext cx="4436745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07062" y="5015151"/>
            <a:ext cx="1450538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Clients VIC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4018" y="5312331"/>
            <a:ext cx="44367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récurrente fidèle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4018" y="5788104"/>
            <a:ext cx="4436745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207062" y="6315908"/>
            <a:ext cx="1450538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Trafic/Jour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4018" y="6613088"/>
            <a:ext cx="44367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Visiteurs quotidiens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4018" y="6929318"/>
            <a:ext cx="1740575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Clientèle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4018" y="7262813"/>
            <a:ext cx="44367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Suisse mature, exigeante, connaisseurs (35-55 ans). Attentes élevées en matière de conseil expert et personnalisation.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41513" y="1479828"/>
            <a:ext cx="2736771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Approche Actuelle de Formation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41513" y="1813322"/>
            <a:ext cx="848237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tripartite : boutique (learning by doing) + modules online (collections, tech) + externe (FHH - Fondation Haute Horlogerie). Nouveau collaborateur opérationnel en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mois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maîtrise culture horlogère sur plusieurs années.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1513" y="2300764"/>
            <a:ext cx="3541752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Vision IA — 4 Usages Potentiels Identifiés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41513" y="2710398"/>
            <a:ext cx="57983" cy="57983"/>
          </a:xfrm>
          <a:prstGeom prst="roundRect">
            <a:avLst>
              <a:gd name="adj" fmla="val 788507"/>
            </a:avLst>
          </a:prstGeom>
          <a:solidFill>
            <a:srgbClr val="008150"/>
          </a:solidFill>
          <a:ln/>
        </p:spPr>
      </p:sp>
      <p:sp>
        <p:nvSpPr>
          <p:cNvPr id="23" name="Text 21"/>
          <p:cNvSpPr/>
          <p:nvPr/>
        </p:nvSpPr>
        <p:spPr>
          <a:xfrm>
            <a:off x="5615464" y="2648783"/>
            <a:ext cx="2796540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Suivi client et relance automatisée CRM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15464" y="2945963"/>
            <a:ext cx="83084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Réactivation clients oubliés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1513" y="3425369"/>
            <a:ext cx="57983" cy="57983"/>
          </a:xfrm>
          <a:prstGeom prst="roundRect">
            <a:avLst>
              <a:gd name="adj" fmla="val 788507"/>
            </a:avLst>
          </a:prstGeom>
          <a:solidFill>
            <a:srgbClr val="008150"/>
          </a:solidFill>
          <a:ln/>
        </p:spPr>
      </p:sp>
      <p:sp>
        <p:nvSpPr>
          <p:cNvPr id="26" name="Text 24"/>
          <p:cNvSpPr/>
          <p:nvPr/>
        </p:nvSpPr>
        <p:spPr>
          <a:xfrm>
            <a:off x="5615464" y="3363754"/>
            <a:ext cx="1450538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Analyse culturelle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15464" y="3660934"/>
            <a:ext cx="83084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Adapter approche selon origine client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1513" y="4140339"/>
            <a:ext cx="57983" cy="57983"/>
          </a:xfrm>
          <a:prstGeom prst="roundRect">
            <a:avLst>
              <a:gd name="adj" fmla="val 788507"/>
            </a:avLst>
          </a:prstGeom>
          <a:solidFill>
            <a:srgbClr val="008150"/>
          </a:solidFill>
          <a:ln/>
        </p:spPr>
      </p:sp>
      <p:sp>
        <p:nvSpPr>
          <p:cNvPr id="29" name="Text 27"/>
          <p:cNvSpPr/>
          <p:nvPr/>
        </p:nvSpPr>
        <p:spPr>
          <a:xfrm>
            <a:off x="5615464" y="4078724"/>
            <a:ext cx="2121932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Continuité expérience digitale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15464" y="4375904"/>
            <a:ext cx="83084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Reprise échanges boutique sur plateforme online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41513" y="4855309"/>
            <a:ext cx="57983" cy="57983"/>
          </a:xfrm>
          <a:prstGeom prst="roundRect">
            <a:avLst>
              <a:gd name="adj" fmla="val 788507"/>
            </a:avLst>
          </a:prstGeom>
          <a:solidFill>
            <a:srgbClr val="008150"/>
          </a:solidFill>
          <a:ln/>
        </p:spPr>
      </p:sp>
      <p:sp>
        <p:nvSpPr>
          <p:cNvPr id="32" name="Text 30"/>
          <p:cNvSpPr/>
          <p:nvPr/>
        </p:nvSpPr>
        <p:spPr>
          <a:xfrm>
            <a:off x="5615464" y="4793694"/>
            <a:ext cx="2363391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Formation avec personae virtuels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15464" y="5090874"/>
            <a:ext cx="83084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S'exercer adapter discours selon profil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1513" y="5407104"/>
            <a:ext cx="8482370" cy="678775"/>
          </a:xfrm>
          <a:prstGeom prst="roundRect">
            <a:avLst>
              <a:gd name="adj" fmla="val 7180"/>
            </a:avLst>
          </a:prstGeom>
          <a:solidFill>
            <a:srgbClr val="B3FFE2"/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7480" y="5579983"/>
            <a:ext cx="145018" cy="115967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818465" y="5552003"/>
            <a:ext cx="79894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Garde-fou Critique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"L'IA doit rester un outil ; la vente, c'est avant tout une rencontre humaine." → Philosophie "Quiet Tech" validée terrain.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14601"/>
            <a:ext cx="56534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Bénéfices Stratégiques &amp; ROI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428274"/>
            <a:ext cx="13042821" cy="1598771"/>
          </a:xfrm>
          <a:prstGeom prst="roundRect">
            <a:avLst>
              <a:gd name="adj" fmla="val 4171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435894"/>
            <a:ext cx="4342448" cy="1583531"/>
          </a:xfrm>
          <a:prstGeom prst="roundRect">
            <a:avLst>
              <a:gd name="adj" fmla="val 4211"/>
            </a:avLst>
          </a:prstGeom>
          <a:solidFill>
            <a:srgbClr val="CCFFE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94604"/>
            <a:ext cx="26098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Conversion &amp; Revenus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60120" y="1987510"/>
            <a:ext cx="40250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online :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+15-25%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297073"/>
            <a:ext cx="40250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Drive-to-store :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+20%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visites qualifiées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606635"/>
            <a:ext cx="40250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cumulé :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+15-25M CHF/an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43857" y="1435894"/>
            <a:ext cx="4342567" cy="1583531"/>
          </a:xfrm>
          <a:prstGeom prst="rect">
            <a:avLst/>
          </a:prstGeom>
          <a:solidFill>
            <a:srgbClr val="CCFFEC"/>
          </a:solidFill>
          <a:ln/>
        </p:spPr>
      </p:sp>
      <p:sp>
        <p:nvSpPr>
          <p:cNvPr id="10" name="Shape 8"/>
          <p:cNvSpPr/>
          <p:nvPr/>
        </p:nvSpPr>
        <p:spPr>
          <a:xfrm>
            <a:off x="5143857" y="1435894"/>
            <a:ext cx="22860" cy="1583531"/>
          </a:xfrm>
          <a:prstGeom prst="roundRect">
            <a:avLst>
              <a:gd name="adj" fmla="val 291721"/>
            </a:avLst>
          </a:prstGeom>
          <a:solidFill>
            <a:srgbClr val="B2E5D2"/>
          </a:solidFill>
          <a:ln/>
        </p:spPr>
      </p:sp>
      <p:sp>
        <p:nvSpPr>
          <p:cNvPr id="11" name="Text 9"/>
          <p:cNvSpPr/>
          <p:nvPr/>
        </p:nvSpPr>
        <p:spPr>
          <a:xfrm>
            <a:off x="5302568" y="1594604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Satisfaction Client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5302568" y="1987510"/>
            <a:ext cx="40251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Promoter Score :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 points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02568" y="2297073"/>
            <a:ext cx="40251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de rétention :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2568" y="2606635"/>
            <a:ext cx="40251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Recommandations :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+40%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486424" y="1435894"/>
            <a:ext cx="4342567" cy="1583531"/>
          </a:xfrm>
          <a:prstGeom prst="rect">
            <a:avLst/>
          </a:prstGeom>
          <a:solidFill>
            <a:srgbClr val="CCFFEC"/>
          </a:solidFill>
          <a:ln/>
        </p:spPr>
      </p:sp>
      <p:sp>
        <p:nvSpPr>
          <p:cNvPr id="16" name="Shape 14"/>
          <p:cNvSpPr/>
          <p:nvPr/>
        </p:nvSpPr>
        <p:spPr>
          <a:xfrm>
            <a:off x="9486424" y="1435894"/>
            <a:ext cx="22860" cy="1583531"/>
          </a:xfrm>
          <a:prstGeom prst="roundRect">
            <a:avLst>
              <a:gd name="adj" fmla="val 291721"/>
            </a:avLst>
          </a:prstGeom>
          <a:solidFill>
            <a:srgbClr val="B2E5D2"/>
          </a:solidFill>
          <a:ln/>
        </p:spPr>
      </p:sp>
      <p:sp>
        <p:nvSpPr>
          <p:cNvPr id="17" name="Text 15"/>
          <p:cNvSpPr/>
          <p:nvPr/>
        </p:nvSpPr>
        <p:spPr>
          <a:xfrm>
            <a:off x="9645134" y="1594604"/>
            <a:ext cx="287369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Efficacité Opérationnelle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9645134" y="1987510"/>
            <a:ext cx="40251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Temps formation :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-40%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45134" y="2297073"/>
            <a:ext cx="40251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Productivité retail :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45134" y="2606635"/>
            <a:ext cx="40251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Coûts customer care :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-30%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93790" y="3364349"/>
            <a:ext cx="348031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Positionnement Concurrentiel</a:t>
            </a:r>
            <a:endParaRPr lang="en-US" sz="18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321" y="3845481"/>
            <a:ext cx="238125" cy="2381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09687" y="3840599"/>
            <a:ext cx="221468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First-mover advantage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1309687" y="4247317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Pionnier intelligence culturelle horlogerie luxe</a:t>
            </a:r>
            <a:endParaRPr lang="en-US" sz="12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321" y="4823817"/>
            <a:ext cx="238125" cy="23812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309687" y="481893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Différenciation forte</a:t>
            </a:r>
            <a:endParaRPr lang="en-US" sz="1550" dirty="0"/>
          </a:p>
        </p:txBody>
      </p:sp>
      <p:sp>
        <p:nvSpPr>
          <p:cNvPr id="27" name="Text 23"/>
          <p:cNvSpPr/>
          <p:nvPr/>
        </p:nvSpPr>
        <p:spPr>
          <a:xfrm>
            <a:off x="1309687" y="5225653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Cartier/Omega/Rolex</a:t>
            </a:r>
            <a:endParaRPr lang="en-US" sz="12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321" y="5802154"/>
            <a:ext cx="238125" cy="23812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309687" y="5797272"/>
            <a:ext cx="201239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Renforcement image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1309687" y="6203990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Continuité TAG Heuer Connected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7516416" y="3364349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Risques Maîtrisés</a:t>
            </a:r>
            <a:endParaRPr lang="en-US" sz="185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75947" y="3845481"/>
            <a:ext cx="238125" cy="23812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032313" y="3840599"/>
            <a:ext cx="215265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Approche progressive</a:t>
            </a:r>
            <a:endParaRPr lang="en-US" sz="1550" dirty="0"/>
          </a:p>
        </p:txBody>
      </p:sp>
      <p:sp>
        <p:nvSpPr>
          <p:cNvPr id="34" name="Text 28"/>
          <p:cNvSpPr/>
          <p:nvPr/>
        </p:nvSpPr>
        <p:spPr>
          <a:xfrm>
            <a:off x="8032313" y="4247317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6 mois valide hypothèses</a:t>
            </a:r>
            <a:endParaRPr lang="en-US" sz="125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75947" y="4823817"/>
            <a:ext cx="238125" cy="23812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032313" y="481893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Budget maîtrisé</a:t>
            </a:r>
            <a:endParaRPr lang="en-US" sz="1550" dirty="0"/>
          </a:p>
        </p:txBody>
      </p:sp>
      <p:sp>
        <p:nvSpPr>
          <p:cNvPr id="37" name="Text 30"/>
          <p:cNvSpPr/>
          <p:nvPr/>
        </p:nvSpPr>
        <p:spPr>
          <a:xfrm>
            <a:off x="8032313" y="5225653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1.35M CHF sur 24 mois</a:t>
            </a:r>
            <a:endParaRPr lang="en-US" sz="12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75947" y="5802154"/>
            <a:ext cx="238125" cy="23812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032313" y="579727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Break-even rapide</a:t>
            </a:r>
            <a:endParaRPr lang="en-US" sz="1550" dirty="0"/>
          </a:p>
        </p:txBody>
      </p:sp>
      <p:sp>
        <p:nvSpPr>
          <p:cNvPr id="40" name="Text 32"/>
          <p:cNvSpPr/>
          <p:nvPr/>
        </p:nvSpPr>
        <p:spPr>
          <a:xfrm>
            <a:off x="8032313" y="6203990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mois après POC</a:t>
            </a:r>
            <a:endParaRPr lang="en-US" sz="125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75947" y="6780490"/>
            <a:ext cx="238125" cy="238125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032313" y="677560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Conformité garantie</a:t>
            </a:r>
            <a:endParaRPr lang="en-US" sz="1550" dirty="0"/>
          </a:p>
        </p:txBody>
      </p:sp>
      <p:sp>
        <p:nvSpPr>
          <p:cNvPr id="43" name="Text 34"/>
          <p:cNvSpPr/>
          <p:nvPr/>
        </p:nvSpPr>
        <p:spPr>
          <a:xfrm>
            <a:off x="8032313" y="7182326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RGPD stricte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108" y="462558"/>
            <a:ext cx="4534853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Technique Simplifiée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108" y="1349812"/>
            <a:ext cx="4355902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288" y="1786652"/>
            <a:ext cx="1638300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Couche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81288" y="2056924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Historiques comportements clients (boutiques + online)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1288" y="2269808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Salesforce (achats, préférences, interactions)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81288" y="2482691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site web (clics, temps, parcours)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81288" y="2695575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Données mutualisées LVMH (Hublot, Zenith)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81288" y="2908459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:</a:t>
            </a:r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Région + Génération + Parcours d'achat</a:t>
            </a:r>
            <a:endParaRPr lang="en-US" sz="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190" y="1185982"/>
            <a:ext cx="4355902" cy="1143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46370" y="1622822"/>
            <a:ext cx="1784390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Couche Intelligence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246370" y="1893094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Algorithmes Machine Learning (GCP + Dataiku)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246370" y="2105978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Création profils comportementaux par région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246370" y="2318861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probabilistes (pas de stéréotypes)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246370" y="2531745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données réelles (milliers de clients)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246370" y="2744629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Amélioration continue (feedback loop)</a:t>
            </a:r>
            <a:endParaRPr lang="en-US" sz="8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272" y="1022152"/>
            <a:ext cx="4355902" cy="1143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11452" y="1458992"/>
            <a:ext cx="185868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Couche Applications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9711452" y="1729264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web adaptatif (personnalisation automatique)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9711452" y="1942148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vendeurs (simulateur IA GPT-4)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9711452" y="2155031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Recommandations produits contextuelles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9711452" y="2367915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Drive-to-store intelligent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9711452" y="2580799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performance temps réel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72108" y="3424357"/>
            <a:ext cx="1684139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Stack Technologique</a:t>
            </a:r>
            <a:endParaRPr lang="en-US" sz="12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108" y="3752017"/>
            <a:ext cx="218361" cy="21836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108" y="4106823"/>
            <a:ext cx="1365290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Cloud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72108" y="4386620"/>
            <a:ext cx="650986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data LVMH</a:t>
            </a:r>
            <a:endParaRPr lang="en-US" sz="8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108" y="4779645"/>
            <a:ext cx="218361" cy="21836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72108" y="5134451"/>
            <a:ext cx="1365290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Dataiku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672108" y="5414248"/>
            <a:ext cx="650986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Plateforme ML mutualisée groupe</a:t>
            </a:r>
            <a:endParaRPr lang="en-US" sz="8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2108" y="5807273"/>
            <a:ext cx="218361" cy="2183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108" y="6162080"/>
            <a:ext cx="1365290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72108" y="6441877"/>
            <a:ext cx="650986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central + Agentforce</a:t>
            </a:r>
            <a:endParaRPr lang="en-US" sz="8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2108" y="6834902"/>
            <a:ext cx="218361" cy="21836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72108" y="7189708"/>
            <a:ext cx="1365290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GPT-4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672108" y="7469505"/>
            <a:ext cx="650986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conversationnel formation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7456051" y="3424357"/>
            <a:ext cx="176248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Conformité &amp; Sécurité</a:t>
            </a:r>
            <a:endParaRPr lang="en-US" sz="125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97008" y="3757374"/>
            <a:ext cx="163830" cy="16383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810976" y="3752017"/>
            <a:ext cx="6154936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RGPD-compliant strict (Suisse)</a:t>
            </a:r>
            <a:endParaRPr lang="en-US" sz="8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97008" y="4308753"/>
            <a:ext cx="163830" cy="16383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810976" y="4303395"/>
            <a:ext cx="6154936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Opt-in explicite utilisateur</a:t>
            </a:r>
            <a:endParaRPr lang="en-US" sz="85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97008" y="4860131"/>
            <a:ext cx="163830" cy="16383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810976" y="4854773"/>
            <a:ext cx="6154936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Données anonymisées</a:t>
            </a:r>
            <a:endParaRPr lang="en-US" sz="85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497008" y="5411510"/>
            <a:ext cx="163830" cy="16383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7810976" y="5406152"/>
            <a:ext cx="6154936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Chiffrement end-to-end</a:t>
            </a:r>
            <a:endParaRPr lang="en-US" sz="85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497008" y="5962888"/>
            <a:ext cx="163830" cy="16383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7810976" y="5957530"/>
            <a:ext cx="6154936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Consentement granulaire</a:t>
            </a:r>
            <a:endParaRPr lang="en-US" sz="85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497008" y="6514267"/>
            <a:ext cx="163830" cy="16383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7810976" y="6508909"/>
            <a:ext cx="6154936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algorithmes (biais)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9124"/>
            <a:ext cx="587894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Roadmap &amp; Prochaines Étapes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601391"/>
            <a:ext cx="13042821" cy="22860"/>
          </a:xfrm>
          <a:prstGeom prst="roundRect">
            <a:avLst>
              <a:gd name="adj" fmla="val 291721"/>
            </a:avLst>
          </a:prstGeom>
          <a:solidFill>
            <a:srgbClr val="B2E5D2"/>
          </a:solidFill>
          <a:ln/>
        </p:spPr>
      </p:sp>
      <p:sp>
        <p:nvSpPr>
          <p:cNvPr id="4" name="Shape 2"/>
          <p:cNvSpPr/>
          <p:nvPr/>
        </p:nvSpPr>
        <p:spPr>
          <a:xfrm>
            <a:off x="2890004" y="1601391"/>
            <a:ext cx="22860" cy="476250"/>
          </a:xfrm>
          <a:prstGeom prst="roundRect">
            <a:avLst>
              <a:gd name="adj" fmla="val 291721"/>
            </a:avLst>
          </a:prstGeom>
          <a:solidFill>
            <a:srgbClr val="B2E5D2"/>
          </a:solidFill>
          <a:ln/>
        </p:spPr>
      </p:sp>
      <p:sp>
        <p:nvSpPr>
          <p:cNvPr id="5" name="Shape 3"/>
          <p:cNvSpPr/>
          <p:nvPr/>
        </p:nvSpPr>
        <p:spPr>
          <a:xfrm>
            <a:off x="2722840" y="1422797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2372" y="145256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589127" y="2236470"/>
            <a:ext cx="262449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: POC + Fondations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52500" y="2579727"/>
            <a:ext cx="38978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0-6 mois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52500" y="2929057"/>
            <a:ext cx="38978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architecture data existante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2500" y="3238619"/>
            <a:ext cx="38978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Site Web Adaptatif (1 région : Chine)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52500" y="3548182"/>
            <a:ext cx="38978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Simulateur Formation (boutique Genève)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52500" y="3857744"/>
            <a:ext cx="38978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RGPD/conformité LVMH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52500" y="4207073"/>
            <a:ext cx="38978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: 150K CHF</a:t>
            </a:r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Break-even : 6 mois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03651" y="1601391"/>
            <a:ext cx="22860" cy="476250"/>
          </a:xfrm>
          <a:prstGeom prst="roundRect">
            <a:avLst>
              <a:gd name="adj" fmla="val 291721"/>
            </a:avLst>
          </a:prstGeom>
          <a:solidFill>
            <a:srgbClr val="B2E5D2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6487" y="1422797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6018" y="145256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5900738" y="2236470"/>
            <a:ext cx="282880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 : Déploiement Partiel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66147" y="2579727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6-12 mois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66147" y="2929057"/>
            <a:ext cx="3897987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Extension 5 régions (USA, Chine, Japon, Moyen-Orient, Europe)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66147" y="3492698"/>
            <a:ext cx="3897987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formation 10 boutiques stratégiques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66147" y="4056340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Salesforce Commerce Cloud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66147" y="4365903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Mesure ROI + ajustements algorithmes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66147" y="4715232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: 400K CHF</a:t>
            </a:r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ROI : +5M CHF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1717417" y="1601391"/>
            <a:ext cx="22860" cy="476250"/>
          </a:xfrm>
          <a:prstGeom prst="roundRect">
            <a:avLst>
              <a:gd name="adj" fmla="val 291721"/>
            </a:avLst>
          </a:prstGeom>
          <a:solidFill>
            <a:srgbClr val="B2E5D2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50253" y="1422797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CCFFEC"/>
          </a:solidFill>
          <a:ln w="7620">
            <a:solidFill>
              <a:srgbClr val="B2E5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609784" y="145256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0661690" y="2236470"/>
            <a:ext cx="213443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3 : Scale Global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779913" y="2579727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12-24 mois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79913" y="2929057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global toutes régions + langues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779913" y="3238619"/>
            <a:ext cx="3897987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100% réseau boutiques (owned + wholesale)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79913" y="3802261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 continue via feedback loop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79913" y="4111823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Extension autres maisons LVMH (Hublot, Zenith)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79913" y="4461153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: 800K CHF</a:t>
            </a:r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ROI : +15-25M CHF/an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3790" y="5306616"/>
            <a:ext cx="34042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Facteurs Critiques de Succès</a:t>
            </a:r>
            <a:endParaRPr lang="en-US" sz="1850" dirty="0"/>
          </a:p>
        </p:txBody>
      </p:sp>
      <p:sp>
        <p:nvSpPr>
          <p:cNvPr id="35" name="Text 33"/>
          <p:cNvSpPr/>
          <p:nvPr/>
        </p:nvSpPr>
        <p:spPr>
          <a:xfrm>
            <a:off x="793790" y="5762982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Sponsorship direction LVMH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93790" y="6072545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data infrastructure (CDP)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93790" y="6382107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change management équipes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93790" y="6691670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Conformité RGPD stricte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93790" y="7001232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Mesure ROI continue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93790" y="7310795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Philosophie "Quiet Tech" respectée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516416" y="5326499"/>
            <a:ext cx="6327815" cy="1385054"/>
          </a:xfrm>
          <a:prstGeom prst="roundRect">
            <a:avLst>
              <a:gd name="adj" fmla="val 4815"/>
            </a:avLst>
          </a:prstGeom>
          <a:solidFill>
            <a:srgbClr val="B3FFE2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5126" y="5545098"/>
            <a:ext cx="297656" cy="238125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8131493" y="5524857"/>
            <a:ext cx="279058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Recommandation Finale</a:t>
            </a:r>
            <a:endParaRPr lang="en-US" sz="1850" dirty="0"/>
          </a:p>
        </p:txBody>
      </p:sp>
      <p:sp>
        <p:nvSpPr>
          <p:cNvPr id="44" name="Text 41"/>
          <p:cNvSpPr/>
          <p:nvPr/>
        </p:nvSpPr>
        <p:spPr>
          <a:xfrm>
            <a:off x="8131493" y="5981224"/>
            <a:ext cx="5554028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POC (6 mois)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avec investissement limité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 CHF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valider hypothèses et sécuriser buy-in direction avant scale global.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FF3513656F7041B59E667E19173942" ma:contentTypeVersion="10" ma:contentTypeDescription="Crée un document." ma:contentTypeScope="" ma:versionID="569b4e6f9b4574a2b23885b839d664f5">
  <xsd:schema xmlns:xsd="http://www.w3.org/2001/XMLSchema" xmlns:xs="http://www.w3.org/2001/XMLSchema" xmlns:p="http://schemas.microsoft.com/office/2006/metadata/properties" xmlns:ns2="6b2662fe-1100-4049-b315-619699f6744f" xmlns:ns3="17b2e45a-2c95-47f2-b5e9-90692000f981" targetNamespace="http://schemas.microsoft.com/office/2006/metadata/properties" ma:root="true" ma:fieldsID="45ebd98263c2f2178473156b04c07f91" ns2:_="" ns3:_="">
    <xsd:import namespace="6b2662fe-1100-4049-b315-619699f6744f"/>
    <xsd:import namespace="17b2e45a-2c95-47f2-b5e9-90692000f9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662fe-1100-4049-b315-619699f674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e5965820-1b97-4994-ad5a-2b1f2cea3f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2e45a-2c95-47f2-b5e9-90692000f98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6186a78-2de1-4aef-9334-bd14d59dd99f}" ma:internalName="TaxCatchAll" ma:showField="CatchAllData" ma:web="17b2e45a-2c95-47f2-b5e9-90692000f9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2662fe-1100-4049-b315-619699f6744f">
      <Terms xmlns="http://schemas.microsoft.com/office/infopath/2007/PartnerControls"/>
    </lcf76f155ced4ddcb4097134ff3c332f>
    <TaxCatchAll xmlns="17b2e45a-2c95-47f2-b5e9-90692000f981" xsi:nil="true"/>
  </documentManagement>
</p:properties>
</file>

<file path=customXml/itemProps1.xml><?xml version="1.0" encoding="utf-8"?>
<ds:datastoreItem xmlns:ds="http://schemas.openxmlformats.org/officeDocument/2006/customXml" ds:itemID="{D72B73B9-DCE7-40E7-AC92-ACE41C387CE3}"/>
</file>

<file path=customXml/itemProps2.xml><?xml version="1.0" encoding="utf-8"?>
<ds:datastoreItem xmlns:ds="http://schemas.openxmlformats.org/officeDocument/2006/customXml" ds:itemID="{3AB431AA-3BC0-4488-8AC6-61874BD114E6}"/>
</file>

<file path=customXml/itemProps3.xml><?xml version="1.0" encoding="utf-8"?>
<ds:datastoreItem xmlns:ds="http://schemas.openxmlformats.org/officeDocument/2006/customXml" ds:itemID="{F33BBC12-9869-4EA5-8BFF-83872FDA56A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2025-11-13T23:01:36Z</dcterms:created>
  <dcterms:modified xsi:type="dcterms:W3CDTF">2025-11-13T23:01:36Z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0x01010085FF3513656F7041B59E667E19173942</vt:lpwstr>
  </property>
</Properties>
</file>