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9"/>
  </p:notesMasterIdLst>
  <p:sldIdLst>
    <p:sldId id="269" r:id="rId5"/>
    <p:sldId id="270"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4630400" cy="8229600"/>
  <p:notesSz cx="8229600" cy="14630400"/>
  <p:embeddedFontLst>
    <p:embeddedFont>
      <p:font typeface="Inter" panose="020B0604020202020204" charset="0"/>
      <p:regular r:id="rId20"/>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CA029-E4F2-4606-969F-2D12F42EA259}" v="2" dt="2025-11-14T11:16:07.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Alexandre" userId="76844b8b-a281-4010-a3af-40b3ceb64d64" providerId="ADAL" clId="{1FF78849-7F26-42FC-A3FC-12798A9724BF}"/>
    <pc:docChg chg="addSld delSld modSld">
      <pc:chgData name="Nicolas Alexandre" userId="76844b8b-a281-4010-a3af-40b3ceb64d64" providerId="ADAL" clId="{1FF78849-7F26-42FC-A3FC-12798A9724BF}" dt="2025-11-14T11:16:07.209" v="119"/>
      <pc:docMkLst>
        <pc:docMk/>
      </pc:docMkLst>
      <pc:sldChg chg="del">
        <pc:chgData name="Nicolas Alexandre" userId="76844b8b-a281-4010-a3af-40b3ceb64d64" providerId="ADAL" clId="{1FF78849-7F26-42FC-A3FC-12798A9724BF}" dt="2025-11-14T11:03:58.117" v="1" actId="47"/>
        <pc:sldMkLst>
          <pc:docMk/>
          <pc:sldMk cId="0" sldId="256"/>
        </pc:sldMkLst>
      </pc:sldChg>
      <pc:sldChg chg="modSp add mod">
        <pc:chgData name="Nicolas Alexandre" userId="76844b8b-a281-4010-a3af-40b3ceb64d64" providerId="ADAL" clId="{1FF78849-7F26-42FC-A3FC-12798A9724BF}" dt="2025-11-14T11:05:36.866" v="118" actId="1035"/>
        <pc:sldMkLst>
          <pc:docMk/>
          <pc:sldMk cId="0" sldId="269"/>
        </pc:sldMkLst>
        <pc:spChg chg="mod">
          <ac:chgData name="Nicolas Alexandre" userId="76844b8b-a281-4010-a3af-40b3ceb64d64" providerId="ADAL" clId="{1FF78849-7F26-42FC-A3FC-12798A9724BF}" dt="2025-11-14T11:05:36.866" v="118" actId="1035"/>
          <ac:spMkLst>
            <pc:docMk/>
            <pc:sldMk cId="0" sldId="269"/>
            <ac:spMk id="3" creationId="{00000000-0000-0000-0000-000000000000}"/>
          </ac:spMkLst>
        </pc:spChg>
        <pc:spChg chg="mod">
          <ac:chgData name="Nicolas Alexandre" userId="76844b8b-a281-4010-a3af-40b3ceb64d64" providerId="ADAL" clId="{1FF78849-7F26-42FC-A3FC-12798A9724BF}" dt="2025-11-14T11:05:07.467" v="81" actId="20577"/>
          <ac:spMkLst>
            <pc:docMk/>
            <pc:sldMk cId="0" sldId="269"/>
            <ac:spMk id="6" creationId="{00000000-0000-0000-0000-000000000000}"/>
          </ac:spMkLst>
        </pc:spChg>
        <pc:spChg chg="mod">
          <ac:chgData name="Nicolas Alexandre" userId="76844b8b-a281-4010-a3af-40b3ceb64d64" providerId="ADAL" clId="{1FF78849-7F26-42FC-A3FC-12798A9724BF}" dt="2025-11-14T11:05:19.278" v="86" actId="1037"/>
          <ac:spMkLst>
            <pc:docMk/>
            <pc:sldMk cId="0" sldId="269"/>
            <ac:spMk id="7" creationId="{00000000-0000-0000-0000-000000000000}"/>
          </ac:spMkLst>
        </pc:spChg>
        <pc:spChg chg="mod">
          <ac:chgData name="Nicolas Alexandre" userId="76844b8b-a281-4010-a3af-40b3ceb64d64" providerId="ADAL" clId="{1FF78849-7F26-42FC-A3FC-12798A9724BF}" dt="2025-11-14T11:05:19.278" v="86" actId="1037"/>
          <ac:spMkLst>
            <pc:docMk/>
            <pc:sldMk cId="0" sldId="269"/>
            <ac:spMk id="8" creationId="{00000000-0000-0000-0000-000000000000}"/>
          </ac:spMkLst>
        </pc:spChg>
        <pc:spChg chg="mod">
          <ac:chgData name="Nicolas Alexandre" userId="76844b8b-a281-4010-a3af-40b3ceb64d64" providerId="ADAL" clId="{1FF78849-7F26-42FC-A3FC-12798A9724BF}" dt="2025-11-14T11:04:54.345" v="73" actId="1035"/>
          <ac:spMkLst>
            <pc:docMk/>
            <pc:sldMk cId="0" sldId="269"/>
            <ac:spMk id="9" creationId="{00000000-0000-0000-0000-000000000000}"/>
          </ac:spMkLst>
        </pc:spChg>
        <pc:spChg chg="mod">
          <ac:chgData name="Nicolas Alexandre" userId="76844b8b-a281-4010-a3af-40b3ceb64d64" providerId="ADAL" clId="{1FF78849-7F26-42FC-A3FC-12798A9724BF}" dt="2025-11-14T11:04:54.345" v="73" actId="1035"/>
          <ac:spMkLst>
            <pc:docMk/>
            <pc:sldMk cId="0" sldId="269"/>
            <ac:spMk id="10" creationId="{00000000-0000-0000-0000-000000000000}"/>
          </ac:spMkLst>
        </pc:spChg>
        <pc:picChg chg="mod">
          <ac:chgData name="Nicolas Alexandre" userId="76844b8b-a281-4010-a3af-40b3ceb64d64" providerId="ADAL" clId="{1FF78849-7F26-42FC-A3FC-12798A9724BF}" dt="2025-11-14T11:04:29.312" v="50" actId="1035"/>
          <ac:picMkLst>
            <pc:docMk/>
            <pc:sldMk cId="0" sldId="269"/>
            <ac:picMk id="2" creationId="{00000000-0000-0000-0000-000000000000}"/>
          </ac:picMkLst>
        </pc:picChg>
      </pc:sldChg>
      <pc:sldChg chg="add">
        <pc:chgData name="Nicolas Alexandre" userId="76844b8b-a281-4010-a3af-40b3ceb64d64" providerId="ADAL" clId="{1FF78849-7F26-42FC-A3FC-12798A9724BF}" dt="2025-11-14T11:16:07.209" v="119"/>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4067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fr-CH"/>
          </a:p>
        </p:txBody>
      </p:sp>
      <p:sp>
        <p:nvSpPr>
          <p:cNvPr id="3" name="Shape 1"/>
          <p:cNvSpPr/>
          <p:nvPr/>
        </p:nvSpPr>
        <p:spPr>
          <a:xfrm>
            <a:off x="0" y="0"/>
            <a:ext cx="14630400" cy="8229600"/>
          </a:xfrm>
          <a:prstGeom prst="rect">
            <a:avLst/>
          </a:prstGeom>
          <a:solidFill>
            <a:srgbClr val="F5F5F5"/>
          </a:solidFill>
          <a:ln/>
        </p:spPr>
        <p:txBody>
          <a:bodyPr/>
          <a:lstStyle/>
          <a:p>
            <a:endParaRPr lang="fr-C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5F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3" y="332506"/>
            <a:ext cx="6033623" cy="7539645"/>
          </a:xfrm>
          <a:prstGeom prst="rect">
            <a:avLst/>
          </a:prstGeom>
        </p:spPr>
      </p:pic>
      <p:sp>
        <p:nvSpPr>
          <p:cNvPr id="3" name="Text 0"/>
          <p:cNvSpPr/>
          <p:nvPr/>
        </p:nvSpPr>
        <p:spPr>
          <a:xfrm>
            <a:off x="6280190" y="721073"/>
            <a:ext cx="7556421" cy="1240155"/>
          </a:xfrm>
          <a:prstGeom prst="rect">
            <a:avLst/>
          </a:prstGeom>
          <a:noFill/>
          <a:ln/>
        </p:spPr>
        <p:txBody>
          <a:bodyPr wrap="square" lIns="0" tIns="0" rIns="0" bIns="0" rtlCol="0" anchor="t"/>
          <a:lstStyle/>
          <a:p>
            <a:pPr marL="0" indent="0" algn="ctr">
              <a:lnSpc>
                <a:spcPts val="4850"/>
              </a:lnSpc>
              <a:buNone/>
            </a:pPr>
            <a:r>
              <a:rPr lang="en-US" sz="3900" b="1" dirty="0">
                <a:solidFill>
                  <a:srgbClr val="000000"/>
                </a:solidFill>
                <a:latin typeface="Inter Bold" pitchFamily="34" charset="0"/>
                <a:ea typeface="Inter Bold" pitchFamily="34" charset="-122"/>
                <a:cs typeface="Inter Bold" pitchFamily="34" charset="-120"/>
              </a:rPr>
              <a:t>Intelligence Culturelle par IA pour TAG Heuer</a:t>
            </a:r>
            <a:endParaRPr lang="en-US" sz="3900" dirty="0"/>
          </a:p>
        </p:txBody>
      </p:sp>
      <p:sp>
        <p:nvSpPr>
          <p:cNvPr id="4" name="Text 1"/>
          <p:cNvSpPr/>
          <p:nvPr/>
        </p:nvSpPr>
        <p:spPr>
          <a:xfrm>
            <a:off x="6280190" y="2647355"/>
            <a:ext cx="7001232"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Transformer l'Expérience Client dans l'Horlogerie de Luxe</a:t>
            </a:r>
            <a:endParaRPr lang="en-US" sz="1950" dirty="0"/>
          </a:p>
        </p:txBody>
      </p:sp>
      <p:sp>
        <p:nvSpPr>
          <p:cNvPr id="5" name="Text 2"/>
          <p:cNvSpPr/>
          <p:nvPr/>
        </p:nvSpPr>
        <p:spPr>
          <a:xfrm>
            <a:off x="6280190" y="3255169"/>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Présenté à : Direction Transformation Digitale TAG Heuer (Groupe LVMH)</a:t>
            </a:r>
            <a:endParaRPr lang="en-US" sz="1550" dirty="0"/>
          </a:p>
        </p:txBody>
      </p:sp>
      <p:sp>
        <p:nvSpPr>
          <p:cNvPr id="6" name="Text 3"/>
          <p:cNvSpPr/>
          <p:nvPr/>
        </p:nvSpPr>
        <p:spPr>
          <a:xfrm>
            <a:off x="6280190" y="3994309"/>
            <a:ext cx="3536156" cy="620316"/>
          </a:xfrm>
          <a:prstGeom prst="rect">
            <a:avLst/>
          </a:prstGeom>
          <a:noFill/>
          <a:ln/>
        </p:spPr>
        <p:txBody>
          <a:bodyPr wrap="squar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Équipe Projet EMBA </a:t>
            </a:r>
            <a:endParaRPr lang="en-US" sz="1950" dirty="0"/>
          </a:p>
        </p:txBody>
      </p:sp>
      <p:sp>
        <p:nvSpPr>
          <p:cNvPr id="7" name="Text 4"/>
          <p:cNvSpPr/>
          <p:nvPr/>
        </p:nvSpPr>
        <p:spPr>
          <a:xfrm>
            <a:off x="6238625" y="4530348"/>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Rémy Giglio</a:t>
            </a:r>
            <a:endParaRPr lang="en-US" sz="1550" dirty="0"/>
          </a:p>
        </p:txBody>
      </p:sp>
      <p:sp>
        <p:nvSpPr>
          <p:cNvPr id="8" name="Text 5"/>
          <p:cNvSpPr/>
          <p:nvPr/>
        </p:nvSpPr>
        <p:spPr>
          <a:xfrm>
            <a:off x="6238625" y="4917301"/>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David Valdivia</a:t>
            </a:r>
            <a:endParaRPr lang="en-US" sz="1550" dirty="0"/>
          </a:p>
        </p:txBody>
      </p:sp>
      <p:sp>
        <p:nvSpPr>
          <p:cNvPr id="9" name="Text 6"/>
          <p:cNvSpPr/>
          <p:nvPr/>
        </p:nvSpPr>
        <p:spPr>
          <a:xfrm>
            <a:off x="6244650" y="5304254"/>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Alexandre Nicolas</a:t>
            </a:r>
            <a:endParaRPr lang="en-US" sz="1550" dirty="0"/>
          </a:p>
        </p:txBody>
      </p:sp>
      <p:sp>
        <p:nvSpPr>
          <p:cNvPr id="10" name="Text 7"/>
          <p:cNvSpPr/>
          <p:nvPr/>
        </p:nvSpPr>
        <p:spPr>
          <a:xfrm>
            <a:off x="6244650" y="5691207"/>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Romain Pacheff</a:t>
            </a:r>
            <a:endParaRPr lang="en-US" sz="1550" dirty="0"/>
          </a:p>
        </p:txBody>
      </p:sp>
      <p:sp>
        <p:nvSpPr>
          <p:cNvPr id="11" name="Text 8"/>
          <p:cNvSpPr/>
          <p:nvPr/>
        </p:nvSpPr>
        <p:spPr>
          <a:xfrm>
            <a:off x="10308074" y="3994309"/>
            <a:ext cx="3073122"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Interlocuteurs TAG Heuer</a:t>
            </a:r>
            <a:endParaRPr lang="en-US" sz="1950" dirty="0"/>
          </a:p>
        </p:txBody>
      </p:sp>
      <p:sp>
        <p:nvSpPr>
          <p:cNvPr id="12" name="Text 9"/>
          <p:cNvSpPr/>
          <p:nvPr/>
        </p:nvSpPr>
        <p:spPr>
          <a:xfrm>
            <a:off x="10308074" y="4502825"/>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Benoît Grange (Head of Data &amp; IT)</a:t>
            </a:r>
            <a:endParaRPr lang="en-US" sz="1550" dirty="0"/>
          </a:p>
        </p:txBody>
      </p:sp>
      <p:sp>
        <p:nvSpPr>
          <p:cNvPr id="13" name="Text 10"/>
          <p:cNvSpPr/>
          <p:nvPr/>
        </p:nvSpPr>
        <p:spPr>
          <a:xfrm>
            <a:off x="10308074" y="4889778"/>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Léa &amp; Camille (Marketing)</a:t>
            </a:r>
            <a:endParaRPr lang="en-US" sz="1550" dirty="0"/>
          </a:p>
        </p:txBody>
      </p:sp>
      <p:sp>
        <p:nvSpPr>
          <p:cNvPr id="14" name="Text 11"/>
          <p:cNvSpPr/>
          <p:nvPr/>
        </p:nvSpPr>
        <p:spPr>
          <a:xfrm>
            <a:off x="10308074" y="5276731"/>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Inter" pitchFamily="34" charset="0"/>
                <a:ea typeface="Inter" pitchFamily="34" charset="-122"/>
                <a:cs typeface="Inter" pitchFamily="34" charset="-120"/>
              </a:rPr>
              <a:t>Marc Lucato (Directeur Boutique Genève)</a:t>
            </a:r>
            <a:endParaRPr lang="en-US" sz="1550" dirty="0"/>
          </a:p>
        </p:txBody>
      </p:sp>
      <p:sp>
        <p:nvSpPr>
          <p:cNvPr id="15" name="Text 12"/>
          <p:cNvSpPr/>
          <p:nvPr/>
        </p:nvSpPr>
        <p:spPr>
          <a:xfrm>
            <a:off x="6280190" y="6584037"/>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Date : Novembre 2025</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437" y="525185"/>
            <a:ext cx="2601992" cy="325160"/>
          </a:xfrm>
          <a:prstGeom prst="rect">
            <a:avLst/>
          </a:prstGeom>
          <a:noFill/>
          <a:ln/>
        </p:spPr>
        <p:txBody>
          <a:bodyPr wrap="none" lIns="0" tIns="0" rIns="0" bIns="0" rtlCol="0" anchor="t"/>
          <a:lstStyle/>
          <a:p>
            <a:pPr marL="0" indent="0" algn="l">
              <a:lnSpc>
                <a:spcPts val="2550"/>
              </a:lnSpc>
              <a:buNone/>
            </a:pPr>
            <a:r>
              <a:rPr lang="en-US" sz="2000" b="1" dirty="0">
                <a:solidFill>
                  <a:srgbClr val="000000"/>
                </a:solidFill>
                <a:latin typeface="Inter Bold" pitchFamily="34" charset="0"/>
                <a:ea typeface="Inter Bold" pitchFamily="34" charset="-122"/>
                <a:cs typeface="Inter Bold" pitchFamily="34" charset="-120"/>
              </a:rPr>
              <a:t>Executive Summary</a:t>
            </a:r>
            <a:endParaRPr lang="en-US" sz="2000" dirty="0"/>
          </a:p>
        </p:txBody>
      </p:sp>
      <p:sp>
        <p:nvSpPr>
          <p:cNvPr id="3" name="Text 1"/>
          <p:cNvSpPr/>
          <p:nvPr/>
        </p:nvSpPr>
        <p:spPr>
          <a:xfrm>
            <a:off x="640437" y="891897"/>
            <a:ext cx="1561148" cy="19502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Inter Bold" pitchFamily="34" charset="0"/>
                <a:ea typeface="Inter Bold" pitchFamily="34" charset="-122"/>
                <a:cs typeface="Inter Bold" pitchFamily="34" charset="-120"/>
              </a:rPr>
              <a:t>Le Contexte</a:t>
            </a:r>
            <a:endParaRPr lang="en-US" sz="1200" dirty="0"/>
          </a:p>
        </p:txBody>
      </p:sp>
      <p:sp>
        <p:nvSpPr>
          <p:cNvPr id="4" name="Text 2"/>
          <p:cNvSpPr/>
          <p:nvPr/>
        </p:nvSpPr>
        <p:spPr>
          <a:xfrm>
            <a:off x="640437" y="1243013"/>
            <a:ext cx="13349526" cy="332899"/>
          </a:xfrm>
          <a:prstGeom prst="rect">
            <a:avLst/>
          </a:prstGeom>
          <a:noFill/>
          <a:ln/>
        </p:spPr>
        <p:txBody>
          <a:bodyPr wrap="squar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Dans le marché exigeant de l'horlogerie de luxe, TAG Heuer vise à offrir une expérience client inégalée et hautement personnalisée. L'évolution des attentes des consommateurs, qui recherchent plus qu'un simple produit, mais une connexion émotionnelle et culturelle, rend essentielle une compréhension approfondie de chaque client.</a:t>
            </a:r>
            <a:endParaRPr lang="en-US" sz="800" dirty="0"/>
          </a:p>
        </p:txBody>
      </p:sp>
      <p:sp>
        <p:nvSpPr>
          <p:cNvPr id="5" name="Text 3"/>
          <p:cNvSpPr/>
          <p:nvPr/>
        </p:nvSpPr>
        <p:spPr>
          <a:xfrm>
            <a:off x="640437" y="1732002"/>
            <a:ext cx="1561148" cy="19502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Inter Bold" pitchFamily="34" charset="0"/>
                <a:ea typeface="Inter Bold" pitchFamily="34" charset="-122"/>
                <a:cs typeface="Inter Bold" pitchFamily="34" charset="-120"/>
              </a:rPr>
              <a:t>Le Gap Stratégique</a:t>
            </a:r>
            <a:endParaRPr lang="en-US" sz="1200" dirty="0"/>
          </a:p>
        </p:txBody>
      </p:sp>
      <p:sp>
        <p:nvSpPr>
          <p:cNvPr id="6" name="Text 4"/>
          <p:cNvSpPr/>
          <p:nvPr/>
        </p:nvSpPr>
        <p:spPr>
          <a:xfrm>
            <a:off x="640437" y="2083118"/>
            <a:ext cx="13349526" cy="332899"/>
          </a:xfrm>
          <a:prstGeom prst="rect">
            <a:avLst/>
          </a:prstGeom>
          <a:noFill/>
          <a:ln/>
        </p:spPr>
        <p:txBody>
          <a:bodyPr wrap="squar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Actuellement, TAG Heuer fait face au défi de transformer de vastes quantités de données clients en insights actionnables et culturalement pertinents à grande échelle. Le manque d'outils permettant une analyse fine des préférences culturelles et comportementales des clients limite la capacité à créer des interactions véritablement personnalisées et à anticiper les besoins spécifiques de marchés diversifiés.</a:t>
            </a:r>
            <a:endParaRPr lang="en-US" sz="800" dirty="0"/>
          </a:p>
        </p:txBody>
      </p:sp>
      <p:sp>
        <p:nvSpPr>
          <p:cNvPr id="7" name="Text 5"/>
          <p:cNvSpPr/>
          <p:nvPr/>
        </p:nvSpPr>
        <p:spPr>
          <a:xfrm>
            <a:off x="640437" y="2572107"/>
            <a:ext cx="3126700" cy="19502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Inter Bold" pitchFamily="34" charset="0"/>
                <a:ea typeface="Inter Bold" pitchFamily="34" charset="-122"/>
                <a:cs typeface="Inter Bold" pitchFamily="34" charset="-120"/>
              </a:rPr>
              <a:t>La Solution : Intelligence Culturelle par IA</a:t>
            </a:r>
            <a:endParaRPr lang="en-US" sz="1200" dirty="0"/>
          </a:p>
        </p:txBody>
      </p:sp>
      <p:sp>
        <p:nvSpPr>
          <p:cNvPr id="8" name="Text 6"/>
          <p:cNvSpPr/>
          <p:nvPr/>
        </p:nvSpPr>
        <p:spPr>
          <a:xfrm>
            <a:off x="640437" y="2923223"/>
            <a:ext cx="13349526" cy="166449"/>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Nous proposons la mise en œuvre d'une plateforme d'Intelligence Culturelle basée sur l'IA, conçue pour analyser les données clients (historique d'achats, interactions, préférences culturelles implicites) et générer des profils clients enrichis. Cette solution permettra de :</a:t>
            </a:r>
            <a:endParaRPr lang="en-US" sz="800" dirty="0"/>
          </a:p>
        </p:txBody>
      </p:sp>
      <p:sp>
        <p:nvSpPr>
          <p:cNvPr id="9" name="Text 7"/>
          <p:cNvSpPr/>
          <p:nvPr/>
        </p:nvSpPr>
        <p:spPr>
          <a:xfrm>
            <a:off x="640437" y="3206710"/>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Identifier les nuances culturelles influençant les décisions d'achat.</a:t>
            </a:r>
            <a:endParaRPr lang="en-US" sz="800" dirty="0"/>
          </a:p>
        </p:txBody>
      </p:sp>
      <p:sp>
        <p:nvSpPr>
          <p:cNvPr id="10" name="Text 8"/>
          <p:cNvSpPr/>
          <p:nvPr/>
        </p:nvSpPr>
        <p:spPr>
          <a:xfrm>
            <a:off x="640437" y="3409474"/>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Personnaliser les communications marketing et les offres produits.</a:t>
            </a:r>
            <a:endParaRPr lang="en-US" sz="800" dirty="0"/>
          </a:p>
        </p:txBody>
      </p:sp>
      <p:sp>
        <p:nvSpPr>
          <p:cNvPr id="11" name="Text 9"/>
          <p:cNvSpPr/>
          <p:nvPr/>
        </p:nvSpPr>
        <p:spPr>
          <a:xfrm>
            <a:off x="640437" y="3612237"/>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Optimiser l'expérience en boutique et en ligne grâce à des recommandations ultra-ciblées.</a:t>
            </a:r>
            <a:endParaRPr lang="en-US" sz="800" dirty="0"/>
          </a:p>
        </p:txBody>
      </p:sp>
      <p:sp>
        <p:nvSpPr>
          <p:cNvPr id="12" name="Text 10"/>
          <p:cNvSpPr/>
          <p:nvPr/>
        </p:nvSpPr>
        <p:spPr>
          <a:xfrm>
            <a:off x="640437" y="3815001"/>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Anticiper les tendances et adapter rapidement les stratégies.</a:t>
            </a:r>
            <a:endParaRPr lang="en-US" sz="800" dirty="0"/>
          </a:p>
        </p:txBody>
      </p:sp>
      <p:sp>
        <p:nvSpPr>
          <p:cNvPr id="13" name="Text 11"/>
          <p:cNvSpPr/>
          <p:nvPr/>
        </p:nvSpPr>
        <p:spPr>
          <a:xfrm>
            <a:off x="640437" y="4137541"/>
            <a:ext cx="1561148" cy="19502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Inter Bold" pitchFamily="34" charset="0"/>
                <a:ea typeface="Inter Bold" pitchFamily="34" charset="-122"/>
                <a:cs typeface="Inter Bold" pitchFamily="34" charset="-120"/>
              </a:rPr>
              <a:t>Impact Business</a:t>
            </a:r>
            <a:endParaRPr lang="en-US" sz="1200" dirty="0"/>
          </a:p>
        </p:txBody>
      </p:sp>
      <p:sp>
        <p:nvSpPr>
          <p:cNvPr id="14" name="Text 12"/>
          <p:cNvSpPr/>
          <p:nvPr/>
        </p:nvSpPr>
        <p:spPr>
          <a:xfrm>
            <a:off x="640437" y="4488656"/>
            <a:ext cx="13349526" cy="166449"/>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L'intégration de l'Intelligence Culturelle par IA est attendue pour générer des bénéfices tangibles et significatifs pour TAG Heuer :</a:t>
            </a:r>
            <a:endParaRPr lang="en-US" sz="800" dirty="0"/>
          </a:p>
        </p:txBody>
      </p:sp>
      <p:sp>
        <p:nvSpPr>
          <p:cNvPr id="15" name="Text 13"/>
          <p:cNvSpPr/>
          <p:nvPr/>
        </p:nvSpPr>
        <p:spPr>
          <a:xfrm>
            <a:off x="640437" y="4824174"/>
            <a:ext cx="4363164" cy="343376"/>
          </a:xfrm>
          <a:prstGeom prst="rect">
            <a:avLst/>
          </a:prstGeom>
          <a:noFill/>
          <a:ln/>
        </p:spPr>
        <p:txBody>
          <a:bodyPr wrap="none" lIns="0" tIns="0" rIns="0" bIns="0" rtlCol="0" anchor="t"/>
          <a:lstStyle/>
          <a:p>
            <a:pPr marL="0" indent="0" algn="ctr">
              <a:lnSpc>
                <a:spcPts val="2700"/>
              </a:lnSpc>
              <a:buNone/>
            </a:pPr>
            <a:r>
              <a:rPr lang="en-US" sz="2700" b="1" dirty="0">
                <a:solidFill>
                  <a:srgbClr val="000000"/>
                </a:solidFill>
                <a:latin typeface="Inter Bold" pitchFamily="34" charset="0"/>
                <a:ea typeface="Inter Bold" pitchFamily="34" charset="-122"/>
                <a:cs typeface="Inter Bold" pitchFamily="34" charset="-120"/>
              </a:rPr>
              <a:t>+25%</a:t>
            </a:r>
            <a:endParaRPr lang="en-US" sz="2700" dirty="0"/>
          </a:p>
        </p:txBody>
      </p:sp>
      <p:sp>
        <p:nvSpPr>
          <p:cNvPr id="16" name="Text 14"/>
          <p:cNvSpPr/>
          <p:nvPr/>
        </p:nvSpPr>
        <p:spPr>
          <a:xfrm>
            <a:off x="2171462" y="5297567"/>
            <a:ext cx="1300996" cy="162639"/>
          </a:xfrm>
          <a:prstGeom prst="rect">
            <a:avLst/>
          </a:prstGeom>
          <a:noFill/>
          <a:ln/>
        </p:spPr>
        <p:txBody>
          <a:bodyPr wrap="none" lIns="0" tIns="0" rIns="0" bIns="0" rtlCol="0" anchor="t"/>
          <a:lstStyle/>
          <a:p>
            <a:pPr marL="0" indent="0" algn="ctr">
              <a:lnSpc>
                <a:spcPts val="1250"/>
              </a:lnSpc>
              <a:buNone/>
            </a:pPr>
            <a:r>
              <a:rPr lang="en-US" sz="1000" b="1" dirty="0">
                <a:solidFill>
                  <a:srgbClr val="000000"/>
                </a:solidFill>
                <a:latin typeface="Inter Bold" pitchFamily="34" charset="0"/>
                <a:ea typeface="Inter Bold" pitchFamily="34" charset="-122"/>
                <a:cs typeface="Inter Bold" pitchFamily="34" charset="-120"/>
              </a:rPr>
              <a:t>Engagement Client</a:t>
            </a:r>
            <a:endParaRPr lang="en-US" sz="1000" dirty="0"/>
          </a:p>
        </p:txBody>
      </p:sp>
      <p:sp>
        <p:nvSpPr>
          <p:cNvPr id="17" name="Text 15"/>
          <p:cNvSpPr/>
          <p:nvPr/>
        </p:nvSpPr>
        <p:spPr>
          <a:xfrm>
            <a:off x="640437" y="5522595"/>
            <a:ext cx="4363164" cy="166449"/>
          </a:xfrm>
          <a:prstGeom prst="rect">
            <a:avLst/>
          </a:prstGeom>
          <a:noFill/>
          <a:ln/>
        </p:spPr>
        <p:txBody>
          <a:bodyPr wrap="none" lIns="0" tIns="0" rIns="0" bIns="0" rtlCol="0" anchor="t"/>
          <a:lstStyle/>
          <a:p>
            <a:pPr marL="0" indent="0" algn="ctr">
              <a:lnSpc>
                <a:spcPts val="1300"/>
              </a:lnSpc>
              <a:buNone/>
            </a:pPr>
            <a:r>
              <a:rPr lang="en-US" sz="800" dirty="0">
                <a:solidFill>
                  <a:srgbClr val="000000"/>
                </a:solidFill>
                <a:latin typeface="Inter" pitchFamily="34" charset="0"/>
                <a:ea typeface="Inter" pitchFamily="34" charset="-122"/>
                <a:cs typeface="Inter" pitchFamily="34" charset="-120"/>
              </a:rPr>
              <a:t>Augmentation des interactions significatives et de la réceptivité aux offres.</a:t>
            </a:r>
            <a:endParaRPr lang="en-US" sz="800" dirty="0"/>
          </a:p>
        </p:txBody>
      </p:sp>
      <p:sp>
        <p:nvSpPr>
          <p:cNvPr id="18" name="Text 16"/>
          <p:cNvSpPr/>
          <p:nvPr/>
        </p:nvSpPr>
        <p:spPr>
          <a:xfrm>
            <a:off x="5133618" y="4824174"/>
            <a:ext cx="4363164" cy="343376"/>
          </a:xfrm>
          <a:prstGeom prst="rect">
            <a:avLst/>
          </a:prstGeom>
          <a:noFill/>
          <a:ln/>
        </p:spPr>
        <p:txBody>
          <a:bodyPr wrap="none" lIns="0" tIns="0" rIns="0" bIns="0" rtlCol="0" anchor="t"/>
          <a:lstStyle/>
          <a:p>
            <a:pPr marL="0" indent="0" algn="ctr">
              <a:lnSpc>
                <a:spcPts val="2700"/>
              </a:lnSpc>
              <a:buNone/>
            </a:pPr>
            <a:r>
              <a:rPr lang="en-US" sz="2700" b="1" dirty="0">
                <a:solidFill>
                  <a:srgbClr val="000000"/>
                </a:solidFill>
                <a:latin typeface="Inter Bold" pitchFamily="34" charset="0"/>
                <a:ea typeface="Inter Bold" pitchFamily="34" charset="-122"/>
                <a:cs typeface="Inter Bold" pitchFamily="34" charset="-120"/>
              </a:rPr>
              <a:t>+10%</a:t>
            </a:r>
            <a:endParaRPr lang="en-US" sz="2700" dirty="0"/>
          </a:p>
        </p:txBody>
      </p:sp>
      <p:sp>
        <p:nvSpPr>
          <p:cNvPr id="19" name="Text 17"/>
          <p:cNvSpPr/>
          <p:nvPr/>
        </p:nvSpPr>
        <p:spPr>
          <a:xfrm>
            <a:off x="6664643" y="5297567"/>
            <a:ext cx="1300996" cy="162639"/>
          </a:xfrm>
          <a:prstGeom prst="rect">
            <a:avLst/>
          </a:prstGeom>
          <a:noFill/>
          <a:ln/>
        </p:spPr>
        <p:txBody>
          <a:bodyPr wrap="none" lIns="0" tIns="0" rIns="0" bIns="0" rtlCol="0" anchor="t"/>
          <a:lstStyle/>
          <a:p>
            <a:pPr marL="0" indent="0" algn="ctr">
              <a:lnSpc>
                <a:spcPts val="1250"/>
              </a:lnSpc>
              <a:buNone/>
            </a:pPr>
            <a:r>
              <a:rPr lang="en-US" sz="1000" b="1" dirty="0">
                <a:solidFill>
                  <a:srgbClr val="000000"/>
                </a:solidFill>
                <a:latin typeface="Inter Bold" pitchFamily="34" charset="0"/>
                <a:ea typeface="Inter Bold" pitchFamily="34" charset="-122"/>
                <a:cs typeface="Inter Bold" pitchFamily="34" charset="-120"/>
              </a:rPr>
              <a:t>Fidélisation</a:t>
            </a:r>
            <a:endParaRPr lang="en-US" sz="1000" dirty="0"/>
          </a:p>
        </p:txBody>
      </p:sp>
      <p:sp>
        <p:nvSpPr>
          <p:cNvPr id="20" name="Text 18"/>
          <p:cNvSpPr/>
          <p:nvPr/>
        </p:nvSpPr>
        <p:spPr>
          <a:xfrm>
            <a:off x="5133618" y="5522595"/>
            <a:ext cx="4363164" cy="332899"/>
          </a:xfrm>
          <a:prstGeom prst="rect">
            <a:avLst/>
          </a:prstGeom>
          <a:noFill/>
          <a:ln/>
        </p:spPr>
        <p:txBody>
          <a:bodyPr wrap="square" lIns="0" tIns="0" rIns="0" bIns="0" rtlCol="0" anchor="t"/>
          <a:lstStyle/>
          <a:p>
            <a:pPr marL="0" indent="0" algn="ctr">
              <a:lnSpc>
                <a:spcPts val="1300"/>
              </a:lnSpc>
              <a:buNone/>
            </a:pPr>
            <a:r>
              <a:rPr lang="en-US" sz="800" dirty="0">
                <a:solidFill>
                  <a:srgbClr val="000000"/>
                </a:solidFill>
                <a:latin typeface="Inter" pitchFamily="34" charset="0"/>
                <a:ea typeface="Inter" pitchFamily="34" charset="-122"/>
                <a:cs typeface="Inter" pitchFamily="34" charset="-120"/>
              </a:rPr>
              <a:t>Amélioration de la rétention et de la valeur vie client grâce à des expériences personnalisées.</a:t>
            </a:r>
            <a:endParaRPr lang="en-US" sz="800" dirty="0"/>
          </a:p>
        </p:txBody>
      </p:sp>
      <p:sp>
        <p:nvSpPr>
          <p:cNvPr id="21" name="Text 19"/>
          <p:cNvSpPr/>
          <p:nvPr/>
        </p:nvSpPr>
        <p:spPr>
          <a:xfrm>
            <a:off x="9626798" y="4824174"/>
            <a:ext cx="4363164" cy="343376"/>
          </a:xfrm>
          <a:prstGeom prst="rect">
            <a:avLst/>
          </a:prstGeom>
          <a:noFill/>
          <a:ln/>
        </p:spPr>
        <p:txBody>
          <a:bodyPr wrap="none" lIns="0" tIns="0" rIns="0" bIns="0" rtlCol="0" anchor="t"/>
          <a:lstStyle/>
          <a:p>
            <a:pPr marL="0" indent="0" algn="ctr">
              <a:lnSpc>
                <a:spcPts val="2700"/>
              </a:lnSpc>
              <a:buNone/>
            </a:pPr>
            <a:r>
              <a:rPr lang="en-US" sz="2700" b="1" dirty="0">
                <a:solidFill>
                  <a:srgbClr val="000000"/>
                </a:solidFill>
                <a:latin typeface="Inter Bold" pitchFamily="34" charset="0"/>
                <a:ea typeface="Inter Bold" pitchFamily="34" charset="-122"/>
                <a:cs typeface="Inter Bold" pitchFamily="34" charset="-120"/>
              </a:rPr>
              <a:t>-15%</a:t>
            </a:r>
            <a:endParaRPr lang="en-US" sz="2700" dirty="0"/>
          </a:p>
        </p:txBody>
      </p:sp>
      <p:sp>
        <p:nvSpPr>
          <p:cNvPr id="22" name="Text 20"/>
          <p:cNvSpPr/>
          <p:nvPr/>
        </p:nvSpPr>
        <p:spPr>
          <a:xfrm>
            <a:off x="11157823" y="5297567"/>
            <a:ext cx="1300996" cy="162639"/>
          </a:xfrm>
          <a:prstGeom prst="rect">
            <a:avLst/>
          </a:prstGeom>
          <a:noFill/>
          <a:ln/>
        </p:spPr>
        <p:txBody>
          <a:bodyPr wrap="none" lIns="0" tIns="0" rIns="0" bIns="0" rtlCol="0" anchor="t"/>
          <a:lstStyle/>
          <a:p>
            <a:pPr marL="0" indent="0" algn="ctr">
              <a:lnSpc>
                <a:spcPts val="1250"/>
              </a:lnSpc>
              <a:buNone/>
            </a:pPr>
            <a:r>
              <a:rPr lang="en-US" sz="1000" b="1" dirty="0">
                <a:solidFill>
                  <a:srgbClr val="000000"/>
                </a:solidFill>
                <a:latin typeface="Inter Bold" pitchFamily="34" charset="0"/>
                <a:ea typeface="Inter Bold" pitchFamily="34" charset="-122"/>
                <a:cs typeface="Inter Bold" pitchFamily="34" charset="-120"/>
              </a:rPr>
              <a:t>Coût Marketing</a:t>
            </a:r>
            <a:endParaRPr lang="en-US" sz="1000" dirty="0"/>
          </a:p>
        </p:txBody>
      </p:sp>
      <p:sp>
        <p:nvSpPr>
          <p:cNvPr id="23" name="Text 21"/>
          <p:cNvSpPr/>
          <p:nvPr/>
        </p:nvSpPr>
        <p:spPr>
          <a:xfrm>
            <a:off x="9626798" y="5522595"/>
            <a:ext cx="4363164" cy="166449"/>
          </a:xfrm>
          <a:prstGeom prst="rect">
            <a:avLst/>
          </a:prstGeom>
          <a:noFill/>
          <a:ln/>
        </p:spPr>
        <p:txBody>
          <a:bodyPr wrap="none" lIns="0" tIns="0" rIns="0" bIns="0" rtlCol="0" anchor="t"/>
          <a:lstStyle/>
          <a:p>
            <a:pPr marL="0" indent="0" algn="ctr">
              <a:lnSpc>
                <a:spcPts val="1300"/>
              </a:lnSpc>
              <a:buNone/>
            </a:pPr>
            <a:r>
              <a:rPr lang="en-US" sz="800" dirty="0">
                <a:solidFill>
                  <a:srgbClr val="000000"/>
                </a:solidFill>
                <a:latin typeface="Inter" pitchFamily="34" charset="0"/>
                <a:ea typeface="Inter" pitchFamily="34" charset="-122"/>
                <a:cs typeface="Inter" pitchFamily="34" charset="-120"/>
              </a:rPr>
              <a:t>Réduction de l'inefficacité des campagnes grâce à un ciblage précis.</a:t>
            </a:r>
            <a:endParaRPr lang="en-US" sz="800" dirty="0"/>
          </a:p>
        </p:txBody>
      </p:sp>
      <p:sp>
        <p:nvSpPr>
          <p:cNvPr id="24" name="Text 22"/>
          <p:cNvSpPr/>
          <p:nvPr/>
        </p:nvSpPr>
        <p:spPr>
          <a:xfrm>
            <a:off x="640437" y="5972532"/>
            <a:ext cx="13349526" cy="166449"/>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Ces indicateurs clés contribueront directement à la croissance du chiffre d'affaires et au renforcement de la position de leader de TAG Heuer sur le marché du luxe.</a:t>
            </a:r>
            <a:endParaRPr lang="en-US" sz="800" dirty="0"/>
          </a:p>
        </p:txBody>
      </p:sp>
      <p:sp>
        <p:nvSpPr>
          <p:cNvPr id="25" name="Text 23"/>
          <p:cNvSpPr/>
          <p:nvPr/>
        </p:nvSpPr>
        <p:spPr>
          <a:xfrm>
            <a:off x="640437" y="6295073"/>
            <a:ext cx="2354580" cy="195024"/>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Inter Bold" pitchFamily="34" charset="0"/>
                <a:ea typeface="Inter Bold" pitchFamily="34" charset="-122"/>
                <a:cs typeface="Inter Bold" pitchFamily="34" charset="-120"/>
              </a:rPr>
              <a:t>Approche Sécurisée et Éthique</a:t>
            </a:r>
            <a:endParaRPr lang="en-US" sz="1200" dirty="0"/>
          </a:p>
        </p:txBody>
      </p:sp>
      <p:sp>
        <p:nvSpPr>
          <p:cNvPr id="26" name="Text 24"/>
          <p:cNvSpPr/>
          <p:nvPr/>
        </p:nvSpPr>
        <p:spPr>
          <a:xfrm>
            <a:off x="640437" y="6646188"/>
            <a:ext cx="13349526" cy="166449"/>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La conception de la plateforme intègre les principes de sécurité des données et d'éthique de l'IA dès le départ. Nous nous engageons à garantir :</a:t>
            </a:r>
            <a:endParaRPr lang="en-US" sz="800" dirty="0"/>
          </a:p>
        </p:txBody>
      </p:sp>
      <p:sp>
        <p:nvSpPr>
          <p:cNvPr id="27" name="Text 25"/>
          <p:cNvSpPr/>
          <p:nvPr/>
        </p:nvSpPr>
        <p:spPr>
          <a:xfrm>
            <a:off x="640437" y="6929676"/>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Conformité totale avec les réglementations RGPD et autres législations sur la protection des données personnelles.</a:t>
            </a:r>
            <a:endParaRPr lang="en-US" sz="800" dirty="0"/>
          </a:p>
        </p:txBody>
      </p:sp>
      <p:sp>
        <p:nvSpPr>
          <p:cNvPr id="28" name="Text 26"/>
          <p:cNvSpPr/>
          <p:nvPr/>
        </p:nvSpPr>
        <p:spPr>
          <a:xfrm>
            <a:off x="640437" y="7132439"/>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Transparence dans l'utilisation des données et des algorithmes d'IA.</a:t>
            </a:r>
            <a:endParaRPr lang="en-US" sz="800" dirty="0"/>
          </a:p>
        </p:txBody>
      </p:sp>
      <p:sp>
        <p:nvSpPr>
          <p:cNvPr id="29" name="Text 27"/>
          <p:cNvSpPr/>
          <p:nvPr/>
        </p:nvSpPr>
        <p:spPr>
          <a:xfrm>
            <a:off x="640437" y="7335203"/>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Minimisation des biais algorithmiques et respect de la diversité culturelle.</a:t>
            </a:r>
            <a:endParaRPr lang="en-US" sz="800" dirty="0"/>
          </a:p>
        </p:txBody>
      </p:sp>
      <p:sp>
        <p:nvSpPr>
          <p:cNvPr id="30" name="Text 28"/>
          <p:cNvSpPr/>
          <p:nvPr/>
        </p:nvSpPr>
        <p:spPr>
          <a:xfrm>
            <a:off x="640437" y="7537966"/>
            <a:ext cx="13349526" cy="166449"/>
          </a:xfrm>
          <a:prstGeom prst="rect">
            <a:avLst/>
          </a:prstGeom>
          <a:noFill/>
          <a:ln/>
        </p:spPr>
        <p:txBody>
          <a:bodyPr wrap="none" lIns="0" tIns="0" rIns="0" bIns="0" rtlCol="0" anchor="t"/>
          <a:lstStyle/>
          <a:p>
            <a:pPr marL="342900" indent="-342900" algn="l">
              <a:lnSpc>
                <a:spcPts val="1300"/>
              </a:lnSpc>
              <a:buSzPct val="100000"/>
              <a:buChar char="•"/>
            </a:pPr>
            <a:r>
              <a:rPr lang="en-US" sz="800" dirty="0">
                <a:solidFill>
                  <a:srgbClr val="000000"/>
                </a:solidFill>
                <a:latin typeface="Inter" pitchFamily="34" charset="0"/>
                <a:ea typeface="Inter" pitchFamily="34" charset="-122"/>
                <a:cs typeface="Inter" pitchFamily="34" charset="-120"/>
              </a:rPr>
              <a:t>Sécurisation robuste des infrastructures pour protéger les informations sensibles des clients.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05790"/>
            <a:ext cx="8625959" cy="465177"/>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Inter Bold" pitchFamily="34" charset="0"/>
                <a:ea typeface="Inter Bold" pitchFamily="34" charset="-122"/>
                <a:cs typeface="Inter Bold" pitchFamily="34" charset="-120"/>
              </a:rPr>
              <a:t>Le Contexte : Crise de Pertinence Expérientielle</a:t>
            </a:r>
            <a:endParaRPr lang="en-US" sz="2900" dirty="0"/>
          </a:p>
        </p:txBody>
      </p:sp>
      <p:sp>
        <p:nvSpPr>
          <p:cNvPr id="3" name="Text 1"/>
          <p:cNvSpPr/>
          <p:nvPr/>
        </p:nvSpPr>
        <p:spPr>
          <a:xfrm>
            <a:off x="793790" y="1368623"/>
            <a:ext cx="13042821" cy="714375"/>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L'industrie du luxe traverse une transformation majeure sans précédent. Trois forces structurelles convergent simultanément pour créer une crise de pertinence expérientielle qui remet en question les modèles traditionnels de relation client. Cette convergence crée à la fois une menace existentielle pour les acteurs qui ne s'adaptent pas, et une opportunité historique pour les pionniers capables d'anticiper les nouvelles attentes.</a:t>
            </a:r>
            <a:endParaRPr lang="en-US" sz="1150" dirty="0"/>
          </a:p>
        </p:txBody>
      </p:sp>
      <p:sp>
        <p:nvSpPr>
          <p:cNvPr id="4" name="Shape 2"/>
          <p:cNvSpPr/>
          <p:nvPr/>
        </p:nvSpPr>
        <p:spPr>
          <a:xfrm>
            <a:off x="793790" y="2250400"/>
            <a:ext cx="4248388" cy="3953947"/>
          </a:xfrm>
          <a:prstGeom prst="roundRect">
            <a:avLst>
              <a:gd name="adj" fmla="val 1581"/>
            </a:avLst>
          </a:prstGeom>
          <a:solidFill>
            <a:srgbClr val="F5F5F5"/>
          </a:solidFill>
          <a:ln w="15240">
            <a:solidFill>
              <a:srgbClr val="008150"/>
            </a:solidFill>
            <a:prstDash val="solid"/>
          </a:ln>
        </p:spPr>
        <p:txBody>
          <a:bodyPr/>
          <a:lstStyle/>
          <a:p>
            <a:endParaRPr lang="fr-CH"/>
          </a:p>
        </p:txBody>
      </p:sp>
      <p:sp>
        <p:nvSpPr>
          <p:cNvPr id="5" name="Shape 3"/>
          <p:cNvSpPr/>
          <p:nvPr/>
        </p:nvSpPr>
        <p:spPr>
          <a:xfrm>
            <a:off x="809030" y="2265640"/>
            <a:ext cx="4217908" cy="446484"/>
          </a:xfrm>
          <a:prstGeom prst="roundRect">
            <a:avLst>
              <a:gd name="adj" fmla="val 9907"/>
            </a:avLst>
          </a:prstGeom>
          <a:solidFill>
            <a:srgbClr val="008150"/>
          </a:solidFill>
          <a:ln/>
        </p:spPr>
        <p:txBody>
          <a:bodyPr/>
          <a:lstStyle/>
          <a:p>
            <a:endParaRPr lang="fr-CH"/>
          </a:p>
        </p:txBody>
      </p:sp>
      <p:sp>
        <p:nvSpPr>
          <p:cNvPr id="6" name="Text 4"/>
          <p:cNvSpPr/>
          <p:nvPr/>
        </p:nvSpPr>
        <p:spPr>
          <a:xfrm>
            <a:off x="2806303" y="2345531"/>
            <a:ext cx="223242" cy="279083"/>
          </a:xfrm>
          <a:prstGeom prst="rect">
            <a:avLst/>
          </a:prstGeom>
          <a:noFill/>
          <a:ln/>
        </p:spPr>
        <p:txBody>
          <a:bodyPr wrap="none" lIns="0" tIns="0" rIns="0" bIns="0" rtlCol="0" anchor="t"/>
          <a:lstStyle/>
          <a:p>
            <a:pPr marL="0" indent="0" algn="l">
              <a:lnSpc>
                <a:spcPts val="1750"/>
              </a:lnSpc>
              <a:buNone/>
            </a:pPr>
            <a:r>
              <a:rPr lang="en-US" sz="1750" b="1" dirty="0">
                <a:solidFill>
                  <a:srgbClr val="FFFFFF"/>
                </a:solidFill>
                <a:latin typeface="Inter Bold" pitchFamily="34" charset="0"/>
                <a:ea typeface="Inter Bold" pitchFamily="34" charset="-122"/>
                <a:cs typeface="Inter Bold" pitchFamily="34" charset="-120"/>
              </a:rPr>
              <a:t>1</a:t>
            </a:r>
            <a:endParaRPr lang="en-US" sz="1750" dirty="0"/>
          </a:p>
        </p:txBody>
      </p:sp>
      <p:sp>
        <p:nvSpPr>
          <p:cNvPr id="7" name="Text 5"/>
          <p:cNvSpPr/>
          <p:nvPr/>
        </p:nvSpPr>
        <p:spPr>
          <a:xfrm>
            <a:off x="957858" y="2860953"/>
            <a:ext cx="2217301"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Force 1 : Fatigue du Luxe</a:t>
            </a:r>
            <a:endParaRPr lang="en-US" sz="1450" dirty="0"/>
          </a:p>
        </p:txBody>
      </p:sp>
      <p:sp>
        <p:nvSpPr>
          <p:cNvPr id="8" name="Text 6"/>
          <p:cNvSpPr/>
          <p:nvPr/>
        </p:nvSpPr>
        <p:spPr>
          <a:xfrm>
            <a:off x="957858" y="3182779"/>
            <a:ext cx="3920252" cy="2381250"/>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Le secteur a perdu </a:t>
            </a:r>
            <a:r>
              <a:rPr lang="en-US" sz="1150" b="1" dirty="0">
                <a:solidFill>
                  <a:srgbClr val="000000"/>
                </a:solidFill>
                <a:latin typeface="Inter" pitchFamily="34" charset="0"/>
                <a:ea typeface="Inter" pitchFamily="34" charset="-122"/>
                <a:cs typeface="Inter" pitchFamily="34" charset="-120"/>
              </a:rPr>
              <a:t>10% de sa clientèle en 2 ans</a:t>
            </a:r>
            <a:r>
              <a:rPr lang="en-US" sz="1150" dirty="0">
                <a:solidFill>
                  <a:srgbClr val="000000"/>
                </a:solidFill>
                <a:latin typeface="Inter" pitchFamily="34" charset="0"/>
                <a:ea typeface="Inter" pitchFamily="34" charset="-122"/>
                <a:cs typeface="Inter" pitchFamily="34" charset="-120"/>
              </a:rPr>
              <a:t> selon le Comité Colbert et Deloitte. L'échec digital est quantifié de manière alarmante : le score moyen des applications mobiles horlogères atteint seulement </a:t>
            </a:r>
            <a:r>
              <a:rPr lang="en-US" sz="1150" b="1" dirty="0">
                <a:solidFill>
                  <a:srgbClr val="000000"/>
                </a:solidFill>
                <a:latin typeface="Inter" pitchFamily="34" charset="0"/>
                <a:ea typeface="Inter" pitchFamily="34" charset="-122"/>
                <a:cs typeface="Inter" pitchFamily="34" charset="-120"/>
              </a:rPr>
              <a:t>1.8/5</a:t>
            </a:r>
            <a:r>
              <a:rPr lang="en-US" sz="1150" dirty="0">
                <a:solidFill>
                  <a:srgbClr val="000000"/>
                </a:solidFill>
                <a:latin typeface="Inter" pitchFamily="34" charset="0"/>
                <a:ea typeface="Inter" pitchFamily="34" charset="-122"/>
                <a:cs typeface="Inter" pitchFamily="34" charset="-120"/>
              </a:rPr>
              <a:t> (étude Colombus 2024). Même des marques aussi prestigieuses que Rolex subissent un déclin d'audience digitale significatif. Les clients développent une </a:t>
            </a:r>
            <a:r>
              <a:rPr lang="en-US" sz="1150" dirty="0">
                <a:solidFill>
                  <a:srgbClr val="FFFFFF"/>
                </a:solidFill>
                <a:highlight>
                  <a:srgbClr val="E3001D"/>
                </a:highlight>
                <a:latin typeface="Inter" pitchFamily="34" charset="0"/>
                <a:ea typeface="Inter" pitchFamily="34" charset="-122"/>
                <a:cs typeface="Inter" pitchFamily="34" charset="-120"/>
              </a:rPr>
              <a:t>intolérance croissante aux frictions digitales</a:t>
            </a:r>
            <a:r>
              <a:rPr lang="en-US" sz="1150" dirty="0">
                <a:solidFill>
                  <a:srgbClr val="000000"/>
                </a:solidFill>
                <a:latin typeface="Inter" pitchFamily="34" charset="0"/>
                <a:ea typeface="Inter" pitchFamily="34" charset="-122"/>
                <a:cs typeface="Inter" pitchFamily="34" charset="-120"/>
              </a:rPr>
              <a:t>, refusant désormais les expériences médiocres qu'ils auraient acceptées il y a quelques années.</a:t>
            </a:r>
            <a:endParaRPr lang="en-US" sz="1150" dirty="0"/>
          </a:p>
        </p:txBody>
      </p:sp>
      <p:sp>
        <p:nvSpPr>
          <p:cNvPr id="9" name="Shape 7"/>
          <p:cNvSpPr/>
          <p:nvPr/>
        </p:nvSpPr>
        <p:spPr>
          <a:xfrm>
            <a:off x="5191006" y="2250400"/>
            <a:ext cx="4248388" cy="3953947"/>
          </a:xfrm>
          <a:prstGeom prst="roundRect">
            <a:avLst>
              <a:gd name="adj" fmla="val 1581"/>
            </a:avLst>
          </a:prstGeom>
          <a:solidFill>
            <a:srgbClr val="F5F5F5"/>
          </a:solidFill>
          <a:ln w="15240">
            <a:solidFill>
              <a:srgbClr val="E3001D"/>
            </a:solidFill>
            <a:prstDash val="solid"/>
          </a:ln>
        </p:spPr>
        <p:txBody>
          <a:bodyPr/>
          <a:lstStyle/>
          <a:p>
            <a:endParaRPr lang="fr-CH"/>
          </a:p>
        </p:txBody>
      </p:sp>
      <p:sp>
        <p:nvSpPr>
          <p:cNvPr id="10" name="Shape 8"/>
          <p:cNvSpPr/>
          <p:nvPr/>
        </p:nvSpPr>
        <p:spPr>
          <a:xfrm>
            <a:off x="5206246" y="2265640"/>
            <a:ext cx="4217908" cy="446484"/>
          </a:xfrm>
          <a:prstGeom prst="roundRect">
            <a:avLst>
              <a:gd name="adj" fmla="val 9907"/>
            </a:avLst>
          </a:prstGeom>
          <a:solidFill>
            <a:srgbClr val="E3001D"/>
          </a:solidFill>
          <a:ln/>
        </p:spPr>
        <p:txBody>
          <a:bodyPr/>
          <a:lstStyle/>
          <a:p>
            <a:endParaRPr lang="fr-CH"/>
          </a:p>
        </p:txBody>
      </p:sp>
      <p:sp>
        <p:nvSpPr>
          <p:cNvPr id="11" name="Text 9"/>
          <p:cNvSpPr/>
          <p:nvPr/>
        </p:nvSpPr>
        <p:spPr>
          <a:xfrm>
            <a:off x="7203519" y="2345531"/>
            <a:ext cx="223242" cy="279083"/>
          </a:xfrm>
          <a:prstGeom prst="rect">
            <a:avLst/>
          </a:prstGeom>
          <a:noFill/>
          <a:ln/>
        </p:spPr>
        <p:txBody>
          <a:bodyPr wrap="none" lIns="0" tIns="0" rIns="0" bIns="0" rtlCol="0" anchor="t"/>
          <a:lstStyle/>
          <a:p>
            <a:pPr marL="0" indent="0" algn="l">
              <a:lnSpc>
                <a:spcPts val="1750"/>
              </a:lnSpc>
              <a:buNone/>
            </a:pPr>
            <a:r>
              <a:rPr lang="en-US" sz="1750" b="1" dirty="0">
                <a:solidFill>
                  <a:srgbClr val="FFFFFF"/>
                </a:solidFill>
                <a:latin typeface="Inter Bold" pitchFamily="34" charset="0"/>
                <a:ea typeface="Inter Bold" pitchFamily="34" charset="-122"/>
                <a:cs typeface="Inter Bold" pitchFamily="34" charset="-120"/>
              </a:rPr>
              <a:t>2</a:t>
            </a:r>
            <a:endParaRPr lang="en-US" sz="1750" dirty="0"/>
          </a:p>
        </p:txBody>
      </p:sp>
      <p:sp>
        <p:nvSpPr>
          <p:cNvPr id="12" name="Text 10"/>
          <p:cNvSpPr/>
          <p:nvPr/>
        </p:nvSpPr>
        <p:spPr>
          <a:xfrm>
            <a:off x="5355074" y="2860953"/>
            <a:ext cx="2971800"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Force 2 : Impératif Générationnel</a:t>
            </a:r>
            <a:endParaRPr lang="en-US" sz="1450" dirty="0"/>
          </a:p>
        </p:txBody>
      </p:sp>
      <p:sp>
        <p:nvSpPr>
          <p:cNvPr id="13" name="Text 11"/>
          <p:cNvSpPr/>
          <p:nvPr/>
        </p:nvSpPr>
        <p:spPr>
          <a:xfrm>
            <a:off x="5355074" y="3182779"/>
            <a:ext cx="3920252" cy="2857500"/>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Les Millennials et la Gen Z représenteront </a:t>
            </a:r>
            <a:r>
              <a:rPr lang="en-US" sz="1150" b="1" dirty="0">
                <a:solidFill>
                  <a:srgbClr val="000000"/>
                </a:solidFill>
                <a:latin typeface="Inter" pitchFamily="34" charset="0"/>
                <a:ea typeface="Inter" pitchFamily="34" charset="-122"/>
                <a:cs typeface="Inter" pitchFamily="34" charset="-120"/>
              </a:rPr>
              <a:t>75% des acheteurs de luxe d'ici 2026</a:t>
            </a:r>
            <a:r>
              <a:rPr lang="en-US" sz="1150" dirty="0">
                <a:solidFill>
                  <a:srgbClr val="000000"/>
                </a:solidFill>
                <a:latin typeface="Inter" pitchFamily="34" charset="0"/>
                <a:ea typeface="Inter" pitchFamily="34" charset="-122"/>
                <a:cs typeface="Inter" pitchFamily="34" charset="-120"/>
              </a:rPr>
              <a:t>. Leur système de valeurs diffère radicalement des générations précédentes : fidélité basée sur la communauté (et non plus sur la loyauté à vie inconditionnelle), statut comme moyen d'auto-expression (plutôt que reconnaissance sociale externe), influence des créateurs digitaux (plutôt que du marketing de masse traditionnel). Ils n'ont qu'un seul standard d'excellence absolu : </a:t>
            </a:r>
            <a:r>
              <a:rPr lang="en-US" sz="1150" dirty="0">
                <a:solidFill>
                  <a:srgbClr val="FFFFFF"/>
                </a:solidFill>
                <a:highlight>
                  <a:srgbClr val="008150"/>
                </a:highlight>
                <a:latin typeface="Inter" pitchFamily="34" charset="0"/>
                <a:ea typeface="Inter" pitchFamily="34" charset="-122"/>
                <a:cs typeface="Inter" pitchFamily="34" charset="-120"/>
              </a:rPr>
              <a:t>la fluidité Amazon combinée à l'écosystème Apple</a:t>
            </a:r>
            <a:r>
              <a:rPr lang="en-US" sz="1150" dirty="0">
                <a:solidFill>
                  <a:srgbClr val="000000"/>
                </a:solidFill>
                <a:latin typeface="Inter" pitchFamily="34" charset="0"/>
                <a:ea typeface="Inter" pitchFamily="34" charset="-122"/>
                <a:cs typeface="Inter" pitchFamily="34" charset="-120"/>
              </a:rPr>
              <a:t>. Pour TAG Heuer, la cible "Young Striver" (26 ans en moyenne) se trouve au cœur même de cette démographie exigeante.</a:t>
            </a:r>
            <a:endParaRPr lang="en-US" sz="1150" dirty="0"/>
          </a:p>
        </p:txBody>
      </p:sp>
      <p:sp>
        <p:nvSpPr>
          <p:cNvPr id="14" name="Shape 12"/>
          <p:cNvSpPr/>
          <p:nvPr/>
        </p:nvSpPr>
        <p:spPr>
          <a:xfrm>
            <a:off x="9588222" y="2250400"/>
            <a:ext cx="4248388" cy="3953947"/>
          </a:xfrm>
          <a:prstGeom prst="roundRect">
            <a:avLst>
              <a:gd name="adj" fmla="val 1581"/>
            </a:avLst>
          </a:prstGeom>
          <a:solidFill>
            <a:srgbClr val="F5F5F5"/>
          </a:solidFill>
          <a:ln w="15240">
            <a:solidFill>
              <a:srgbClr val="008150"/>
            </a:solidFill>
            <a:prstDash val="solid"/>
          </a:ln>
        </p:spPr>
        <p:txBody>
          <a:bodyPr/>
          <a:lstStyle/>
          <a:p>
            <a:endParaRPr lang="fr-CH"/>
          </a:p>
        </p:txBody>
      </p:sp>
      <p:sp>
        <p:nvSpPr>
          <p:cNvPr id="15" name="Shape 13"/>
          <p:cNvSpPr/>
          <p:nvPr/>
        </p:nvSpPr>
        <p:spPr>
          <a:xfrm>
            <a:off x="9603462" y="2265640"/>
            <a:ext cx="4217908" cy="446484"/>
          </a:xfrm>
          <a:prstGeom prst="roundRect">
            <a:avLst>
              <a:gd name="adj" fmla="val 9907"/>
            </a:avLst>
          </a:prstGeom>
          <a:solidFill>
            <a:srgbClr val="008150"/>
          </a:solidFill>
          <a:ln/>
        </p:spPr>
        <p:txBody>
          <a:bodyPr/>
          <a:lstStyle/>
          <a:p>
            <a:endParaRPr lang="fr-CH"/>
          </a:p>
        </p:txBody>
      </p:sp>
      <p:sp>
        <p:nvSpPr>
          <p:cNvPr id="16" name="Text 14"/>
          <p:cNvSpPr/>
          <p:nvPr/>
        </p:nvSpPr>
        <p:spPr>
          <a:xfrm>
            <a:off x="11600736" y="2345531"/>
            <a:ext cx="223242" cy="279083"/>
          </a:xfrm>
          <a:prstGeom prst="rect">
            <a:avLst/>
          </a:prstGeom>
          <a:noFill/>
          <a:ln/>
        </p:spPr>
        <p:txBody>
          <a:bodyPr wrap="none" lIns="0" tIns="0" rIns="0" bIns="0" rtlCol="0" anchor="t"/>
          <a:lstStyle/>
          <a:p>
            <a:pPr marL="0" indent="0" algn="l">
              <a:lnSpc>
                <a:spcPts val="1750"/>
              </a:lnSpc>
              <a:buNone/>
            </a:pPr>
            <a:r>
              <a:rPr lang="en-US" sz="1750" b="1" dirty="0">
                <a:solidFill>
                  <a:srgbClr val="FFFFFF"/>
                </a:solidFill>
                <a:latin typeface="Inter Bold" pitchFamily="34" charset="0"/>
                <a:ea typeface="Inter Bold" pitchFamily="34" charset="-122"/>
                <a:cs typeface="Inter Bold" pitchFamily="34" charset="-120"/>
              </a:rPr>
              <a:t>3</a:t>
            </a:r>
            <a:endParaRPr lang="en-US" sz="1750" dirty="0"/>
          </a:p>
        </p:txBody>
      </p:sp>
      <p:sp>
        <p:nvSpPr>
          <p:cNvPr id="17" name="Text 15"/>
          <p:cNvSpPr/>
          <p:nvPr/>
        </p:nvSpPr>
        <p:spPr>
          <a:xfrm>
            <a:off x="9752290" y="2860953"/>
            <a:ext cx="3091577"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Force 3 : Mondialisation Culturelle</a:t>
            </a:r>
            <a:endParaRPr lang="en-US" sz="1450" dirty="0"/>
          </a:p>
        </p:txBody>
      </p:sp>
      <p:sp>
        <p:nvSpPr>
          <p:cNvPr id="18" name="Text 16"/>
          <p:cNvSpPr/>
          <p:nvPr/>
        </p:nvSpPr>
        <p:spPr>
          <a:xfrm>
            <a:off x="9752290" y="3182779"/>
            <a:ext cx="3920252" cy="2381250"/>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Les attentes service sont désormais "déségrégées" : les clients comparent systématiquement le luxe horloger aux standards de l'hôtellerie 5 étoiles (Four Seasons, Aman), de la banque privée (DBS, Julius Baer), et de l'aviation d'affaires. Une boutique TAG Heuer à Genève doit satisfaire simultanément des clients venant de Shanghai, Dubaï et New York, chacun avec des codes culturels et des attentes service radicalement différents. Cette pression opérationnelle est immense sur le personnel de vente.</a:t>
            </a:r>
            <a:endParaRPr lang="en-US" sz="1150" dirty="0"/>
          </a:p>
        </p:txBody>
      </p:sp>
      <p:sp>
        <p:nvSpPr>
          <p:cNvPr id="19" name="Shape 17"/>
          <p:cNvSpPr/>
          <p:nvPr/>
        </p:nvSpPr>
        <p:spPr>
          <a:xfrm>
            <a:off x="793790" y="6371749"/>
            <a:ext cx="13042821" cy="1251942"/>
          </a:xfrm>
          <a:prstGeom prst="roundRect">
            <a:avLst>
              <a:gd name="adj" fmla="val 4994"/>
            </a:avLst>
          </a:prstGeom>
          <a:solidFill>
            <a:srgbClr val="B3FFE2"/>
          </a:solidFill>
          <a:ln/>
        </p:spPr>
        <p:txBody>
          <a:bodyPr/>
          <a:lstStyle/>
          <a:p>
            <a:endParaRPr lang="fr-CH"/>
          </a:p>
        </p:txBody>
      </p:sp>
      <p:pic>
        <p:nvPicPr>
          <p:cNvPr id="20" name="Image 0" descr="preencoded.png"/>
          <p:cNvPicPr>
            <a:picLocks noChangeAspect="1"/>
          </p:cNvPicPr>
          <p:nvPr/>
        </p:nvPicPr>
        <p:blipFill>
          <a:blip r:embed="rId3"/>
          <a:stretch>
            <a:fillRect/>
          </a:stretch>
        </p:blipFill>
        <p:spPr>
          <a:xfrm>
            <a:off x="942618" y="6577846"/>
            <a:ext cx="232529" cy="185976"/>
          </a:xfrm>
          <a:prstGeom prst="rect">
            <a:avLst/>
          </a:prstGeom>
        </p:spPr>
      </p:pic>
      <p:sp>
        <p:nvSpPr>
          <p:cNvPr id="21" name="Text 18"/>
          <p:cNvSpPr/>
          <p:nvPr/>
        </p:nvSpPr>
        <p:spPr>
          <a:xfrm>
            <a:off x="1323975" y="6557724"/>
            <a:ext cx="2130385"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Le Trilemme TAG Heuer</a:t>
            </a:r>
            <a:endParaRPr lang="en-US" sz="1450" dirty="0"/>
          </a:p>
        </p:txBody>
      </p:sp>
      <p:sp>
        <p:nvSpPr>
          <p:cNvPr id="22" name="Text 19"/>
          <p:cNvSpPr/>
          <p:nvPr/>
        </p:nvSpPr>
        <p:spPr>
          <a:xfrm>
            <a:off x="1323975" y="6939082"/>
            <a:ext cx="12363807" cy="476250"/>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Comment délivrer </a:t>
            </a:r>
            <a:r>
              <a:rPr lang="en-US" sz="1150" b="1" dirty="0">
                <a:solidFill>
                  <a:srgbClr val="000000"/>
                </a:solidFill>
                <a:latin typeface="Inter" pitchFamily="34" charset="0"/>
                <a:ea typeface="Inter" pitchFamily="34" charset="-122"/>
                <a:cs typeface="Inter" pitchFamily="34" charset="-120"/>
              </a:rPr>
              <a:t>personnalisation à l'échelle mondiale + authenticité humaine préservée</a:t>
            </a:r>
            <a:r>
              <a:rPr lang="en-US" sz="1150" dirty="0">
                <a:solidFill>
                  <a:srgbClr val="000000"/>
                </a:solidFill>
                <a:latin typeface="Inter" pitchFamily="34" charset="0"/>
                <a:ea typeface="Inter" pitchFamily="34" charset="-122"/>
                <a:cs typeface="Inter" pitchFamily="34" charset="-120"/>
              </a:rPr>
              <a:t>, tout en maintenant la cohérence de marque ? C'est le défi central que l'intelligence artificielle culturelle peut résoudre.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2212" y="379690"/>
            <a:ext cx="5159454" cy="280392"/>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Inter Bold" pitchFamily="34" charset="0"/>
                <a:ea typeface="Inter Bold" pitchFamily="34" charset="-122"/>
                <a:cs typeface="Inter Bold" pitchFamily="34" charset="-120"/>
              </a:rPr>
              <a:t>Le Gap Stratégique : Opportunité Non Exploitée</a:t>
            </a:r>
            <a:endParaRPr lang="en-US" sz="1750" dirty="0"/>
          </a:p>
        </p:txBody>
      </p:sp>
      <p:sp>
        <p:nvSpPr>
          <p:cNvPr id="3" name="Text 1"/>
          <p:cNvSpPr/>
          <p:nvPr/>
        </p:nvSpPr>
        <p:spPr>
          <a:xfrm>
            <a:off x="552212" y="839510"/>
            <a:ext cx="13525976" cy="287179"/>
          </a:xfrm>
          <a:prstGeom prst="rect">
            <a:avLst/>
          </a:prstGeom>
          <a:noFill/>
          <a:ln/>
        </p:spPr>
        <p:txBody>
          <a:bodyPr wrap="square" lIns="0" tIns="0" rIns="0" bIns="0" rtlCol="0" anchor="t"/>
          <a:lstStyle/>
          <a:p>
            <a:pPr marL="0" indent="0" algn="l">
              <a:lnSpc>
                <a:spcPts val="1100"/>
              </a:lnSpc>
              <a:buNone/>
            </a:pPr>
            <a:r>
              <a:rPr lang="en-US" sz="700" dirty="0">
                <a:solidFill>
                  <a:srgbClr val="000000"/>
                </a:solidFill>
                <a:latin typeface="Inter" pitchFamily="34" charset="0"/>
                <a:ea typeface="Inter" pitchFamily="34" charset="-122"/>
                <a:cs typeface="Inter" pitchFamily="34" charset="-120"/>
              </a:rPr>
              <a:t>TAG Heuer opère mondialement avec une expérience largement standardisée, inadaptée aux codes culturels régionaux spécifiques et à l'orchestration omnicanale optimale. Cette approche "one-size-fits-all" crée des inefficacités majeures dans le parcours client et des pertes de conversion significatives à chaque point de contact.</a:t>
            </a:r>
            <a:endParaRPr lang="en-US" sz="700" dirty="0"/>
          </a:p>
        </p:txBody>
      </p:sp>
      <p:sp>
        <p:nvSpPr>
          <p:cNvPr id="4" name="Text 2"/>
          <p:cNvSpPr/>
          <p:nvPr/>
        </p:nvSpPr>
        <p:spPr>
          <a:xfrm>
            <a:off x="552212" y="1317188"/>
            <a:ext cx="1319689" cy="140137"/>
          </a:xfrm>
          <a:prstGeom prst="rect">
            <a:avLst/>
          </a:prstGeom>
          <a:noFill/>
          <a:ln/>
        </p:spPr>
        <p:txBody>
          <a:bodyPr wrap="none" lIns="0" tIns="0" rIns="0" bIns="0" rtlCol="0" anchor="t"/>
          <a:lstStyle/>
          <a:p>
            <a:pPr marL="0" indent="0" algn="l">
              <a:lnSpc>
                <a:spcPts val="1100"/>
              </a:lnSpc>
              <a:buNone/>
            </a:pPr>
            <a:r>
              <a:rPr lang="en-US" sz="850" b="1" dirty="0">
                <a:solidFill>
                  <a:srgbClr val="000000"/>
                </a:solidFill>
                <a:latin typeface="Inter Bold" pitchFamily="34" charset="0"/>
                <a:ea typeface="Inter Bold" pitchFamily="34" charset="-122"/>
                <a:cs typeface="Inter Bold" pitchFamily="34" charset="-120"/>
              </a:rPr>
              <a:t>Les Données TAG Heuer</a:t>
            </a:r>
            <a:endParaRPr lang="en-US" sz="850" dirty="0"/>
          </a:p>
        </p:txBody>
      </p:sp>
      <p:sp>
        <p:nvSpPr>
          <p:cNvPr id="5" name="Text 3"/>
          <p:cNvSpPr/>
          <p:nvPr/>
        </p:nvSpPr>
        <p:spPr>
          <a:xfrm>
            <a:off x="552212" y="1602938"/>
            <a:ext cx="5278993" cy="296108"/>
          </a:xfrm>
          <a:prstGeom prst="rect">
            <a:avLst/>
          </a:prstGeom>
          <a:noFill/>
          <a:ln/>
        </p:spPr>
        <p:txBody>
          <a:bodyPr wrap="none" lIns="0" tIns="0" rIns="0" bIns="0" rtlCol="0" anchor="t"/>
          <a:lstStyle/>
          <a:p>
            <a:pPr marL="0" indent="0" algn="ctr">
              <a:lnSpc>
                <a:spcPts val="2300"/>
              </a:lnSpc>
              <a:buNone/>
            </a:pPr>
            <a:r>
              <a:rPr lang="en-US" sz="2300" b="1" dirty="0">
                <a:solidFill>
                  <a:srgbClr val="000000"/>
                </a:solidFill>
                <a:latin typeface="Inter Bold" pitchFamily="34" charset="0"/>
                <a:ea typeface="Inter Bold" pitchFamily="34" charset="-122"/>
                <a:cs typeface="Inter Bold" pitchFamily="34" charset="-120"/>
              </a:rPr>
              <a:t>0.7%</a:t>
            </a:r>
            <a:endParaRPr lang="en-US" sz="2300" dirty="0"/>
          </a:p>
        </p:txBody>
      </p:sp>
      <p:sp>
        <p:nvSpPr>
          <p:cNvPr id="6" name="Text 4"/>
          <p:cNvSpPr/>
          <p:nvPr/>
        </p:nvSpPr>
        <p:spPr>
          <a:xfrm>
            <a:off x="2630805" y="2011085"/>
            <a:ext cx="1121807" cy="140137"/>
          </a:xfrm>
          <a:prstGeom prst="rect">
            <a:avLst/>
          </a:prstGeom>
          <a:noFill/>
          <a:ln/>
        </p:spPr>
        <p:txBody>
          <a:bodyPr wrap="none" lIns="0" tIns="0" rIns="0" bIns="0" rtlCol="0" anchor="t"/>
          <a:lstStyle/>
          <a:p>
            <a:pPr marL="0" indent="0" algn="ctr">
              <a:lnSpc>
                <a:spcPts val="1100"/>
              </a:lnSpc>
              <a:buNone/>
            </a:pPr>
            <a:r>
              <a:rPr lang="en-US" sz="850" b="1" dirty="0">
                <a:solidFill>
                  <a:srgbClr val="000000"/>
                </a:solidFill>
                <a:latin typeface="Inter Bold" pitchFamily="34" charset="0"/>
                <a:ea typeface="Inter Bold" pitchFamily="34" charset="-122"/>
                <a:cs typeface="Inter Bold" pitchFamily="34" charset="-120"/>
              </a:rPr>
              <a:t>Conversion Online</a:t>
            </a:r>
            <a:endParaRPr lang="en-US" sz="850" dirty="0"/>
          </a:p>
        </p:txBody>
      </p:sp>
      <p:sp>
        <p:nvSpPr>
          <p:cNvPr id="7" name="Text 5"/>
          <p:cNvSpPr/>
          <p:nvPr/>
        </p:nvSpPr>
        <p:spPr>
          <a:xfrm>
            <a:off x="552212" y="2240875"/>
            <a:ext cx="5278993" cy="143589"/>
          </a:xfrm>
          <a:prstGeom prst="rect">
            <a:avLst/>
          </a:prstGeom>
          <a:noFill/>
          <a:ln/>
        </p:spPr>
        <p:txBody>
          <a:bodyPr wrap="none" lIns="0" tIns="0" rIns="0" bIns="0" rtlCol="0" anchor="t"/>
          <a:lstStyle/>
          <a:p>
            <a:pPr marL="0" indent="0" algn="ctr">
              <a:lnSpc>
                <a:spcPts val="1100"/>
              </a:lnSpc>
              <a:buNone/>
            </a:pPr>
            <a:r>
              <a:rPr lang="en-US" sz="700" dirty="0">
                <a:solidFill>
                  <a:srgbClr val="000000"/>
                </a:solidFill>
                <a:latin typeface="Inter" pitchFamily="34" charset="0"/>
                <a:ea typeface="Inter" pitchFamily="34" charset="-122"/>
                <a:cs typeface="Inter" pitchFamily="34" charset="-120"/>
              </a:rPr>
              <a:t>Taux actuel e-commerce</a:t>
            </a:r>
            <a:endParaRPr lang="en-US" sz="700" dirty="0"/>
          </a:p>
        </p:txBody>
      </p:sp>
      <p:sp>
        <p:nvSpPr>
          <p:cNvPr id="8" name="Text 6"/>
          <p:cNvSpPr/>
          <p:nvPr/>
        </p:nvSpPr>
        <p:spPr>
          <a:xfrm>
            <a:off x="552212" y="2608659"/>
            <a:ext cx="5278993" cy="296108"/>
          </a:xfrm>
          <a:prstGeom prst="rect">
            <a:avLst/>
          </a:prstGeom>
          <a:noFill/>
          <a:ln/>
        </p:spPr>
        <p:txBody>
          <a:bodyPr wrap="none" lIns="0" tIns="0" rIns="0" bIns="0" rtlCol="0" anchor="t"/>
          <a:lstStyle/>
          <a:p>
            <a:pPr marL="0" indent="0" algn="ctr">
              <a:lnSpc>
                <a:spcPts val="2300"/>
              </a:lnSpc>
              <a:buNone/>
            </a:pPr>
            <a:r>
              <a:rPr lang="en-US" sz="2300" b="1" dirty="0">
                <a:solidFill>
                  <a:srgbClr val="000000"/>
                </a:solidFill>
                <a:latin typeface="Inter Bold" pitchFamily="34" charset="0"/>
                <a:ea typeface="Inter Bold" pitchFamily="34" charset="-122"/>
                <a:cs typeface="Inter Bold" pitchFamily="34" charset="-120"/>
              </a:rPr>
              <a:t>7%</a:t>
            </a:r>
            <a:endParaRPr lang="en-US" sz="2300" dirty="0"/>
          </a:p>
        </p:txBody>
      </p:sp>
      <p:sp>
        <p:nvSpPr>
          <p:cNvPr id="9" name="Text 7"/>
          <p:cNvSpPr/>
          <p:nvPr/>
        </p:nvSpPr>
        <p:spPr>
          <a:xfrm>
            <a:off x="2609493" y="3016806"/>
            <a:ext cx="1164431" cy="140137"/>
          </a:xfrm>
          <a:prstGeom prst="rect">
            <a:avLst/>
          </a:prstGeom>
          <a:noFill/>
          <a:ln/>
        </p:spPr>
        <p:txBody>
          <a:bodyPr wrap="none" lIns="0" tIns="0" rIns="0" bIns="0" rtlCol="0" anchor="t"/>
          <a:lstStyle/>
          <a:p>
            <a:pPr marL="0" indent="0" algn="ctr">
              <a:lnSpc>
                <a:spcPts val="1100"/>
              </a:lnSpc>
              <a:buNone/>
            </a:pPr>
            <a:r>
              <a:rPr lang="en-US" sz="850" b="1" dirty="0">
                <a:solidFill>
                  <a:srgbClr val="000000"/>
                </a:solidFill>
                <a:latin typeface="Inter Bold" pitchFamily="34" charset="0"/>
                <a:ea typeface="Inter Bold" pitchFamily="34" charset="-122"/>
                <a:cs typeface="Inter Bold" pitchFamily="34" charset="-120"/>
              </a:rPr>
              <a:t>Conversion Physique</a:t>
            </a:r>
            <a:endParaRPr lang="en-US" sz="850" dirty="0"/>
          </a:p>
        </p:txBody>
      </p:sp>
      <p:sp>
        <p:nvSpPr>
          <p:cNvPr id="10" name="Text 8"/>
          <p:cNvSpPr/>
          <p:nvPr/>
        </p:nvSpPr>
        <p:spPr>
          <a:xfrm>
            <a:off x="552212" y="3246596"/>
            <a:ext cx="5278993" cy="143589"/>
          </a:xfrm>
          <a:prstGeom prst="rect">
            <a:avLst/>
          </a:prstGeom>
          <a:noFill/>
          <a:ln/>
        </p:spPr>
        <p:txBody>
          <a:bodyPr wrap="none" lIns="0" tIns="0" rIns="0" bIns="0" rtlCol="0" anchor="t"/>
          <a:lstStyle/>
          <a:p>
            <a:pPr marL="0" indent="0" algn="ctr">
              <a:lnSpc>
                <a:spcPts val="1100"/>
              </a:lnSpc>
              <a:buNone/>
            </a:pPr>
            <a:r>
              <a:rPr lang="en-US" sz="700" dirty="0">
                <a:solidFill>
                  <a:srgbClr val="000000"/>
                </a:solidFill>
                <a:latin typeface="Inter" pitchFamily="34" charset="0"/>
                <a:ea typeface="Inter" pitchFamily="34" charset="-122"/>
                <a:cs typeface="Inter" pitchFamily="34" charset="-120"/>
              </a:rPr>
              <a:t>En boutique TAG Heuer</a:t>
            </a:r>
            <a:endParaRPr lang="en-US" sz="700" dirty="0"/>
          </a:p>
        </p:txBody>
      </p:sp>
      <p:sp>
        <p:nvSpPr>
          <p:cNvPr id="11" name="Text 9"/>
          <p:cNvSpPr/>
          <p:nvPr/>
        </p:nvSpPr>
        <p:spPr>
          <a:xfrm>
            <a:off x="552212" y="3614380"/>
            <a:ext cx="5278993" cy="296108"/>
          </a:xfrm>
          <a:prstGeom prst="rect">
            <a:avLst/>
          </a:prstGeom>
          <a:noFill/>
          <a:ln/>
        </p:spPr>
        <p:txBody>
          <a:bodyPr wrap="none" lIns="0" tIns="0" rIns="0" bIns="0" rtlCol="0" anchor="t"/>
          <a:lstStyle/>
          <a:p>
            <a:pPr marL="0" indent="0" algn="ctr">
              <a:lnSpc>
                <a:spcPts val="2300"/>
              </a:lnSpc>
              <a:buNone/>
            </a:pPr>
            <a:r>
              <a:rPr lang="en-US" sz="2300" b="1" dirty="0">
                <a:solidFill>
                  <a:srgbClr val="000000"/>
                </a:solidFill>
                <a:latin typeface="Inter Bold" pitchFamily="34" charset="0"/>
                <a:ea typeface="Inter Bold" pitchFamily="34" charset="-122"/>
                <a:cs typeface="Inter Bold" pitchFamily="34" charset="-120"/>
              </a:rPr>
              <a:t>10%</a:t>
            </a:r>
            <a:endParaRPr lang="en-US" sz="2300" dirty="0"/>
          </a:p>
        </p:txBody>
      </p:sp>
      <p:sp>
        <p:nvSpPr>
          <p:cNvPr id="12" name="Text 10"/>
          <p:cNvSpPr/>
          <p:nvPr/>
        </p:nvSpPr>
        <p:spPr>
          <a:xfrm>
            <a:off x="2556748" y="4022527"/>
            <a:ext cx="1269921" cy="140137"/>
          </a:xfrm>
          <a:prstGeom prst="rect">
            <a:avLst/>
          </a:prstGeom>
          <a:noFill/>
          <a:ln/>
        </p:spPr>
        <p:txBody>
          <a:bodyPr wrap="none" lIns="0" tIns="0" rIns="0" bIns="0" rtlCol="0" anchor="t"/>
          <a:lstStyle/>
          <a:p>
            <a:pPr marL="0" indent="0" algn="ctr">
              <a:lnSpc>
                <a:spcPts val="1100"/>
              </a:lnSpc>
              <a:buNone/>
            </a:pPr>
            <a:r>
              <a:rPr lang="en-US" sz="850" b="1" dirty="0">
                <a:solidFill>
                  <a:srgbClr val="000000"/>
                </a:solidFill>
                <a:latin typeface="Inter Bold" pitchFamily="34" charset="0"/>
                <a:ea typeface="Inter Bold" pitchFamily="34" charset="-122"/>
                <a:cs typeface="Inter Bold" pitchFamily="34" charset="-120"/>
              </a:rPr>
              <a:t>Conversion Care Agent</a:t>
            </a:r>
            <a:endParaRPr lang="en-US" sz="850" dirty="0"/>
          </a:p>
        </p:txBody>
      </p:sp>
      <p:sp>
        <p:nvSpPr>
          <p:cNvPr id="13" name="Text 11"/>
          <p:cNvSpPr/>
          <p:nvPr/>
        </p:nvSpPr>
        <p:spPr>
          <a:xfrm>
            <a:off x="552212" y="4252317"/>
            <a:ext cx="5278993" cy="143589"/>
          </a:xfrm>
          <a:prstGeom prst="rect">
            <a:avLst/>
          </a:prstGeom>
          <a:noFill/>
          <a:ln/>
        </p:spPr>
        <p:txBody>
          <a:bodyPr wrap="none" lIns="0" tIns="0" rIns="0" bIns="0" rtlCol="0" anchor="t"/>
          <a:lstStyle/>
          <a:p>
            <a:pPr marL="0" indent="0" algn="ctr">
              <a:lnSpc>
                <a:spcPts val="1100"/>
              </a:lnSpc>
              <a:buNone/>
            </a:pPr>
            <a:r>
              <a:rPr lang="en-US" sz="700" dirty="0">
                <a:solidFill>
                  <a:srgbClr val="000000"/>
                </a:solidFill>
                <a:latin typeface="Inter" pitchFamily="34" charset="0"/>
                <a:ea typeface="Inter" pitchFamily="34" charset="-122"/>
                <a:cs typeface="Inter" pitchFamily="34" charset="-120"/>
              </a:rPr>
              <a:t>Avec accompagnement humain</a:t>
            </a:r>
            <a:endParaRPr lang="en-US" sz="700" dirty="0"/>
          </a:p>
        </p:txBody>
      </p:sp>
      <p:sp>
        <p:nvSpPr>
          <p:cNvPr id="14" name="Text 12"/>
          <p:cNvSpPr/>
          <p:nvPr/>
        </p:nvSpPr>
        <p:spPr>
          <a:xfrm>
            <a:off x="552212" y="4620101"/>
            <a:ext cx="5278993" cy="296108"/>
          </a:xfrm>
          <a:prstGeom prst="rect">
            <a:avLst/>
          </a:prstGeom>
          <a:noFill/>
          <a:ln/>
        </p:spPr>
        <p:txBody>
          <a:bodyPr wrap="none" lIns="0" tIns="0" rIns="0" bIns="0" rtlCol="0" anchor="t"/>
          <a:lstStyle/>
          <a:p>
            <a:pPr marL="0" indent="0" algn="ctr">
              <a:lnSpc>
                <a:spcPts val="2300"/>
              </a:lnSpc>
              <a:buNone/>
            </a:pPr>
            <a:r>
              <a:rPr lang="en-US" sz="2300" b="1" dirty="0">
                <a:solidFill>
                  <a:srgbClr val="000000"/>
                </a:solidFill>
                <a:latin typeface="Inter Bold" pitchFamily="34" charset="0"/>
                <a:ea typeface="Inter Bold" pitchFamily="34" charset="-122"/>
                <a:cs typeface="Inter Bold" pitchFamily="34" charset="-120"/>
              </a:rPr>
              <a:t>69%</a:t>
            </a:r>
            <a:endParaRPr lang="en-US" sz="2300" dirty="0"/>
          </a:p>
        </p:txBody>
      </p:sp>
      <p:sp>
        <p:nvSpPr>
          <p:cNvPr id="15" name="Text 13"/>
          <p:cNvSpPr/>
          <p:nvPr/>
        </p:nvSpPr>
        <p:spPr>
          <a:xfrm>
            <a:off x="2630805" y="5028248"/>
            <a:ext cx="1121807" cy="140137"/>
          </a:xfrm>
          <a:prstGeom prst="rect">
            <a:avLst/>
          </a:prstGeom>
          <a:noFill/>
          <a:ln/>
        </p:spPr>
        <p:txBody>
          <a:bodyPr wrap="none" lIns="0" tIns="0" rIns="0" bIns="0" rtlCol="0" anchor="t"/>
          <a:lstStyle/>
          <a:p>
            <a:pPr marL="0" indent="0" algn="ctr">
              <a:lnSpc>
                <a:spcPts val="1100"/>
              </a:lnSpc>
              <a:buNone/>
            </a:pPr>
            <a:r>
              <a:rPr lang="en-US" sz="850" b="1" dirty="0">
                <a:solidFill>
                  <a:srgbClr val="000000"/>
                </a:solidFill>
                <a:latin typeface="Inter Bold" pitchFamily="34" charset="0"/>
                <a:ea typeface="Inter Bold" pitchFamily="34" charset="-122"/>
                <a:cs typeface="Inter Bold" pitchFamily="34" charset="-120"/>
              </a:rPr>
              <a:t>Recherche Online</a:t>
            </a:r>
            <a:endParaRPr lang="en-US" sz="850" dirty="0"/>
          </a:p>
        </p:txBody>
      </p:sp>
      <p:sp>
        <p:nvSpPr>
          <p:cNvPr id="16" name="Text 14"/>
          <p:cNvSpPr/>
          <p:nvPr/>
        </p:nvSpPr>
        <p:spPr>
          <a:xfrm>
            <a:off x="552212" y="5258038"/>
            <a:ext cx="5278993" cy="143589"/>
          </a:xfrm>
          <a:prstGeom prst="rect">
            <a:avLst/>
          </a:prstGeom>
          <a:noFill/>
          <a:ln/>
        </p:spPr>
        <p:txBody>
          <a:bodyPr wrap="none" lIns="0" tIns="0" rIns="0" bIns="0" rtlCol="0" anchor="t"/>
          <a:lstStyle/>
          <a:p>
            <a:pPr marL="0" indent="0" algn="ctr">
              <a:lnSpc>
                <a:spcPts val="1100"/>
              </a:lnSpc>
              <a:buNone/>
            </a:pPr>
            <a:r>
              <a:rPr lang="en-US" sz="700" dirty="0">
                <a:solidFill>
                  <a:srgbClr val="000000"/>
                </a:solidFill>
                <a:latin typeface="Inter" pitchFamily="34" charset="0"/>
                <a:ea typeface="Inter" pitchFamily="34" charset="-122"/>
                <a:cs typeface="Inter" pitchFamily="34" charset="-120"/>
              </a:rPr>
              <a:t>Avant achat final</a:t>
            </a:r>
            <a:endParaRPr lang="en-US" sz="700" dirty="0"/>
          </a:p>
        </p:txBody>
      </p:sp>
      <p:sp>
        <p:nvSpPr>
          <p:cNvPr id="17" name="Shape 15"/>
          <p:cNvSpPr/>
          <p:nvPr/>
        </p:nvSpPr>
        <p:spPr>
          <a:xfrm>
            <a:off x="552212" y="5502473"/>
            <a:ext cx="5278993" cy="524708"/>
          </a:xfrm>
          <a:prstGeom prst="roundRect">
            <a:avLst>
              <a:gd name="adj" fmla="val 7184"/>
            </a:avLst>
          </a:prstGeom>
          <a:solidFill>
            <a:srgbClr val="B3FFE2"/>
          </a:solidFill>
          <a:ln/>
        </p:spPr>
        <p:txBody>
          <a:bodyPr/>
          <a:lstStyle/>
          <a:p>
            <a:endParaRPr lang="fr-CH"/>
          </a:p>
        </p:txBody>
      </p:sp>
      <p:pic>
        <p:nvPicPr>
          <p:cNvPr id="18" name="Image 0" descr="preencoded.png"/>
          <p:cNvPicPr>
            <a:picLocks noChangeAspect="1"/>
          </p:cNvPicPr>
          <p:nvPr/>
        </p:nvPicPr>
        <p:blipFill>
          <a:blip r:embed="rId3"/>
          <a:stretch>
            <a:fillRect/>
          </a:stretch>
        </p:blipFill>
        <p:spPr>
          <a:xfrm>
            <a:off x="641866" y="5635109"/>
            <a:ext cx="112157" cy="89654"/>
          </a:xfrm>
          <a:prstGeom prst="rect">
            <a:avLst/>
          </a:prstGeom>
        </p:spPr>
      </p:pic>
      <p:sp>
        <p:nvSpPr>
          <p:cNvPr id="19" name="Text 16"/>
          <p:cNvSpPr/>
          <p:nvPr/>
        </p:nvSpPr>
        <p:spPr>
          <a:xfrm>
            <a:off x="843677" y="5614511"/>
            <a:ext cx="4897874" cy="287179"/>
          </a:xfrm>
          <a:prstGeom prst="rect">
            <a:avLst/>
          </a:prstGeom>
          <a:noFill/>
          <a:ln/>
        </p:spPr>
        <p:txBody>
          <a:bodyPr wrap="square" lIns="0" tIns="0" rIns="0" bIns="0" rtlCol="0" anchor="t"/>
          <a:lstStyle/>
          <a:p>
            <a:pPr marL="0" indent="0" algn="l">
              <a:lnSpc>
                <a:spcPts val="1100"/>
              </a:lnSpc>
              <a:buNone/>
            </a:pPr>
            <a:r>
              <a:rPr lang="en-US" sz="700" b="1" dirty="0">
                <a:solidFill>
                  <a:srgbClr val="000000"/>
                </a:solidFill>
                <a:latin typeface="Inter" pitchFamily="34" charset="0"/>
                <a:ea typeface="Inter" pitchFamily="34" charset="-122"/>
                <a:cs typeface="Inter" pitchFamily="34" charset="-120"/>
              </a:rPr>
              <a:t>Gap critique identifié :</a:t>
            </a:r>
            <a:r>
              <a:rPr lang="en-US" sz="700" dirty="0">
                <a:solidFill>
                  <a:srgbClr val="000000"/>
                </a:solidFill>
                <a:latin typeface="Inter" pitchFamily="34" charset="0"/>
                <a:ea typeface="Inter" pitchFamily="34" charset="-122"/>
                <a:cs typeface="Inter" pitchFamily="34" charset="-120"/>
              </a:rPr>
              <a:t> Ces 69% de clients qui recherchent online n'arrivent jamais au canal à 10% de conversion (Care Agent humain augmenté). C'est là que réside l'opportunité majeure.</a:t>
            </a:r>
            <a:endParaRPr lang="en-US" sz="700" dirty="0"/>
          </a:p>
        </p:txBody>
      </p:sp>
      <p:sp>
        <p:nvSpPr>
          <p:cNvPr id="20" name="Text 17"/>
          <p:cNvSpPr/>
          <p:nvPr/>
        </p:nvSpPr>
        <p:spPr>
          <a:xfrm>
            <a:off x="6057662" y="1317188"/>
            <a:ext cx="2033468" cy="140137"/>
          </a:xfrm>
          <a:prstGeom prst="rect">
            <a:avLst/>
          </a:prstGeom>
          <a:noFill/>
          <a:ln/>
        </p:spPr>
        <p:txBody>
          <a:bodyPr wrap="none" lIns="0" tIns="0" rIns="0" bIns="0" rtlCol="0" anchor="t"/>
          <a:lstStyle/>
          <a:p>
            <a:pPr marL="0" indent="0" algn="l">
              <a:lnSpc>
                <a:spcPts val="1100"/>
              </a:lnSpc>
              <a:buNone/>
            </a:pPr>
            <a:r>
              <a:rPr lang="en-US" sz="850" b="1" dirty="0">
                <a:solidFill>
                  <a:srgbClr val="000000"/>
                </a:solidFill>
                <a:latin typeface="Inter Bold" pitchFamily="34" charset="0"/>
                <a:ea typeface="Inter Bold" pitchFamily="34" charset="-122"/>
                <a:cs typeface="Inter Bold" pitchFamily="34" charset="-120"/>
              </a:rPr>
              <a:t>Exemples de Divergences Culturelles</a:t>
            </a:r>
            <a:endParaRPr lang="en-US" sz="850" dirty="0"/>
          </a:p>
        </p:txBody>
      </p:sp>
      <p:sp>
        <p:nvSpPr>
          <p:cNvPr id="21" name="Text 18"/>
          <p:cNvSpPr/>
          <p:nvPr/>
        </p:nvSpPr>
        <p:spPr>
          <a:xfrm>
            <a:off x="6057662" y="1546979"/>
            <a:ext cx="8028027" cy="287179"/>
          </a:xfrm>
          <a:prstGeom prst="rect">
            <a:avLst/>
          </a:prstGeom>
          <a:noFill/>
          <a:ln/>
        </p:spPr>
        <p:txBody>
          <a:bodyPr wrap="square" lIns="0" tIns="0" rIns="0" bIns="0" rtlCol="0" anchor="t"/>
          <a:lstStyle/>
          <a:p>
            <a:pPr marL="342900" indent="-342900" algn="l">
              <a:lnSpc>
                <a:spcPts val="1100"/>
              </a:lnSpc>
              <a:buSzPct val="100000"/>
              <a:buChar char="•"/>
            </a:pPr>
            <a:r>
              <a:rPr lang="en-US" sz="700" b="1" dirty="0">
                <a:solidFill>
                  <a:srgbClr val="000000"/>
                </a:solidFill>
                <a:latin typeface="Inter" pitchFamily="34" charset="0"/>
                <a:ea typeface="Inter" pitchFamily="34" charset="-122"/>
                <a:cs typeface="Inter" pitchFamily="34" charset="-120"/>
              </a:rPr>
              <a:t>Client Chinois :</a:t>
            </a:r>
            <a:r>
              <a:rPr lang="en-US" sz="700" dirty="0">
                <a:solidFill>
                  <a:srgbClr val="000000"/>
                </a:solidFill>
                <a:latin typeface="Inter" pitchFamily="34" charset="0"/>
                <a:ea typeface="Inter" pitchFamily="34" charset="-122"/>
                <a:cs typeface="Inter" pitchFamily="34" charset="-120"/>
              </a:rPr>
              <a:t> Valorise prestige social et preuve sociale (Word of Mouth critique), impulsivité élevée (décision en moins de 24h), insatisfaction "Mainland Mismatch" (service local perçu comme inférieur au service international)</a:t>
            </a:r>
            <a:endParaRPr lang="en-US" sz="700" dirty="0"/>
          </a:p>
        </p:txBody>
      </p:sp>
      <p:sp>
        <p:nvSpPr>
          <p:cNvPr id="22" name="Text 19"/>
          <p:cNvSpPr/>
          <p:nvPr/>
        </p:nvSpPr>
        <p:spPr>
          <a:xfrm>
            <a:off x="6057662" y="1865471"/>
            <a:ext cx="8028027" cy="287179"/>
          </a:xfrm>
          <a:prstGeom prst="rect">
            <a:avLst/>
          </a:prstGeom>
          <a:noFill/>
          <a:ln/>
        </p:spPr>
        <p:txBody>
          <a:bodyPr wrap="square" lIns="0" tIns="0" rIns="0" bIns="0" rtlCol="0" anchor="t"/>
          <a:lstStyle/>
          <a:p>
            <a:pPr marL="342900" indent="-342900" algn="l">
              <a:lnSpc>
                <a:spcPts val="1100"/>
              </a:lnSpc>
              <a:buSzPct val="100000"/>
              <a:buChar char="•"/>
            </a:pPr>
            <a:r>
              <a:rPr lang="en-US" sz="700" b="1" dirty="0">
                <a:solidFill>
                  <a:srgbClr val="000000"/>
                </a:solidFill>
                <a:latin typeface="Inter" pitchFamily="34" charset="0"/>
                <a:ea typeface="Inter" pitchFamily="34" charset="-122"/>
                <a:cs typeface="Inter" pitchFamily="34" charset="-120"/>
              </a:rPr>
              <a:t>Client Américain :</a:t>
            </a:r>
            <a:r>
              <a:rPr lang="en-US" sz="700" dirty="0">
                <a:solidFill>
                  <a:srgbClr val="000000"/>
                </a:solidFill>
                <a:latin typeface="Inter" pitchFamily="34" charset="0"/>
                <a:ea typeface="Inter" pitchFamily="34" charset="-122"/>
                <a:cs typeface="Inter" pitchFamily="34" charset="-120"/>
              </a:rPr>
              <a:t> Axé sur performance et innovation technologique, comparaison rapide des spécifications techniques, processus de décision autonome, exigence absolue de transparence et contrôle des données personnelles</a:t>
            </a:r>
            <a:endParaRPr lang="en-US" sz="700" dirty="0"/>
          </a:p>
        </p:txBody>
      </p:sp>
      <p:sp>
        <p:nvSpPr>
          <p:cNvPr id="23" name="Text 20"/>
          <p:cNvSpPr/>
          <p:nvPr/>
        </p:nvSpPr>
        <p:spPr>
          <a:xfrm>
            <a:off x="6057662" y="2183963"/>
            <a:ext cx="8028027" cy="287179"/>
          </a:xfrm>
          <a:prstGeom prst="rect">
            <a:avLst/>
          </a:prstGeom>
          <a:noFill/>
          <a:ln/>
        </p:spPr>
        <p:txBody>
          <a:bodyPr wrap="square" lIns="0" tIns="0" rIns="0" bIns="0" rtlCol="0" anchor="t"/>
          <a:lstStyle/>
          <a:p>
            <a:pPr marL="342900" indent="-342900" algn="l">
              <a:lnSpc>
                <a:spcPts val="1100"/>
              </a:lnSpc>
              <a:buSzPct val="100000"/>
              <a:buChar char="•"/>
            </a:pPr>
            <a:r>
              <a:rPr lang="en-US" sz="700" b="1" dirty="0">
                <a:solidFill>
                  <a:srgbClr val="000000"/>
                </a:solidFill>
                <a:latin typeface="Inter" pitchFamily="34" charset="0"/>
                <a:ea typeface="Inter" pitchFamily="34" charset="-122"/>
                <a:cs typeface="Inter" pitchFamily="34" charset="-120"/>
              </a:rPr>
              <a:t>Client Moyen-Oriental (CCG) :</a:t>
            </a:r>
            <a:r>
              <a:rPr lang="en-US" sz="700" dirty="0">
                <a:solidFill>
                  <a:srgbClr val="000000"/>
                </a:solidFill>
                <a:latin typeface="Inter" pitchFamily="34" charset="0"/>
                <a:ea typeface="Inter" pitchFamily="34" charset="-122"/>
                <a:cs typeface="Inter" pitchFamily="34" charset="-120"/>
              </a:rPr>
              <a:t> Dépense par capita la plus élevée du monde (58,000 USD à Dubaï), importance critique de l'exclusivité, attente forte de reconnaissance du statut VIP dès le premier contact</a:t>
            </a:r>
            <a:endParaRPr lang="en-US" sz="700" dirty="0"/>
          </a:p>
        </p:txBody>
      </p:sp>
      <p:sp>
        <p:nvSpPr>
          <p:cNvPr id="24" name="Text 21"/>
          <p:cNvSpPr/>
          <p:nvPr/>
        </p:nvSpPr>
        <p:spPr>
          <a:xfrm>
            <a:off x="6057662" y="2502456"/>
            <a:ext cx="8028027" cy="287179"/>
          </a:xfrm>
          <a:prstGeom prst="rect">
            <a:avLst/>
          </a:prstGeom>
          <a:noFill/>
          <a:ln/>
        </p:spPr>
        <p:txBody>
          <a:bodyPr wrap="square" lIns="0" tIns="0" rIns="0" bIns="0" rtlCol="0" anchor="t"/>
          <a:lstStyle/>
          <a:p>
            <a:pPr marL="342900" indent="-342900" algn="l">
              <a:lnSpc>
                <a:spcPts val="1100"/>
              </a:lnSpc>
              <a:buSzPct val="100000"/>
              <a:buChar char="•"/>
            </a:pPr>
            <a:r>
              <a:rPr lang="en-US" sz="700" b="1" dirty="0">
                <a:solidFill>
                  <a:srgbClr val="000000"/>
                </a:solidFill>
                <a:latin typeface="Inter" pitchFamily="34" charset="0"/>
                <a:ea typeface="Inter" pitchFamily="34" charset="-122"/>
                <a:cs typeface="Inter" pitchFamily="34" charset="-120"/>
              </a:rPr>
              <a:t>Client Japonais :</a:t>
            </a:r>
            <a:r>
              <a:rPr lang="en-US" sz="700" dirty="0">
                <a:solidFill>
                  <a:srgbClr val="000000"/>
                </a:solidFill>
                <a:latin typeface="Inter" pitchFamily="34" charset="0"/>
                <a:ea typeface="Inter" pitchFamily="34" charset="-122"/>
                <a:cs typeface="Inter" pitchFamily="34" charset="-120"/>
              </a:rPr>
              <a:t> Culture Omotenashi (service anticipatif désintéressé), relations à long terme avec un conseiller de confiance, authenticité et réputation priment systématiquement sur la nouveauté</a:t>
            </a:r>
            <a:endParaRPr lang="en-US" sz="700" dirty="0"/>
          </a:p>
        </p:txBody>
      </p:sp>
      <p:sp>
        <p:nvSpPr>
          <p:cNvPr id="25" name="Shape 22"/>
          <p:cNvSpPr/>
          <p:nvPr/>
        </p:nvSpPr>
        <p:spPr>
          <a:xfrm>
            <a:off x="552212" y="6273694"/>
            <a:ext cx="13525976" cy="18812"/>
          </a:xfrm>
          <a:prstGeom prst="rect">
            <a:avLst/>
          </a:prstGeom>
          <a:solidFill>
            <a:srgbClr val="000000">
              <a:alpha val="50000"/>
            </a:srgbClr>
          </a:solidFill>
          <a:ln/>
        </p:spPr>
        <p:txBody>
          <a:bodyPr/>
          <a:lstStyle/>
          <a:p>
            <a:endParaRPr lang="fr-CH"/>
          </a:p>
        </p:txBody>
      </p:sp>
      <p:sp>
        <p:nvSpPr>
          <p:cNvPr id="26" name="Text 23"/>
          <p:cNvSpPr/>
          <p:nvPr/>
        </p:nvSpPr>
        <p:spPr>
          <a:xfrm>
            <a:off x="552212" y="6426994"/>
            <a:ext cx="2816185" cy="168235"/>
          </a:xfrm>
          <a:prstGeom prst="rect">
            <a:avLst/>
          </a:prstGeom>
          <a:noFill/>
          <a:ln/>
        </p:spPr>
        <p:txBody>
          <a:bodyPr wrap="none" lIns="0" tIns="0" rIns="0" bIns="0" rtlCol="0" anchor="t"/>
          <a:lstStyle/>
          <a:p>
            <a:pPr marL="0" indent="0" algn="l">
              <a:lnSpc>
                <a:spcPts val="1300"/>
              </a:lnSpc>
              <a:buNone/>
            </a:pPr>
            <a:r>
              <a:rPr lang="en-US" sz="1050" b="1" dirty="0">
                <a:solidFill>
                  <a:srgbClr val="000000"/>
                </a:solidFill>
                <a:latin typeface="Inter Bold" pitchFamily="34" charset="0"/>
                <a:ea typeface="Inter Bold" pitchFamily="34" charset="-122"/>
                <a:cs typeface="Inter Bold" pitchFamily="34" charset="-120"/>
              </a:rPr>
              <a:t>Analyse Concurrentielle : Le Terrain Vierge</a:t>
            </a:r>
            <a:endParaRPr lang="en-US" sz="1050" dirty="0"/>
          </a:p>
        </p:txBody>
      </p:sp>
      <p:sp>
        <p:nvSpPr>
          <p:cNvPr id="27" name="Shape 24"/>
          <p:cNvSpPr/>
          <p:nvPr/>
        </p:nvSpPr>
        <p:spPr>
          <a:xfrm>
            <a:off x="552212" y="6729770"/>
            <a:ext cx="4448889" cy="675680"/>
          </a:xfrm>
          <a:prstGeom prst="roundRect">
            <a:avLst>
              <a:gd name="adj" fmla="val 5579"/>
            </a:avLst>
          </a:prstGeom>
          <a:solidFill>
            <a:srgbClr val="008150"/>
          </a:solidFill>
          <a:ln w="7620">
            <a:solidFill>
              <a:srgbClr val="199A69"/>
            </a:solidFill>
            <a:prstDash val="solid"/>
          </a:ln>
        </p:spPr>
        <p:txBody>
          <a:bodyPr/>
          <a:lstStyle/>
          <a:p>
            <a:endParaRPr lang="fr-CH"/>
          </a:p>
        </p:txBody>
      </p:sp>
      <p:sp>
        <p:nvSpPr>
          <p:cNvPr id="28" name="Text 25"/>
          <p:cNvSpPr/>
          <p:nvPr/>
        </p:nvSpPr>
        <p:spPr>
          <a:xfrm>
            <a:off x="649486" y="6827044"/>
            <a:ext cx="1121807" cy="140137"/>
          </a:xfrm>
          <a:prstGeom prst="rect">
            <a:avLst/>
          </a:prstGeom>
          <a:noFill/>
          <a:ln/>
        </p:spPr>
        <p:txBody>
          <a:bodyPr wrap="none" lIns="0" tIns="0" rIns="0" bIns="0" rtlCol="0" anchor="t"/>
          <a:lstStyle/>
          <a:p>
            <a:pPr marL="0" indent="0" algn="l">
              <a:lnSpc>
                <a:spcPts val="1100"/>
              </a:lnSpc>
              <a:buNone/>
            </a:pPr>
            <a:r>
              <a:rPr lang="en-US" sz="850" b="1" dirty="0">
                <a:solidFill>
                  <a:srgbClr val="FFFFFF"/>
                </a:solidFill>
                <a:latin typeface="Inter Bold" pitchFamily="34" charset="0"/>
                <a:ea typeface="Inter Bold" pitchFamily="34" charset="-122"/>
                <a:cs typeface="Inter Bold" pitchFamily="34" charset="-120"/>
              </a:rPr>
              <a:t>Cartier</a:t>
            </a:r>
            <a:endParaRPr lang="en-US" sz="850" dirty="0"/>
          </a:p>
        </p:txBody>
      </p:sp>
      <p:sp>
        <p:nvSpPr>
          <p:cNvPr id="29" name="Text 26"/>
          <p:cNvSpPr/>
          <p:nvPr/>
        </p:nvSpPr>
        <p:spPr>
          <a:xfrm>
            <a:off x="649486" y="7020997"/>
            <a:ext cx="4254341" cy="287179"/>
          </a:xfrm>
          <a:prstGeom prst="rect">
            <a:avLst/>
          </a:prstGeom>
          <a:noFill/>
          <a:ln/>
        </p:spPr>
        <p:txBody>
          <a:bodyPr wrap="square" lIns="0" tIns="0" rIns="0" bIns="0" rtlCol="0" anchor="t"/>
          <a:lstStyle/>
          <a:p>
            <a:pPr marL="0" indent="0" algn="l">
              <a:lnSpc>
                <a:spcPts val="1100"/>
              </a:lnSpc>
              <a:buNone/>
            </a:pPr>
            <a:r>
              <a:rPr lang="en-US" sz="700" dirty="0">
                <a:solidFill>
                  <a:srgbClr val="FFFFFF"/>
                </a:solidFill>
                <a:latin typeface="Inter" pitchFamily="34" charset="0"/>
                <a:ea typeface="Inter" pitchFamily="34" charset="-122"/>
                <a:cs typeface="Inter" pitchFamily="34" charset="-120"/>
              </a:rPr>
              <a:t>Leader en IA avec +35% d'engagement online, </a:t>
            </a:r>
            <a:r>
              <a:rPr lang="en-US" sz="700" b="1" dirty="0">
                <a:solidFill>
                  <a:srgbClr val="FFFFFF"/>
                </a:solidFill>
                <a:latin typeface="Inter" pitchFamily="34" charset="0"/>
                <a:ea typeface="Inter" pitchFamily="34" charset="-122"/>
                <a:cs typeface="Inter" pitchFamily="34" charset="-120"/>
              </a:rPr>
              <a:t>MAIS aucune personnalisation culturelle</a:t>
            </a:r>
            <a:r>
              <a:rPr lang="en-US" sz="700" dirty="0">
                <a:solidFill>
                  <a:srgbClr val="FFFFFF"/>
                </a:solidFill>
                <a:latin typeface="Inter" pitchFamily="34" charset="0"/>
                <a:ea typeface="Inter" pitchFamily="34" charset="-122"/>
                <a:cs typeface="Inter" pitchFamily="34" charset="-120"/>
              </a:rPr>
              <a:t>. Focus exclusif sur le comportemental individuel sans adaptation régionale.</a:t>
            </a:r>
            <a:endParaRPr lang="en-US" sz="700" dirty="0"/>
          </a:p>
        </p:txBody>
      </p:sp>
      <p:sp>
        <p:nvSpPr>
          <p:cNvPr id="30" name="Shape 27"/>
          <p:cNvSpPr/>
          <p:nvPr/>
        </p:nvSpPr>
        <p:spPr>
          <a:xfrm>
            <a:off x="5090755" y="6729770"/>
            <a:ext cx="4448889" cy="675680"/>
          </a:xfrm>
          <a:prstGeom prst="roundRect">
            <a:avLst>
              <a:gd name="adj" fmla="val 5579"/>
            </a:avLst>
          </a:prstGeom>
          <a:solidFill>
            <a:srgbClr val="E3001D"/>
          </a:solidFill>
          <a:ln w="7620">
            <a:solidFill>
              <a:srgbClr val="FC1936"/>
            </a:solidFill>
            <a:prstDash val="solid"/>
          </a:ln>
        </p:spPr>
        <p:txBody>
          <a:bodyPr/>
          <a:lstStyle/>
          <a:p>
            <a:endParaRPr lang="fr-CH"/>
          </a:p>
        </p:txBody>
      </p:sp>
      <p:sp>
        <p:nvSpPr>
          <p:cNvPr id="31" name="Text 28"/>
          <p:cNvSpPr/>
          <p:nvPr/>
        </p:nvSpPr>
        <p:spPr>
          <a:xfrm>
            <a:off x="5188029" y="6827044"/>
            <a:ext cx="1121807" cy="140137"/>
          </a:xfrm>
          <a:prstGeom prst="rect">
            <a:avLst/>
          </a:prstGeom>
          <a:noFill/>
          <a:ln/>
        </p:spPr>
        <p:txBody>
          <a:bodyPr wrap="none" lIns="0" tIns="0" rIns="0" bIns="0" rtlCol="0" anchor="t"/>
          <a:lstStyle/>
          <a:p>
            <a:pPr marL="0" indent="0" algn="l">
              <a:lnSpc>
                <a:spcPts val="1100"/>
              </a:lnSpc>
              <a:buNone/>
            </a:pPr>
            <a:r>
              <a:rPr lang="en-US" sz="850" b="1" dirty="0">
                <a:solidFill>
                  <a:srgbClr val="FFFFFF"/>
                </a:solidFill>
                <a:latin typeface="Inter Bold" pitchFamily="34" charset="0"/>
                <a:ea typeface="Inter Bold" pitchFamily="34" charset="-122"/>
                <a:cs typeface="Inter Bold" pitchFamily="34" charset="-120"/>
              </a:rPr>
              <a:t>Rolex</a:t>
            </a:r>
            <a:endParaRPr lang="en-US" sz="850" dirty="0"/>
          </a:p>
        </p:txBody>
      </p:sp>
      <p:sp>
        <p:nvSpPr>
          <p:cNvPr id="32" name="Text 29"/>
          <p:cNvSpPr/>
          <p:nvPr/>
        </p:nvSpPr>
        <p:spPr>
          <a:xfrm>
            <a:off x="5188029" y="7020997"/>
            <a:ext cx="4254341" cy="287179"/>
          </a:xfrm>
          <a:prstGeom prst="rect">
            <a:avLst/>
          </a:prstGeom>
          <a:noFill/>
          <a:ln/>
        </p:spPr>
        <p:txBody>
          <a:bodyPr wrap="square" lIns="0" tIns="0" rIns="0" bIns="0" rtlCol="0" anchor="t"/>
          <a:lstStyle/>
          <a:p>
            <a:pPr marL="0" indent="0" algn="l">
              <a:lnSpc>
                <a:spcPts val="1100"/>
              </a:lnSpc>
              <a:buNone/>
            </a:pPr>
            <a:r>
              <a:rPr lang="en-US" sz="700" dirty="0">
                <a:solidFill>
                  <a:srgbClr val="FFFFFF"/>
                </a:solidFill>
                <a:latin typeface="Inter" pitchFamily="34" charset="0"/>
                <a:ea typeface="Inter" pitchFamily="34" charset="-122"/>
                <a:cs typeface="Inter" pitchFamily="34" charset="-120"/>
              </a:rPr>
              <a:t>IA purement défensive (anti-contrefaçon et sécurité). </a:t>
            </a:r>
            <a:r>
              <a:rPr lang="en-US" sz="700" b="1" dirty="0">
                <a:solidFill>
                  <a:srgbClr val="FFFFFF"/>
                </a:solidFill>
                <a:latin typeface="Inter" pitchFamily="34" charset="0"/>
                <a:ea typeface="Inter" pitchFamily="34" charset="-122"/>
                <a:cs typeface="Inter" pitchFamily="34" charset="-120"/>
              </a:rPr>
              <a:t>Absence totale d'initiatives client-facing</a:t>
            </a:r>
            <a:r>
              <a:rPr lang="en-US" sz="700" dirty="0">
                <a:solidFill>
                  <a:srgbClr val="FFFFFF"/>
                </a:solidFill>
                <a:latin typeface="Inter" pitchFamily="34" charset="0"/>
                <a:ea typeface="Inter" pitchFamily="34" charset="-122"/>
                <a:cs typeface="Inter" pitchFamily="34" charset="-120"/>
              </a:rPr>
              <a:t>. Approche conservatrice de protection de marque.</a:t>
            </a:r>
            <a:endParaRPr lang="en-US" sz="700" dirty="0"/>
          </a:p>
        </p:txBody>
      </p:sp>
      <p:sp>
        <p:nvSpPr>
          <p:cNvPr id="33" name="Shape 30"/>
          <p:cNvSpPr/>
          <p:nvPr/>
        </p:nvSpPr>
        <p:spPr>
          <a:xfrm>
            <a:off x="9629299" y="6729770"/>
            <a:ext cx="4448889" cy="675680"/>
          </a:xfrm>
          <a:prstGeom prst="roundRect">
            <a:avLst>
              <a:gd name="adj" fmla="val 5579"/>
            </a:avLst>
          </a:prstGeom>
          <a:solidFill>
            <a:srgbClr val="008150"/>
          </a:solidFill>
          <a:ln w="7620">
            <a:solidFill>
              <a:srgbClr val="199A69"/>
            </a:solidFill>
            <a:prstDash val="solid"/>
          </a:ln>
        </p:spPr>
        <p:txBody>
          <a:bodyPr/>
          <a:lstStyle/>
          <a:p>
            <a:endParaRPr lang="fr-CH"/>
          </a:p>
        </p:txBody>
      </p:sp>
      <p:sp>
        <p:nvSpPr>
          <p:cNvPr id="34" name="Text 31"/>
          <p:cNvSpPr/>
          <p:nvPr/>
        </p:nvSpPr>
        <p:spPr>
          <a:xfrm>
            <a:off x="9726573" y="6827044"/>
            <a:ext cx="1121807" cy="140137"/>
          </a:xfrm>
          <a:prstGeom prst="rect">
            <a:avLst/>
          </a:prstGeom>
          <a:noFill/>
          <a:ln/>
        </p:spPr>
        <p:txBody>
          <a:bodyPr wrap="none" lIns="0" tIns="0" rIns="0" bIns="0" rtlCol="0" anchor="t"/>
          <a:lstStyle/>
          <a:p>
            <a:pPr marL="0" indent="0" algn="l">
              <a:lnSpc>
                <a:spcPts val="1100"/>
              </a:lnSpc>
              <a:buNone/>
            </a:pPr>
            <a:r>
              <a:rPr lang="en-US" sz="850" b="1" dirty="0">
                <a:solidFill>
                  <a:srgbClr val="FFFFFF"/>
                </a:solidFill>
                <a:latin typeface="Inter Bold" pitchFamily="34" charset="0"/>
                <a:ea typeface="Inter Bold" pitchFamily="34" charset="-122"/>
                <a:cs typeface="Inter Bold" pitchFamily="34" charset="-120"/>
              </a:rPr>
              <a:t>Omega</a:t>
            </a:r>
            <a:endParaRPr lang="en-US" sz="850" dirty="0"/>
          </a:p>
        </p:txBody>
      </p:sp>
      <p:sp>
        <p:nvSpPr>
          <p:cNvPr id="35" name="Text 32"/>
          <p:cNvSpPr/>
          <p:nvPr/>
        </p:nvSpPr>
        <p:spPr>
          <a:xfrm>
            <a:off x="9726573" y="7020997"/>
            <a:ext cx="4254341" cy="287179"/>
          </a:xfrm>
          <a:prstGeom prst="rect">
            <a:avLst/>
          </a:prstGeom>
          <a:noFill/>
          <a:ln/>
        </p:spPr>
        <p:txBody>
          <a:bodyPr wrap="square" lIns="0" tIns="0" rIns="0" bIns="0" rtlCol="0" anchor="t"/>
          <a:lstStyle/>
          <a:p>
            <a:pPr marL="0" indent="0" algn="l">
              <a:lnSpc>
                <a:spcPts val="1100"/>
              </a:lnSpc>
              <a:buNone/>
            </a:pPr>
            <a:r>
              <a:rPr lang="en-US" sz="700" dirty="0">
                <a:solidFill>
                  <a:srgbClr val="FFFFFF"/>
                </a:solidFill>
                <a:latin typeface="Inter" pitchFamily="34" charset="0"/>
                <a:ea typeface="Inter" pitchFamily="34" charset="-122"/>
                <a:cs typeface="Inter" pitchFamily="34" charset="-120"/>
              </a:rPr>
              <a:t>Focus produit et chronométrage technique. </a:t>
            </a:r>
            <a:r>
              <a:rPr lang="en-US" sz="700" b="1" dirty="0">
                <a:solidFill>
                  <a:srgbClr val="FFFFFF"/>
                </a:solidFill>
                <a:latin typeface="Inter" pitchFamily="34" charset="0"/>
                <a:ea typeface="Inter" pitchFamily="34" charset="-122"/>
                <a:cs typeface="Inter" pitchFamily="34" charset="-120"/>
              </a:rPr>
              <a:t>Pas de stratégie clienteling digitale</a:t>
            </a:r>
            <a:r>
              <a:rPr lang="en-US" sz="700" dirty="0">
                <a:solidFill>
                  <a:srgbClr val="FFFFFF"/>
                </a:solidFill>
                <a:latin typeface="Inter" pitchFamily="34" charset="0"/>
                <a:ea typeface="Inter" pitchFamily="34" charset="-122"/>
                <a:cs typeface="Inter" pitchFamily="34" charset="-120"/>
              </a:rPr>
              <a:t>. Innovation concentrée sur l'horlogerie, pas sur l'expérience.</a:t>
            </a:r>
            <a:endParaRPr lang="en-US" sz="700" dirty="0"/>
          </a:p>
        </p:txBody>
      </p:sp>
      <p:sp>
        <p:nvSpPr>
          <p:cNvPr id="36" name="Text 33"/>
          <p:cNvSpPr/>
          <p:nvPr/>
        </p:nvSpPr>
        <p:spPr>
          <a:xfrm>
            <a:off x="686753" y="7607141"/>
            <a:ext cx="13391436" cy="143589"/>
          </a:xfrm>
          <a:prstGeom prst="rect">
            <a:avLst/>
          </a:prstGeom>
          <a:noFill/>
          <a:ln/>
        </p:spPr>
        <p:txBody>
          <a:bodyPr wrap="none" lIns="0" tIns="0" rIns="0" bIns="0" rtlCol="0" anchor="t"/>
          <a:lstStyle/>
          <a:p>
            <a:pPr marL="0" indent="0" algn="l">
              <a:lnSpc>
                <a:spcPts val="1100"/>
              </a:lnSpc>
              <a:buNone/>
            </a:pPr>
            <a:r>
              <a:rPr lang="en-US" sz="700" b="1" dirty="0">
                <a:solidFill>
                  <a:srgbClr val="008150"/>
                </a:solidFill>
                <a:latin typeface="Inter" pitchFamily="34" charset="0"/>
                <a:ea typeface="Inter" pitchFamily="34" charset="-122"/>
                <a:cs typeface="Inter" pitchFamily="34" charset="-120"/>
              </a:rPr>
              <a:t>L'Opportunité Stratégique :</a:t>
            </a:r>
            <a:r>
              <a:rPr lang="en-US" sz="700" dirty="0">
                <a:solidFill>
                  <a:srgbClr val="000000"/>
                </a:solidFill>
                <a:latin typeface="Inter" pitchFamily="34" charset="0"/>
                <a:ea typeface="Inter" pitchFamily="34" charset="-122"/>
                <a:cs typeface="Inter" pitchFamily="34" charset="-120"/>
              </a:rPr>
              <a:t> AUCUN acteur horloger n'exploite l'intelligence culturelle à grande échelle industrielle. TAG Heuer possède la légitimité technologique (Connected Watch) et l'écosystème LVMH pour devenir le pionnier absolu de cette révolution expérientielle.</a:t>
            </a:r>
            <a:endParaRPr lang="en-US" sz="700" dirty="0"/>
          </a:p>
        </p:txBody>
      </p:sp>
      <p:sp>
        <p:nvSpPr>
          <p:cNvPr id="37" name="Shape 34"/>
          <p:cNvSpPr/>
          <p:nvPr/>
        </p:nvSpPr>
        <p:spPr>
          <a:xfrm>
            <a:off x="552212" y="7506295"/>
            <a:ext cx="7620" cy="345281"/>
          </a:xfrm>
          <a:prstGeom prst="rect">
            <a:avLst/>
          </a:prstGeom>
          <a:solidFill>
            <a:srgbClr val="008150"/>
          </a:solidFill>
          <a:ln/>
        </p:spPr>
        <p:txBody>
          <a:bodyPr/>
          <a:lstStyle/>
          <a:p>
            <a:endParaRPr lang="fr-CH"/>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582216"/>
            <a:ext cx="8791575" cy="434102"/>
          </a:xfrm>
          <a:prstGeom prst="rect">
            <a:avLst/>
          </a:prstGeom>
          <a:noFill/>
          <a:ln/>
        </p:spPr>
        <p:txBody>
          <a:bodyPr wrap="none" lIns="0" tIns="0" rIns="0" bIns="0" rtlCol="0" anchor="t"/>
          <a:lstStyle/>
          <a:p>
            <a:pPr marL="0" indent="0" algn="l">
              <a:lnSpc>
                <a:spcPts val="3400"/>
              </a:lnSpc>
              <a:buNone/>
            </a:pPr>
            <a:r>
              <a:rPr lang="en-US" sz="2700" b="1" dirty="0">
                <a:solidFill>
                  <a:srgbClr val="000000"/>
                </a:solidFill>
                <a:latin typeface="Inter Bold" pitchFamily="34" charset="0"/>
                <a:ea typeface="Inter Bold" pitchFamily="34" charset="-122"/>
                <a:cs typeface="Inter Bold" pitchFamily="34" charset="-120"/>
              </a:rPr>
              <a:t>L'Opportunité TAG Heuer : Avantages Asymétriques</a:t>
            </a:r>
            <a:endParaRPr lang="en-US" sz="2700" dirty="0"/>
          </a:p>
        </p:txBody>
      </p:sp>
      <p:sp>
        <p:nvSpPr>
          <p:cNvPr id="3" name="Text 1"/>
          <p:cNvSpPr/>
          <p:nvPr/>
        </p:nvSpPr>
        <p:spPr>
          <a:xfrm>
            <a:off x="793790" y="1294090"/>
            <a:ext cx="13042821" cy="44457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Inter" pitchFamily="34" charset="0"/>
                <a:ea typeface="Inter" pitchFamily="34" charset="-122"/>
                <a:cs typeface="Inter" pitchFamily="34" charset="-120"/>
              </a:rPr>
              <a:t>TAG Heuer possède une combinaison rare et puissante d'atouts stratégiques que ses concurrents directs ne peuvent pas répliquer simultanément. Cette convergence unique crée une fenêtre d'opportunité temporaire pour établir un leadership durable en intelligence culturelle appliquée au luxe horloger.</a:t>
            </a:r>
            <a:endParaRPr lang="en-US" sz="1050" dirty="0"/>
          </a:p>
        </p:txBody>
      </p:sp>
      <p:sp>
        <p:nvSpPr>
          <p:cNvPr id="4" name="Shape 2"/>
          <p:cNvSpPr/>
          <p:nvPr/>
        </p:nvSpPr>
        <p:spPr>
          <a:xfrm>
            <a:off x="793790" y="2103239"/>
            <a:ext cx="4255056" cy="4441746"/>
          </a:xfrm>
          <a:prstGeom prst="roundRect">
            <a:avLst>
              <a:gd name="adj" fmla="val 1719"/>
            </a:avLst>
          </a:prstGeom>
          <a:solidFill>
            <a:srgbClr val="F5F5F5"/>
          </a:solidFill>
          <a:ln/>
        </p:spPr>
        <p:txBody>
          <a:bodyPr/>
          <a:lstStyle/>
          <a:p>
            <a:endParaRPr lang="fr-CH"/>
          </a:p>
        </p:txBody>
      </p:sp>
      <p:sp>
        <p:nvSpPr>
          <p:cNvPr id="5" name="Shape 3"/>
          <p:cNvSpPr/>
          <p:nvPr/>
        </p:nvSpPr>
        <p:spPr>
          <a:xfrm>
            <a:off x="793790" y="2087999"/>
            <a:ext cx="4255056" cy="60960"/>
          </a:xfrm>
          <a:prstGeom prst="roundRect">
            <a:avLst>
              <a:gd name="adj" fmla="val 95721"/>
            </a:avLst>
          </a:prstGeom>
          <a:solidFill>
            <a:srgbClr val="008150"/>
          </a:solidFill>
          <a:ln/>
        </p:spPr>
        <p:txBody>
          <a:bodyPr/>
          <a:lstStyle/>
          <a:p>
            <a:endParaRPr lang="fr-CH"/>
          </a:p>
        </p:txBody>
      </p:sp>
      <p:sp>
        <p:nvSpPr>
          <p:cNvPr id="6" name="Shape 4"/>
          <p:cNvSpPr/>
          <p:nvPr/>
        </p:nvSpPr>
        <p:spPr>
          <a:xfrm>
            <a:off x="2712958" y="1894880"/>
            <a:ext cx="416719" cy="416719"/>
          </a:xfrm>
          <a:prstGeom prst="roundRect">
            <a:avLst>
              <a:gd name="adj" fmla="val 219428"/>
            </a:avLst>
          </a:prstGeom>
          <a:solidFill>
            <a:srgbClr val="008150"/>
          </a:solidFill>
          <a:ln/>
        </p:spPr>
        <p:txBody>
          <a:bodyPr/>
          <a:lstStyle/>
          <a:p>
            <a:endParaRPr lang="fr-CH"/>
          </a:p>
        </p:txBody>
      </p:sp>
      <p:sp>
        <p:nvSpPr>
          <p:cNvPr id="7" name="Text 5"/>
          <p:cNvSpPr/>
          <p:nvPr/>
        </p:nvSpPr>
        <p:spPr>
          <a:xfrm>
            <a:off x="2837974" y="1999059"/>
            <a:ext cx="166688" cy="208359"/>
          </a:xfrm>
          <a:prstGeom prst="rect">
            <a:avLst/>
          </a:prstGeom>
          <a:noFill/>
          <a:ln/>
        </p:spPr>
        <p:txBody>
          <a:bodyPr wrap="none" lIns="0" tIns="0" rIns="0" bIns="0" rtlCol="0" anchor="t"/>
          <a:lstStyle/>
          <a:p>
            <a:pPr marL="0" indent="0" algn="l">
              <a:lnSpc>
                <a:spcPts val="2100"/>
              </a:lnSpc>
              <a:buNone/>
            </a:pPr>
            <a:r>
              <a:rPr lang="en-US" sz="1300" b="1" dirty="0">
                <a:solidFill>
                  <a:srgbClr val="FFFFFF"/>
                </a:solidFill>
                <a:latin typeface="Inter Bold" pitchFamily="34" charset="0"/>
                <a:ea typeface="Inter Bold" pitchFamily="34" charset="-122"/>
                <a:cs typeface="Inter Bold" pitchFamily="34" charset="-120"/>
              </a:rPr>
              <a:t>1</a:t>
            </a:r>
            <a:endParaRPr lang="en-US" sz="1300" dirty="0"/>
          </a:p>
        </p:txBody>
      </p:sp>
      <p:sp>
        <p:nvSpPr>
          <p:cNvPr id="8" name="Text 6"/>
          <p:cNvSpPr/>
          <p:nvPr/>
        </p:nvSpPr>
        <p:spPr>
          <a:xfrm>
            <a:off x="947857" y="2450544"/>
            <a:ext cx="2786658"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Légitimité Technologique Unique</a:t>
            </a:r>
            <a:endParaRPr lang="en-US" sz="1350" dirty="0"/>
          </a:p>
        </p:txBody>
      </p:sp>
      <p:sp>
        <p:nvSpPr>
          <p:cNvPr id="9" name="Text 7"/>
          <p:cNvSpPr/>
          <p:nvPr/>
        </p:nvSpPr>
        <p:spPr>
          <a:xfrm>
            <a:off x="947857" y="2750939"/>
            <a:ext cx="3946922" cy="2222897"/>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Inter" pitchFamily="34" charset="0"/>
                <a:ea typeface="Inter" pitchFamily="34" charset="-122"/>
                <a:cs typeface="Inter" pitchFamily="34" charset="-120"/>
              </a:rPr>
              <a:t>La </a:t>
            </a:r>
            <a:r>
              <a:rPr lang="en-US" sz="1050" b="1" dirty="0">
                <a:solidFill>
                  <a:srgbClr val="000000"/>
                </a:solidFill>
                <a:latin typeface="Inter" pitchFamily="34" charset="0"/>
                <a:ea typeface="Inter" pitchFamily="34" charset="-122"/>
                <a:cs typeface="Inter" pitchFamily="34" charset="-120"/>
              </a:rPr>
              <a:t>TAG Heuer Connected Watch</a:t>
            </a:r>
            <a:r>
              <a:rPr lang="en-US" sz="1050" dirty="0">
                <a:solidFill>
                  <a:srgbClr val="000000"/>
                </a:solidFill>
                <a:latin typeface="Inter" pitchFamily="34" charset="0"/>
                <a:ea typeface="Inter" pitchFamily="34" charset="-122"/>
                <a:cs typeface="Inter" pitchFamily="34" charset="-120"/>
              </a:rPr>
              <a:t> représente une passerelle stratégique vers des données consenties de la génération Young Striver (26 ans). L'application TAG Heuer Sports utilise déjà des algorithmes d'IA pour l'analyse de performance. TAG Heuer est la </a:t>
            </a:r>
            <a:r>
              <a:rPr lang="en-US" sz="1050" dirty="0">
                <a:solidFill>
                  <a:srgbClr val="FFFFFF"/>
                </a:solidFill>
                <a:highlight>
                  <a:srgbClr val="008150"/>
                </a:highlight>
                <a:latin typeface="Inter" pitchFamily="34" charset="0"/>
                <a:ea typeface="Inter" pitchFamily="34" charset="-122"/>
                <a:cs typeface="Inter" pitchFamily="34" charset="-120"/>
              </a:rPr>
              <a:t>seule maison d'horlogerie de luxe</a:t>
            </a:r>
            <a:r>
              <a:rPr lang="en-US" sz="1050" dirty="0">
                <a:solidFill>
                  <a:srgbClr val="000000"/>
                </a:solidFill>
                <a:latin typeface="Inter" pitchFamily="34" charset="0"/>
                <a:ea typeface="Inter" pitchFamily="34" charset="-122"/>
                <a:cs typeface="Inter" pitchFamily="34" charset="-120"/>
              </a:rPr>
              <a:t> possédant une montre connectée véritablement crédible sur le marché (Rolex et Patek Philippe n'ont délibérément PAS cet atout). La marque bénéficie d'une perception "Avant-Garde technologique" ancrée historiquement depuis des décennies.</a:t>
            </a:r>
            <a:endParaRPr lang="en-US" sz="1050" dirty="0"/>
          </a:p>
        </p:txBody>
      </p:sp>
      <p:sp>
        <p:nvSpPr>
          <p:cNvPr id="10" name="Text 8"/>
          <p:cNvSpPr/>
          <p:nvPr/>
        </p:nvSpPr>
        <p:spPr>
          <a:xfrm>
            <a:off x="947857" y="5057180"/>
            <a:ext cx="3946922" cy="1333738"/>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Business case pressant :</a:t>
            </a:r>
            <a:r>
              <a:rPr lang="en-US" sz="1050" dirty="0">
                <a:solidFill>
                  <a:srgbClr val="000000"/>
                </a:solidFill>
                <a:latin typeface="Inter" pitchFamily="34" charset="0"/>
                <a:ea typeface="Inter" pitchFamily="34" charset="-122"/>
                <a:cs typeface="Inter" pitchFamily="34" charset="-120"/>
              </a:rPr>
              <a:t> Transformer l'avantage "Connecté" en une expérience omnicanale seamless qui comble le fossé dramatique entre la conversion physique (7%) et la conversion digitale (0.7%). L'enjeu n'est pas marginal : il représente un multiplicateur de conversion par 10.</a:t>
            </a:r>
            <a:endParaRPr lang="en-US" sz="1050" dirty="0"/>
          </a:p>
        </p:txBody>
      </p:sp>
      <p:sp>
        <p:nvSpPr>
          <p:cNvPr id="11" name="Shape 9"/>
          <p:cNvSpPr/>
          <p:nvPr/>
        </p:nvSpPr>
        <p:spPr>
          <a:xfrm>
            <a:off x="5187672" y="2103239"/>
            <a:ext cx="4255056" cy="4441746"/>
          </a:xfrm>
          <a:prstGeom prst="roundRect">
            <a:avLst>
              <a:gd name="adj" fmla="val 1719"/>
            </a:avLst>
          </a:prstGeom>
          <a:solidFill>
            <a:srgbClr val="F5F5F5"/>
          </a:solidFill>
          <a:ln/>
        </p:spPr>
        <p:txBody>
          <a:bodyPr/>
          <a:lstStyle/>
          <a:p>
            <a:endParaRPr lang="fr-CH"/>
          </a:p>
        </p:txBody>
      </p:sp>
      <p:sp>
        <p:nvSpPr>
          <p:cNvPr id="12" name="Shape 10"/>
          <p:cNvSpPr/>
          <p:nvPr/>
        </p:nvSpPr>
        <p:spPr>
          <a:xfrm>
            <a:off x="5187672" y="2087999"/>
            <a:ext cx="4255056" cy="60960"/>
          </a:xfrm>
          <a:prstGeom prst="roundRect">
            <a:avLst>
              <a:gd name="adj" fmla="val 95721"/>
            </a:avLst>
          </a:prstGeom>
          <a:solidFill>
            <a:srgbClr val="E3001D"/>
          </a:solidFill>
          <a:ln/>
        </p:spPr>
        <p:txBody>
          <a:bodyPr/>
          <a:lstStyle/>
          <a:p>
            <a:endParaRPr lang="fr-CH"/>
          </a:p>
        </p:txBody>
      </p:sp>
      <p:sp>
        <p:nvSpPr>
          <p:cNvPr id="13" name="Shape 11"/>
          <p:cNvSpPr/>
          <p:nvPr/>
        </p:nvSpPr>
        <p:spPr>
          <a:xfrm>
            <a:off x="7106841" y="1894880"/>
            <a:ext cx="416719" cy="416719"/>
          </a:xfrm>
          <a:prstGeom prst="roundRect">
            <a:avLst>
              <a:gd name="adj" fmla="val 219428"/>
            </a:avLst>
          </a:prstGeom>
          <a:solidFill>
            <a:srgbClr val="E3001D"/>
          </a:solidFill>
          <a:ln/>
        </p:spPr>
        <p:txBody>
          <a:bodyPr/>
          <a:lstStyle/>
          <a:p>
            <a:endParaRPr lang="fr-CH"/>
          </a:p>
        </p:txBody>
      </p:sp>
      <p:sp>
        <p:nvSpPr>
          <p:cNvPr id="14" name="Text 12"/>
          <p:cNvSpPr/>
          <p:nvPr/>
        </p:nvSpPr>
        <p:spPr>
          <a:xfrm>
            <a:off x="7231856" y="1999059"/>
            <a:ext cx="166688" cy="208359"/>
          </a:xfrm>
          <a:prstGeom prst="rect">
            <a:avLst/>
          </a:prstGeom>
          <a:noFill/>
          <a:ln/>
        </p:spPr>
        <p:txBody>
          <a:bodyPr wrap="none" lIns="0" tIns="0" rIns="0" bIns="0" rtlCol="0" anchor="t"/>
          <a:lstStyle/>
          <a:p>
            <a:pPr marL="0" indent="0" algn="l">
              <a:lnSpc>
                <a:spcPts val="2100"/>
              </a:lnSpc>
              <a:buNone/>
            </a:pPr>
            <a:r>
              <a:rPr lang="en-US" sz="1300" b="1" dirty="0">
                <a:solidFill>
                  <a:srgbClr val="FFFFFF"/>
                </a:solidFill>
                <a:latin typeface="Inter Bold" pitchFamily="34" charset="0"/>
                <a:ea typeface="Inter Bold" pitchFamily="34" charset="-122"/>
                <a:cs typeface="Inter Bold" pitchFamily="34" charset="-120"/>
              </a:rPr>
              <a:t>2</a:t>
            </a:r>
            <a:endParaRPr lang="en-US" sz="1300" dirty="0"/>
          </a:p>
        </p:txBody>
      </p:sp>
      <p:sp>
        <p:nvSpPr>
          <p:cNvPr id="15" name="Text 13"/>
          <p:cNvSpPr/>
          <p:nvPr/>
        </p:nvSpPr>
        <p:spPr>
          <a:xfrm>
            <a:off x="5341739" y="2450544"/>
            <a:ext cx="2232184"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Écosystème LVMH Mature</a:t>
            </a:r>
            <a:endParaRPr lang="en-US" sz="1350" dirty="0"/>
          </a:p>
        </p:txBody>
      </p:sp>
      <p:sp>
        <p:nvSpPr>
          <p:cNvPr id="16" name="Text 14"/>
          <p:cNvSpPr/>
          <p:nvPr/>
        </p:nvSpPr>
        <p:spPr>
          <a:xfrm>
            <a:off x="5341739" y="2750939"/>
            <a:ext cx="3946922" cy="1778318"/>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Inter" pitchFamily="34" charset="0"/>
                <a:ea typeface="Inter" pitchFamily="34" charset="-122"/>
                <a:cs typeface="Inter" pitchFamily="34" charset="-120"/>
              </a:rPr>
              <a:t>Philosophie </a:t>
            </a:r>
            <a:r>
              <a:rPr lang="en-US" sz="1050" b="1" dirty="0">
                <a:solidFill>
                  <a:srgbClr val="000000"/>
                </a:solidFill>
                <a:latin typeface="Inter" pitchFamily="34" charset="0"/>
                <a:ea typeface="Inter" pitchFamily="34" charset="-122"/>
                <a:cs typeface="Inter" pitchFamily="34" charset="-120"/>
              </a:rPr>
              <a:t>"Quiet Tech"</a:t>
            </a:r>
            <a:r>
              <a:rPr lang="en-US" sz="1050" dirty="0">
                <a:solidFill>
                  <a:srgbClr val="000000"/>
                </a:solidFill>
                <a:latin typeface="Inter" pitchFamily="34" charset="0"/>
                <a:ea typeface="Inter" pitchFamily="34" charset="-122"/>
                <a:cs typeface="Inter" pitchFamily="34" charset="-120"/>
              </a:rPr>
              <a:t> éprouvée : l'IA reste invisible pour le client final, mais devient indispensable pour l'employé. L'agent IA interne </a:t>
            </a:r>
            <a:r>
              <a:rPr lang="en-US" sz="1050" b="1" dirty="0">
                <a:solidFill>
                  <a:srgbClr val="000000"/>
                </a:solidFill>
                <a:latin typeface="Inter" pitchFamily="34" charset="0"/>
                <a:ea typeface="Inter" pitchFamily="34" charset="-122"/>
                <a:cs typeface="Inter" pitchFamily="34" charset="-120"/>
              </a:rPr>
              <a:t>"MaIA"</a:t>
            </a:r>
            <a:r>
              <a:rPr lang="en-US" sz="1050" dirty="0">
                <a:solidFill>
                  <a:srgbClr val="000000"/>
                </a:solidFill>
                <a:latin typeface="Inter" pitchFamily="34" charset="0"/>
                <a:ea typeface="Inter" pitchFamily="34" charset="-122"/>
                <a:cs typeface="Inter" pitchFamily="34" charset="-120"/>
              </a:rPr>
              <a:t> est déjà utilisé quotidiennement par 40,000 employés LVMH (l'acculturation organisationnelle à l'IA est donc déjà réalisée). Infrastructure cloud mutualisée et optimisée : Google Cloud Platform, Alibaba Cloud, et plateforme Dataiku déjà déployées et opérationnelles à l'échelle du groupe.</a:t>
            </a:r>
            <a:endParaRPr lang="en-US" sz="1050" dirty="0"/>
          </a:p>
        </p:txBody>
      </p:sp>
      <p:sp>
        <p:nvSpPr>
          <p:cNvPr id="17" name="Text 15"/>
          <p:cNvSpPr/>
          <p:nvPr/>
        </p:nvSpPr>
        <p:spPr>
          <a:xfrm>
            <a:off x="5341739" y="4612600"/>
            <a:ext cx="3946922" cy="1111448"/>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Pilote stratégique Dior/Kahoona 2025 :</a:t>
            </a:r>
            <a:r>
              <a:rPr lang="en-US" sz="1050" dirty="0">
                <a:solidFill>
                  <a:srgbClr val="000000"/>
                </a:solidFill>
                <a:latin typeface="Inter" pitchFamily="34" charset="0"/>
                <a:ea typeface="Inter" pitchFamily="34" charset="-122"/>
                <a:cs typeface="Inter" pitchFamily="34" charset="-120"/>
              </a:rPr>
              <a:t> Segmentation prédictive en temps réel de visiteurs inconnus pour routage intelligent vers les Care Agents les plus appropriés. Ce pilote validera la faisabilité technique et l'acceptabilité organisationnelle.</a:t>
            </a:r>
            <a:endParaRPr lang="en-US" sz="1050" dirty="0"/>
          </a:p>
        </p:txBody>
      </p:sp>
      <p:sp>
        <p:nvSpPr>
          <p:cNvPr id="18" name="Shape 16"/>
          <p:cNvSpPr/>
          <p:nvPr/>
        </p:nvSpPr>
        <p:spPr>
          <a:xfrm>
            <a:off x="9581555" y="2103239"/>
            <a:ext cx="4255056" cy="4441746"/>
          </a:xfrm>
          <a:prstGeom prst="roundRect">
            <a:avLst>
              <a:gd name="adj" fmla="val 1719"/>
            </a:avLst>
          </a:prstGeom>
          <a:solidFill>
            <a:srgbClr val="F5F5F5"/>
          </a:solidFill>
          <a:ln/>
        </p:spPr>
        <p:txBody>
          <a:bodyPr/>
          <a:lstStyle/>
          <a:p>
            <a:endParaRPr lang="fr-CH"/>
          </a:p>
        </p:txBody>
      </p:sp>
      <p:sp>
        <p:nvSpPr>
          <p:cNvPr id="19" name="Shape 17"/>
          <p:cNvSpPr/>
          <p:nvPr/>
        </p:nvSpPr>
        <p:spPr>
          <a:xfrm>
            <a:off x="9581555" y="2087999"/>
            <a:ext cx="4255056" cy="60960"/>
          </a:xfrm>
          <a:prstGeom prst="roundRect">
            <a:avLst>
              <a:gd name="adj" fmla="val 95721"/>
            </a:avLst>
          </a:prstGeom>
          <a:solidFill>
            <a:srgbClr val="008150"/>
          </a:solidFill>
          <a:ln/>
        </p:spPr>
        <p:txBody>
          <a:bodyPr/>
          <a:lstStyle/>
          <a:p>
            <a:endParaRPr lang="fr-CH"/>
          </a:p>
        </p:txBody>
      </p:sp>
      <p:sp>
        <p:nvSpPr>
          <p:cNvPr id="20" name="Shape 18"/>
          <p:cNvSpPr/>
          <p:nvPr/>
        </p:nvSpPr>
        <p:spPr>
          <a:xfrm>
            <a:off x="11500723" y="1894880"/>
            <a:ext cx="416719" cy="416719"/>
          </a:xfrm>
          <a:prstGeom prst="roundRect">
            <a:avLst>
              <a:gd name="adj" fmla="val 219428"/>
            </a:avLst>
          </a:prstGeom>
          <a:solidFill>
            <a:srgbClr val="008150"/>
          </a:solidFill>
          <a:ln/>
        </p:spPr>
        <p:txBody>
          <a:bodyPr/>
          <a:lstStyle/>
          <a:p>
            <a:endParaRPr lang="fr-CH"/>
          </a:p>
        </p:txBody>
      </p:sp>
      <p:sp>
        <p:nvSpPr>
          <p:cNvPr id="21" name="Text 19"/>
          <p:cNvSpPr/>
          <p:nvPr/>
        </p:nvSpPr>
        <p:spPr>
          <a:xfrm>
            <a:off x="11625739" y="1999059"/>
            <a:ext cx="166688" cy="208359"/>
          </a:xfrm>
          <a:prstGeom prst="rect">
            <a:avLst/>
          </a:prstGeom>
          <a:noFill/>
          <a:ln/>
        </p:spPr>
        <p:txBody>
          <a:bodyPr wrap="none" lIns="0" tIns="0" rIns="0" bIns="0" rtlCol="0" anchor="t"/>
          <a:lstStyle/>
          <a:p>
            <a:pPr marL="0" indent="0" algn="l">
              <a:lnSpc>
                <a:spcPts val="2100"/>
              </a:lnSpc>
              <a:buNone/>
            </a:pPr>
            <a:r>
              <a:rPr lang="en-US" sz="1300" b="1" dirty="0">
                <a:solidFill>
                  <a:srgbClr val="FFFFFF"/>
                </a:solidFill>
                <a:latin typeface="Inter Bold" pitchFamily="34" charset="0"/>
                <a:ea typeface="Inter Bold" pitchFamily="34" charset="-122"/>
                <a:cs typeface="Inter Bold" pitchFamily="34" charset="-120"/>
              </a:rPr>
              <a:t>3</a:t>
            </a:r>
            <a:endParaRPr lang="en-US" sz="1300" dirty="0"/>
          </a:p>
        </p:txBody>
      </p:sp>
      <p:sp>
        <p:nvSpPr>
          <p:cNvPr id="22" name="Text 20"/>
          <p:cNvSpPr/>
          <p:nvPr/>
        </p:nvSpPr>
        <p:spPr>
          <a:xfrm>
            <a:off x="9735622" y="2450544"/>
            <a:ext cx="2947868"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Gaps Concurrentiels Non Exploités</a:t>
            </a:r>
            <a:endParaRPr lang="en-US" sz="1350" dirty="0"/>
          </a:p>
        </p:txBody>
      </p:sp>
      <p:sp>
        <p:nvSpPr>
          <p:cNvPr id="23" name="Text 21"/>
          <p:cNvSpPr/>
          <p:nvPr/>
        </p:nvSpPr>
        <p:spPr>
          <a:xfrm>
            <a:off x="9735622" y="2750939"/>
            <a:ext cx="3946922" cy="2000607"/>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Intelligence culturelle :</a:t>
            </a:r>
            <a:r>
              <a:rPr lang="en-US" sz="1050" dirty="0">
                <a:solidFill>
                  <a:srgbClr val="000000"/>
                </a:solidFill>
                <a:latin typeface="Inter" pitchFamily="34" charset="0"/>
                <a:ea typeface="Inter" pitchFamily="34" charset="-122"/>
                <a:cs typeface="Inter" pitchFamily="34" charset="-120"/>
              </a:rPr>
              <a:t> Aucun concurrent ne l'exploite actuellement. Cartier excelle en personnalisation comportementale (+40% d'achats répétés documentés) mais sans dimension culturelle régionale. </a:t>
            </a:r>
            <a:r>
              <a:rPr lang="en-US" sz="1050" b="1" dirty="0">
                <a:solidFill>
                  <a:srgbClr val="000000"/>
                </a:solidFill>
                <a:latin typeface="Inter" pitchFamily="34" charset="0"/>
                <a:ea typeface="Inter" pitchFamily="34" charset="-122"/>
                <a:cs typeface="Inter" pitchFamily="34" charset="-120"/>
              </a:rPr>
              <a:t>Orchestration omnicanale :</a:t>
            </a:r>
            <a:r>
              <a:rPr lang="en-US" sz="1050" dirty="0">
                <a:solidFill>
                  <a:srgbClr val="000000"/>
                </a:solidFill>
                <a:latin typeface="Inter" pitchFamily="34" charset="0"/>
                <a:ea typeface="Inter" pitchFamily="34" charset="-122"/>
                <a:cs typeface="Inter" pitchFamily="34" charset="-120"/>
              </a:rPr>
              <a:t> Le véritable problème n'est pas d'optimiser marginalement 0.7% vers 0.8%, mais de qualifier intelligemment les 69% de trafic online anonyme et de router les profils à haute valeur ajoutée vers les Care Agents (canal à 10% de conversion).</a:t>
            </a:r>
            <a:endParaRPr lang="en-US" sz="1050" dirty="0"/>
          </a:p>
        </p:txBody>
      </p:sp>
      <p:sp>
        <p:nvSpPr>
          <p:cNvPr id="24" name="Text 22"/>
          <p:cNvSpPr/>
          <p:nvPr/>
        </p:nvSpPr>
        <p:spPr>
          <a:xfrm>
            <a:off x="9735622" y="4834890"/>
            <a:ext cx="3946922" cy="1111448"/>
          </a:xfrm>
          <a:prstGeom prst="rect">
            <a:avLst/>
          </a:prstGeom>
          <a:noFill/>
          <a:ln/>
        </p:spPr>
        <p:txBody>
          <a:bodyPr wrap="square" lIns="0" tIns="0" rIns="0" bIns="0" rtlCol="0" anchor="t"/>
          <a:lstStyle/>
          <a:p>
            <a:pPr marL="0" indent="0" algn="l">
              <a:lnSpc>
                <a:spcPts val="1750"/>
              </a:lnSpc>
              <a:buNone/>
            </a:pPr>
            <a:r>
              <a:rPr lang="en-US" sz="1050" b="1" dirty="0">
                <a:solidFill>
                  <a:srgbClr val="E3001D"/>
                </a:solidFill>
                <a:latin typeface="Inter" pitchFamily="34" charset="0"/>
                <a:ea typeface="Inter" pitchFamily="34" charset="-122"/>
                <a:cs typeface="Inter" pitchFamily="34" charset="-120"/>
              </a:rPr>
              <a:t>Solution IA transformative :</a:t>
            </a:r>
            <a:r>
              <a:rPr lang="en-US" sz="1050" dirty="0">
                <a:solidFill>
                  <a:srgbClr val="000000"/>
                </a:solidFill>
                <a:latin typeface="Inter" pitchFamily="34" charset="0"/>
                <a:ea typeface="Inter" pitchFamily="34" charset="-122"/>
                <a:cs typeface="Inter" pitchFamily="34" charset="-120"/>
              </a:rPr>
              <a:t> Qualifier les 69% en amont + Router stratégiquement les profils haute valeur vers Care Agents humains (pas remplacer l'humain, mais optimiser son allocation de temps vers les opportunités les plus prometteuses).</a:t>
            </a:r>
            <a:endParaRPr lang="en-US" sz="1050" dirty="0"/>
          </a:p>
        </p:txBody>
      </p:sp>
      <p:sp>
        <p:nvSpPr>
          <p:cNvPr id="25" name="Shape 23"/>
          <p:cNvSpPr/>
          <p:nvPr/>
        </p:nvSpPr>
        <p:spPr>
          <a:xfrm>
            <a:off x="793790" y="6701195"/>
            <a:ext cx="13042821" cy="946071"/>
          </a:xfrm>
          <a:prstGeom prst="roundRect">
            <a:avLst>
              <a:gd name="adj" fmla="val 6168"/>
            </a:avLst>
          </a:prstGeom>
          <a:solidFill>
            <a:srgbClr val="B3FFE2"/>
          </a:solidFill>
          <a:ln/>
        </p:spPr>
        <p:txBody>
          <a:bodyPr/>
          <a:lstStyle/>
          <a:p>
            <a:endParaRPr lang="fr-CH"/>
          </a:p>
        </p:txBody>
      </p:sp>
      <p:pic>
        <p:nvPicPr>
          <p:cNvPr id="26" name="Image 0" descr="preencoded.png"/>
          <p:cNvPicPr>
            <a:picLocks noChangeAspect="1"/>
          </p:cNvPicPr>
          <p:nvPr/>
        </p:nvPicPr>
        <p:blipFill>
          <a:blip r:embed="rId3"/>
          <a:stretch>
            <a:fillRect/>
          </a:stretch>
        </p:blipFill>
        <p:spPr>
          <a:xfrm>
            <a:off x="932617" y="6890385"/>
            <a:ext cx="217051" cy="173593"/>
          </a:xfrm>
          <a:prstGeom prst="rect">
            <a:avLst/>
          </a:prstGeom>
        </p:spPr>
      </p:pic>
      <p:sp>
        <p:nvSpPr>
          <p:cNvPr id="27" name="Text 24"/>
          <p:cNvSpPr/>
          <p:nvPr/>
        </p:nvSpPr>
        <p:spPr>
          <a:xfrm>
            <a:off x="1288494" y="6874669"/>
            <a:ext cx="2286238"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Positionnement Cible 2027</a:t>
            </a:r>
            <a:endParaRPr lang="en-US" sz="1350" dirty="0"/>
          </a:p>
        </p:txBody>
      </p:sp>
      <p:sp>
        <p:nvSpPr>
          <p:cNvPr id="28" name="Text 25"/>
          <p:cNvSpPr/>
          <p:nvPr/>
        </p:nvSpPr>
        <p:spPr>
          <a:xfrm>
            <a:off x="1288494" y="7230547"/>
            <a:ext cx="12409289" cy="222290"/>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latin typeface="Inter" pitchFamily="34" charset="0"/>
                <a:ea typeface="Inter" pitchFamily="34" charset="-122"/>
                <a:cs typeface="Inter" pitchFamily="34" charset="-120"/>
              </a:rPr>
              <a:t>Devenir le </a:t>
            </a:r>
            <a:r>
              <a:rPr lang="en-US" sz="1050" b="1" dirty="0">
                <a:solidFill>
                  <a:srgbClr val="000000"/>
                </a:solidFill>
                <a:latin typeface="Inter" pitchFamily="34" charset="0"/>
                <a:ea typeface="Inter" pitchFamily="34" charset="-122"/>
                <a:cs typeface="Inter" pitchFamily="34" charset="-120"/>
              </a:rPr>
              <a:t>pionnier reconnu</a:t>
            </a:r>
            <a:r>
              <a:rPr lang="en-US" sz="1050" dirty="0">
                <a:solidFill>
                  <a:srgbClr val="000000"/>
                </a:solidFill>
                <a:latin typeface="Inter" pitchFamily="34" charset="0"/>
                <a:ea typeface="Inter" pitchFamily="34" charset="-122"/>
                <a:cs typeface="Inter" pitchFamily="34" charset="-120"/>
              </a:rPr>
              <a:t> de l'intelligence culturelle dans l'horlogerie de luxe mondiale, établissant une différenciation durable et difficilement réplicable par les concurrents traditionnels.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3069"/>
            <a:ext cx="8448437" cy="403146"/>
          </a:xfrm>
          <a:prstGeom prst="rect">
            <a:avLst/>
          </a:prstGeom>
          <a:noFill/>
          <a:ln/>
        </p:spPr>
        <p:txBody>
          <a:bodyPr wrap="none" lIns="0" tIns="0" rIns="0" bIns="0" rtlCol="0" anchor="t"/>
          <a:lstStyle/>
          <a:p>
            <a:pPr marL="0" indent="0" algn="l">
              <a:lnSpc>
                <a:spcPts val="3150"/>
              </a:lnSpc>
              <a:buNone/>
            </a:pPr>
            <a:r>
              <a:rPr lang="en-US" sz="2500" b="1" dirty="0">
                <a:solidFill>
                  <a:srgbClr val="000000"/>
                </a:solidFill>
                <a:latin typeface="Inter Bold" pitchFamily="34" charset="0"/>
                <a:ea typeface="Inter Bold" pitchFamily="34" charset="-122"/>
                <a:cs typeface="Inter Bold" pitchFamily="34" charset="-120"/>
              </a:rPr>
              <a:t>Vision Stratégique : L'Intelligence Culturelle Redéfinie</a:t>
            </a:r>
            <a:endParaRPr lang="en-US" sz="2500" dirty="0"/>
          </a:p>
        </p:txBody>
      </p:sp>
      <p:sp>
        <p:nvSpPr>
          <p:cNvPr id="3" name="Text 1"/>
          <p:cNvSpPr/>
          <p:nvPr/>
        </p:nvSpPr>
        <p:spPr>
          <a:xfrm>
            <a:off x="793790" y="1404223"/>
            <a:ext cx="13042821" cy="412909"/>
          </a:xfrm>
          <a:prstGeom prst="rect">
            <a:avLst/>
          </a:prstGeom>
          <a:noFill/>
          <a:ln/>
        </p:spPr>
        <p:txBody>
          <a:bodyPr wrap="square" lIns="0" tIns="0" rIns="0" bIns="0" rtlCol="0" anchor="t"/>
          <a:lstStyle/>
          <a:p>
            <a:pPr marL="0" indent="0" algn="l">
              <a:lnSpc>
                <a:spcPts val="1600"/>
              </a:lnSpc>
              <a:buNone/>
            </a:pPr>
            <a:r>
              <a:rPr lang="en-US" sz="1000" dirty="0">
                <a:solidFill>
                  <a:srgbClr val="000000"/>
                </a:solidFill>
                <a:latin typeface="Inter" pitchFamily="34" charset="0"/>
                <a:ea typeface="Inter" pitchFamily="34" charset="-122"/>
                <a:cs typeface="Inter" pitchFamily="34" charset="-120"/>
              </a:rPr>
              <a:t>Suite à une analyse approfondie des risques légaux (GDPR), éthiques (stéréotypage) et stratégiques (sur-optimisation), la définition initiale de l'intelligence culturelle a été fondamentalement re-cadrée pour éviter les pièges du profilage automatisé et respecter la philosophie "Quiet Tech" de LVMH.</a:t>
            </a:r>
            <a:endParaRPr lang="en-US" sz="1000" dirty="0"/>
          </a:p>
        </p:txBody>
      </p:sp>
      <p:sp>
        <p:nvSpPr>
          <p:cNvPr id="4" name="Text 2"/>
          <p:cNvSpPr/>
          <p:nvPr/>
        </p:nvSpPr>
        <p:spPr>
          <a:xfrm>
            <a:off x="793790" y="2091095"/>
            <a:ext cx="2276356" cy="249436"/>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 Ce que ce N'EST PAS</a:t>
            </a:r>
            <a:endParaRPr lang="en-US" sz="1500" dirty="0"/>
          </a:p>
        </p:txBody>
      </p:sp>
      <p:sp>
        <p:nvSpPr>
          <p:cNvPr id="5" name="Text 3"/>
          <p:cNvSpPr/>
          <p:nvPr/>
        </p:nvSpPr>
        <p:spPr>
          <a:xfrm>
            <a:off x="793790" y="2392085"/>
            <a:ext cx="4254937" cy="201454"/>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Jumeau Numérique Culturel Automatisé Client-Facing</a:t>
            </a:r>
            <a:endParaRPr lang="en-US" sz="1250" dirty="0"/>
          </a:p>
        </p:txBody>
      </p:sp>
      <p:sp>
        <p:nvSpPr>
          <p:cNvPr id="6" name="Text 4"/>
          <p:cNvSpPr/>
          <p:nvPr/>
        </p:nvSpPr>
        <p:spPr>
          <a:xfrm>
            <a:off x="793790" y="2722483"/>
            <a:ext cx="6364129" cy="206454"/>
          </a:xfrm>
          <a:prstGeom prst="rect">
            <a:avLst/>
          </a:prstGeom>
          <a:noFill/>
          <a:ln/>
        </p:spPr>
        <p:txBody>
          <a:bodyPr wrap="none" lIns="0" tIns="0" rIns="0" bIns="0" rtlCol="0" anchor="t"/>
          <a:lstStyle/>
          <a:p>
            <a:pPr marL="0" indent="0" algn="l">
              <a:lnSpc>
                <a:spcPts val="1600"/>
              </a:lnSpc>
              <a:buNone/>
            </a:pPr>
            <a:r>
              <a:rPr lang="en-US" sz="1000" dirty="0">
                <a:solidFill>
                  <a:srgbClr val="000000"/>
                </a:solidFill>
                <a:latin typeface="Inter" pitchFamily="34" charset="0"/>
                <a:ea typeface="Inter" pitchFamily="34" charset="-122"/>
                <a:cs typeface="Inter" pitchFamily="34" charset="-120"/>
              </a:rPr>
              <a:t>Profilage culturel automatique modifiant l'expérience du site web selon la région IP détectée du visiteur.</a:t>
            </a:r>
            <a:endParaRPr lang="en-US" sz="1000" dirty="0"/>
          </a:p>
        </p:txBody>
      </p:sp>
      <p:sp>
        <p:nvSpPr>
          <p:cNvPr id="7" name="Text 5"/>
          <p:cNvSpPr/>
          <p:nvPr/>
        </p:nvSpPr>
        <p:spPr>
          <a:xfrm>
            <a:off x="793790" y="3045023"/>
            <a:ext cx="6364129" cy="206454"/>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Inter" pitchFamily="34" charset="0"/>
                <a:ea typeface="Inter" pitchFamily="34" charset="-122"/>
                <a:cs typeface="Inter" pitchFamily="34" charset="-120"/>
              </a:rPr>
              <a:t>Risques identifiés :</a:t>
            </a:r>
            <a:endParaRPr lang="en-US" sz="1000" dirty="0"/>
          </a:p>
        </p:txBody>
      </p:sp>
      <p:sp>
        <p:nvSpPr>
          <p:cNvPr id="8" name="Text 6"/>
          <p:cNvSpPr/>
          <p:nvPr/>
        </p:nvSpPr>
        <p:spPr>
          <a:xfrm>
            <a:off x="793790" y="3367564"/>
            <a:ext cx="6364129" cy="206454"/>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Inter" pitchFamily="34" charset="0"/>
                <a:ea typeface="Inter" pitchFamily="34" charset="-122"/>
                <a:cs typeface="Inter" pitchFamily="34" charset="-120"/>
              </a:rPr>
              <a:t>Violation GDPR Article 22 (profilage automatisé sans consentement explicite)</a:t>
            </a:r>
            <a:endParaRPr lang="en-US" sz="1000" dirty="0"/>
          </a:p>
        </p:txBody>
      </p:sp>
      <p:sp>
        <p:nvSpPr>
          <p:cNvPr id="9" name="Text 7"/>
          <p:cNvSpPr/>
          <p:nvPr/>
        </p:nvSpPr>
        <p:spPr>
          <a:xfrm>
            <a:off x="793790" y="3619143"/>
            <a:ext cx="6364129" cy="206454"/>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Inter" pitchFamily="34" charset="0"/>
                <a:ea typeface="Inter" pitchFamily="34" charset="-122"/>
                <a:cs typeface="Inter" pitchFamily="34" charset="-120"/>
              </a:rPr>
              <a:t>Stéréotypage culturel = dommage de marque potentiellement existentiel</a:t>
            </a:r>
            <a:endParaRPr lang="en-US" sz="1000" dirty="0"/>
          </a:p>
        </p:txBody>
      </p:sp>
      <p:sp>
        <p:nvSpPr>
          <p:cNvPr id="10" name="Text 8"/>
          <p:cNvSpPr/>
          <p:nvPr/>
        </p:nvSpPr>
        <p:spPr>
          <a:xfrm>
            <a:off x="793790" y="3870722"/>
            <a:ext cx="6364129" cy="206454"/>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000000"/>
                </a:solidFill>
                <a:latin typeface="Inter" pitchFamily="34" charset="0"/>
                <a:ea typeface="Inter" pitchFamily="34" charset="-122"/>
                <a:cs typeface="Inter" pitchFamily="34" charset="-120"/>
              </a:rPr>
              <a:t>Sur-optimisation algorithmique tue la sérendipité (découvertes inattendues)</a:t>
            </a:r>
            <a:endParaRPr lang="en-US" sz="1000" dirty="0"/>
          </a:p>
        </p:txBody>
      </p:sp>
      <p:sp>
        <p:nvSpPr>
          <p:cNvPr id="11" name="Text 9"/>
          <p:cNvSpPr/>
          <p:nvPr/>
        </p:nvSpPr>
        <p:spPr>
          <a:xfrm>
            <a:off x="793790" y="4193262"/>
            <a:ext cx="6364129" cy="619363"/>
          </a:xfrm>
          <a:prstGeom prst="rect">
            <a:avLst/>
          </a:prstGeom>
          <a:noFill/>
          <a:ln/>
        </p:spPr>
        <p:txBody>
          <a:bodyPr wrap="square" lIns="0" tIns="0" rIns="0" bIns="0" rtlCol="0" anchor="t"/>
          <a:lstStyle/>
          <a:p>
            <a:pPr marL="0" indent="0" algn="l">
              <a:lnSpc>
                <a:spcPts val="1600"/>
              </a:lnSpc>
              <a:buNone/>
            </a:pPr>
            <a:r>
              <a:rPr lang="en-US" sz="1000" b="1" dirty="0">
                <a:solidFill>
                  <a:srgbClr val="000000"/>
                </a:solidFill>
                <a:latin typeface="Inter" pitchFamily="34" charset="0"/>
                <a:ea typeface="Inter" pitchFamily="34" charset="-122"/>
                <a:cs typeface="Inter" pitchFamily="34" charset="-120"/>
              </a:rPr>
              <a:t>Cas LVMH interne documenté :</a:t>
            </a:r>
            <a:r>
              <a:rPr lang="en-US" sz="1000" dirty="0">
                <a:solidFill>
                  <a:srgbClr val="000000"/>
                </a:solidFill>
                <a:latin typeface="Inter" pitchFamily="34" charset="0"/>
                <a:ea typeface="Inter" pitchFamily="34" charset="-122"/>
                <a:cs typeface="Inter" pitchFamily="34" charset="-120"/>
              </a:rPr>
              <a:t> IA "chirurgicalement précise" → Stagnation des ventes. Pivot stratégique vers "déséquilibres stratégiques" (suggestions intentionnellement hors zone de confort) → </a:t>
            </a:r>
            <a:r>
              <a:rPr lang="en-US" sz="1000" dirty="0">
                <a:solidFill>
                  <a:srgbClr val="FFFFFF"/>
                </a:solidFill>
                <a:highlight>
                  <a:srgbClr val="008150"/>
                </a:highlight>
                <a:latin typeface="Inter" pitchFamily="34" charset="0"/>
                <a:ea typeface="Inter" pitchFamily="34" charset="-122"/>
                <a:cs typeface="Inter" pitchFamily="34" charset="-120"/>
              </a:rPr>
              <a:t>+23% de taux de conversion</a:t>
            </a:r>
            <a:r>
              <a:rPr lang="en-US" sz="1000" dirty="0">
                <a:solidFill>
                  <a:srgbClr val="000000"/>
                </a:solidFill>
                <a:latin typeface="Inter" pitchFamily="34" charset="0"/>
                <a:ea typeface="Inter" pitchFamily="34" charset="-122"/>
                <a:cs typeface="Inter" pitchFamily="34" charset="-120"/>
              </a:rPr>
              <a:t>.</a:t>
            </a:r>
            <a:endParaRPr lang="en-US" sz="1000" dirty="0"/>
          </a:p>
        </p:txBody>
      </p:sp>
      <p:sp>
        <p:nvSpPr>
          <p:cNvPr id="12" name="Text 10"/>
          <p:cNvSpPr/>
          <p:nvPr/>
        </p:nvSpPr>
        <p:spPr>
          <a:xfrm>
            <a:off x="793790" y="4928711"/>
            <a:ext cx="6364129" cy="412909"/>
          </a:xfrm>
          <a:prstGeom prst="rect">
            <a:avLst/>
          </a:prstGeom>
          <a:noFill/>
          <a:ln/>
        </p:spPr>
        <p:txBody>
          <a:bodyPr wrap="square" lIns="0" tIns="0" rIns="0" bIns="0" rtlCol="0" anchor="t"/>
          <a:lstStyle/>
          <a:p>
            <a:pPr marL="0" indent="0" algn="l">
              <a:lnSpc>
                <a:spcPts val="1600"/>
              </a:lnSpc>
              <a:buNone/>
            </a:pPr>
            <a:r>
              <a:rPr lang="en-US" sz="1000" b="1" dirty="0">
                <a:solidFill>
                  <a:srgbClr val="000000"/>
                </a:solidFill>
                <a:latin typeface="Inter" pitchFamily="34" charset="0"/>
                <a:ea typeface="Inter" pitchFamily="34" charset="-122"/>
                <a:cs typeface="Inter" pitchFamily="34" charset="-120"/>
              </a:rPr>
              <a:t>Paradoxe juridique :</a:t>
            </a:r>
            <a:r>
              <a:rPr lang="en-US" sz="1000" dirty="0">
                <a:solidFill>
                  <a:srgbClr val="000000"/>
                </a:solidFill>
                <a:latin typeface="Inter" pitchFamily="34" charset="0"/>
                <a:ea typeface="Inter" pitchFamily="34" charset="-122"/>
                <a:cs typeface="Inter" pitchFamily="34" charset="-120"/>
              </a:rPr>
              <a:t> La philosophie "Quiet Tech" exige que l'IA soit invisible pour le client, MAIS le GDPR exige une transparence totale sur le profilage = juridiquement intenable sur le marché européen.</a:t>
            </a:r>
            <a:endParaRPr lang="en-US" sz="1000" dirty="0"/>
          </a:p>
        </p:txBody>
      </p:sp>
      <p:sp>
        <p:nvSpPr>
          <p:cNvPr id="13" name="Text 11"/>
          <p:cNvSpPr/>
          <p:nvPr/>
        </p:nvSpPr>
        <p:spPr>
          <a:xfrm>
            <a:off x="7480102" y="2091095"/>
            <a:ext cx="1935123" cy="249436"/>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 Ce que c'EST</a:t>
            </a:r>
            <a:endParaRPr lang="en-US" sz="1500" dirty="0"/>
          </a:p>
        </p:txBody>
      </p:sp>
      <p:sp>
        <p:nvSpPr>
          <p:cNvPr id="14" name="Text 12"/>
          <p:cNvSpPr/>
          <p:nvPr/>
        </p:nvSpPr>
        <p:spPr>
          <a:xfrm>
            <a:off x="7480102" y="2392085"/>
            <a:ext cx="4646533" cy="201454"/>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Personnalisation N=1 + Patterns Comportementaux Validés</a:t>
            </a:r>
            <a:endParaRPr lang="en-US" sz="1250" dirty="0"/>
          </a:p>
        </p:txBody>
      </p:sp>
      <p:sp>
        <p:nvSpPr>
          <p:cNvPr id="15" name="Text 13"/>
          <p:cNvSpPr/>
          <p:nvPr/>
        </p:nvSpPr>
        <p:spPr>
          <a:xfrm>
            <a:off x="7480102" y="2722483"/>
            <a:ext cx="6364129" cy="619363"/>
          </a:xfrm>
          <a:prstGeom prst="rect">
            <a:avLst/>
          </a:prstGeom>
          <a:noFill/>
          <a:ln/>
        </p:spPr>
        <p:txBody>
          <a:bodyPr wrap="square" lIns="0" tIns="0" rIns="0" bIns="0" rtlCol="0" anchor="t"/>
          <a:lstStyle/>
          <a:p>
            <a:pPr marL="0" indent="0" algn="l">
              <a:lnSpc>
                <a:spcPts val="1600"/>
              </a:lnSpc>
              <a:buNone/>
            </a:pPr>
            <a:r>
              <a:rPr lang="en-US" sz="1000" b="1" dirty="0">
                <a:solidFill>
                  <a:srgbClr val="000000"/>
                </a:solidFill>
                <a:latin typeface="Inter" pitchFamily="34" charset="0"/>
                <a:ea typeface="Inter" pitchFamily="34" charset="-122"/>
                <a:cs typeface="Inter" pitchFamily="34" charset="-120"/>
              </a:rPr>
              <a:t>Niveau 1 : Personnalisation Individuelle (N=1)</a:t>
            </a:r>
            <a:r>
              <a:rPr lang="en-US" sz="1000" dirty="0">
                <a:solidFill>
                  <a:srgbClr val="000000"/>
                </a:solidFill>
                <a:latin typeface="Inter" pitchFamily="34" charset="0"/>
                <a:ea typeface="Inter" pitchFamily="34" charset="-122"/>
                <a:cs typeface="Inter" pitchFamily="34" charset="-120"/>
              </a:rPr>
              <a:t>Basée exclusivement sur l'historique consenti du client connu et identifié. Style Four Seasons : l'IA se souvient et anticipe les préférences individuelles documentées.</a:t>
            </a:r>
            <a:endParaRPr lang="en-US" sz="1000" dirty="0"/>
          </a:p>
        </p:txBody>
      </p:sp>
      <p:sp>
        <p:nvSpPr>
          <p:cNvPr id="16" name="Text 14"/>
          <p:cNvSpPr/>
          <p:nvPr/>
        </p:nvSpPr>
        <p:spPr>
          <a:xfrm>
            <a:off x="7480102" y="3457932"/>
            <a:ext cx="6364129" cy="619363"/>
          </a:xfrm>
          <a:prstGeom prst="rect">
            <a:avLst/>
          </a:prstGeom>
          <a:noFill/>
          <a:ln/>
        </p:spPr>
        <p:txBody>
          <a:bodyPr wrap="square" lIns="0" tIns="0" rIns="0" bIns="0" rtlCol="0" anchor="t"/>
          <a:lstStyle/>
          <a:p>
            <a:pPr marL="0" indent="0" algn="l">
              <a:lnSpc>
                <a:spcPts val="1600"/>
              </a:lnSpc>
              <a:buNone/>
            </a:pPr>
            <a:r>
              <a:rPr lang="en-US" sz="1000" b="1" dirty="0">
                <a:solidFill>
                  <a:srgbClr val="000000"/>
                </a:solidFill>
                <a:latin typeface="Inter" pitchFamily="34" charset="0"/>
                <a:ea typeface="Inter" pitchFamily="34" charset="-122"/>
                <a:cs typeface="Inter" pitchFamily="34" charset="-120"/>
              </a:rPr>
              <a:t>Niveau 2 : Clustering Comportemental Dynamique</a:t>
            </a:r>
            <a:r>
              <a:rPr lang="en-US" sz="1000" dirty="0">
                <a:solidFill>
                  <a:srgbClr val="000000"/>
                </a:solidFill>
                <a:latin typeface="Inter" pitchFamily="34" charset="0"/>
                <a:ea typeface="Inter" pitchFamily="34" charset="-122"/>
                <a:cs typeface="Inter" pitchFamily="34" charset="-120"/>
              </a:rPr>
              <a:t>Machine Learning (K-means, DBSCAN) regroupant les utilisateurs en segments basés sur leurs actions en temps réel, totalement indépendant de leur origine ou culture déclarée.</a:t>
            </a:r>
            <a:endParaRPr lang="en-US" sz="1000" dirty="0"/>
          </a:p>
        </p:txBody>
      </p:sp>
      <p:sp>
        <p:nvSpPr>
          <p:cNvPr id="17" name="Text 15"/>
          <p:cNvSpPr/>
          <p:nvPr/>
        </p:nvSpPr>
        <p:spPr>
          <a:xfrm>
            <a:off x="7480102" y="4193381"/>
            <a:ext cx="6364129" cy="825817"/>
          </a:xfrm>
          <a:prstGeom prst="rect">
            <a:avLst/>
          </a:prstGeom>
          <a:noFill/>
          <a:ln/>
        </p:spPr>
        <p:txBody>
          <a:bodyPr wrap="square" lIns="0" tIns="0" rIns="0" bIns="0" rtlCol="0" anchor="t"/>
          <a:lstStyle/>
          <a:p>
            <a:pPr marL="0" indent="0" algn="l">
              <a:lnSpc>
                <a:spcPts val="1600"/>
              </a:lnSpc>
              <a:buNone/>
            </a:pPr>
            <a:r>
              <a:rPr lang="en-US" sz="1000" b="1" dirty="0">
                <a:solidFill>
                  <a:srgbClr val="000000"/>
                </a:solidFill>
                <a:latin typeface="Inter" pitchFamily="34" charset="0"/>
                <a:ea typeface="Inter" pitchFamily="34" charset="-122"/>
                <a:cs typeface="Inter" pitchFamily="34" charset="-120"/>
              </a:rPr>
              <a:t>Niveau 3 : Patterns Comportementaux Régionaux</a:t>
            </a:r>
            <a:r>
              <a:rPr lang="en-US" sz="1000" dirty="0">
                <a:solidFill>
                  <a:srgbClr val="000000"/>
                </a:solidFill>
                <a:latin typeface="Inter" pitchFamily="34" charset="0"/>
                <a:ea typeface="Inter" pitchFamily="34" charset="-122"/>
                <a:cs typeface="Inter" pitchFamily="34" charset="-120"/>
              </a:rPr>
              <a:t>Utilisés comme hypothèses probabilistes (PAS comme profils déterministes), systématiquement testés via A/B tests rigoureux, apprentissage continu du comportement réel observé, validation humaine obligatoire à chaque étape.</a:t>
            </a:r>
            <a:endParaRPr lang="en-US" sz="1000" dirty="0"/>
          </a:p>
        </p:txBody>
      </p:sp>
      <p:sp>
        <p:nvSpPr>
          <p:cNvPr id="18" name="Shape 16"/>
          <p:cNvSpPr/>
          <p:nvPr/>
        </p:nvSpPr>
        <p:spPr>
          <a:xfrm>
            <a:off x="7480102" y="5228616"/>
            <a:ext cx="6364129" cy="23693"/>
          </a:xfrm>
          <a:prstGeom prst="rect">
            <a:avLst/>
          </a:prstGeom>
          <a:solidFill>
            <a:srgbClr val="000000">
              <a:alpha val="50000"/>
            </a:srgbClr>
          </a:solidFill>
          <a:ln/>
        </p:spPr>
        <p:txBody>
          <a:bodyPr/>
          <a:lstStyle/>
          <a:p>
            <a:endParaRPr lang="fr-CH"/>
          </a:p>
        </p:txBody>
      </p:sp>
      <p:sp>
        <p:nvSpPr>
          <p:cNvPr id="19" name="Text 17"/>
          <p:cNvSpPr/>
          <p:nvPr/>
        </p:nvSpPr>
        <p:spPr>
          <a:xfrm>
            <a:off x="7480102" y="5397222"/>
            <a:ext cx="2491383" cy="201454"/>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Philosophie "Quiet Tech" LVMH</a:t>
            </a:r>
            <a:endParaRPr lang="en-US" sz="1250" dirty="0"/>
          </a:p>
        </p:txBody>
      </p:sp>
      <p:sp>
        <p:nvSpPr>
          <p:cNvPr id="20" name="Text 18"/>
          <p:cNvSpPr/>
          <p:nvPr/>
        </p:nvSpPr>
        <p:spPr>
          <a:xfrm>
            <a:off x="7480102" y="5727621"/>
            <a:ext cx="6364129" cy="412909"/>
          </a:xfrm>
          <a:prstGeom prst="rect">
            <a:avLst/>
          </a:prstGeom>
          <a:noFill/>
          <a:ln/>
        </p:spPr>
        <p:txBody>
          <a:bodyPr wrap="square" lIns="0" tIns="0" rIns="0" bIns="0" rtlCol="0" anchor="t"/>
          <a:lstStyle/>
          <a:p>
            <a:pPr marL="0" indent="0" algn="l">
              <a:lnSpc>
                <a:spcPts val="1600"/>
              </a:lnSpc>
              <a:buNone/>
            </a:pPr>
            <a:r>
              <a:rPr lang="en-US" sz="1000" dirty="0">
                <a:solidFill>
                  <a:srgbClr val="000000"/>
                </a:solidFill>
                <a:latin typeface="Inter" pitchFamily="34" charset="0"/>
                <a:ea typeface="Inter" pitchFamily="34" charset="-122"/>
                <a:cs typeface="Inter" pitchFamily="34" charset="-120"/>
              </a:rPr>
              <a:t>L'IA reste </a:t>
            </a:r>
            <a:r>
              <a:rPr lang="en-US" sz="1000" b="1" dirty="0">
                <a:solidFill>
                  <a:srgbClr val="000000"/>
                </a:solidFill>
                <a:latin typeface="Inter" pitchFamily="34" charset="0"/>
                <a:ea typeface="Inter" pitchFamily="34" charset="-122"/>
                <a:cs typeface="Inter" pitchFamily="34" charset="-120"/>
              </a:rPr>
              <a:t>invisible pour le client</a:t>
            </a:r>
            <a:r>
              <a:rPr lang="en-US" sz="1000" dirty="0">
                <a:solidFill>
                  <a:srgbClr val="000000"/>
                </a:solidFill>
                <a:latin typeface="Inter" pitchFamily="34" charset="0"/>
                <a:ea typeface="Inter" pitchFamily="34" charset="-122"/>
                <a:cs typeface="Inter" pitchFamily="34" charset="-120"/>
              </a:rPr>
              <a:t> (expérience fluide et naturelle), mais devient </a:t>
            </a:r>
            <a:r>
              <a:rPr lang="en-US" sz="1000" b="1" dirty="0">
                <a:solidFill>
                  <a:srgbClr val="000000"/>
                </a:solidFill>
                <a:latin typeface="Inter" pitchFamily="34" charset="0"/>
                <a:ea typeface="Inter" pitchFamily="34" charset="-122"/>
                <a:cs typeface="Inter" pitchFamily="34" charset="-120"/>
              </a:rPr>
              <a:t>indispensable pour l'employé</a:t>
            </a:r>
            <a:r>
              <a:rPr lang="en-US" sz="1000" dirty="0">
                <a:solidFill>
                  <a:srgbClr val="000000"/>
                </a:solidFill>
                <a:latin typeface="Inter" pitchFamily="34" charset="0"/>
                <a:ea typeface="Inter" pitchFamily="34" charset="-122"/>
                <a:cs typeface="Inter" pitchFamily="34" charset="-120"/>
              </a:rPr>
              <a:t> (augmentation de ses capacités, pas remplacement).</a:t>
            </a:r>
            <a:endParaRPr lang="en-US" sz="1000" dirty="0"/>
          </a:p>
        </p:txBody>
      </p:sp>
      <p:sp>
        <p:nvSpPr>
          <p:cNvPr id="21" name="Shape 19"/>
          <p:cNvSpPr/>
          <p:nvPr/>
        </p:nvSpPr>
        <p:spPr>
          <a:xfrm>
            <a:off x="793790" y="6401633"/>
            <a:ext cx="13042821" cy="1084898"/>
          </a:xfrm>
          <a:prstGeom prst="roundRect">
            <a:avLst>
              <a:gd name="adj" fmla="val 4994"/>
            </a:avLst>
          </a:prstGeom>
          <a:solidFill>
            <a:srgbClr val="B3FFE2"/>
          </a:solidFill>
          <a:ln/>
        </p:spPr>
        <p:txBody>
          <a:bodyPr/>
          <a:lstStyle/>
          <a:p>
            <a:endParaRPr lang="fr-CH"/>
          </a:p>
        </p:txBody>
      </p:sp>
      <p:pic>
        <p:nvPicPr>
          <p:cNvPr id="22" name="Image 0" descr="preencoded.png"/>
          <p:cNvPicPr>
            <a:picLocks noChangeAspect="1"/>
          </p:cNvPicPr>
          <p:nvPr/>
        </p:nvPicPr>
        <p:blipFill>
          <a:blip r:embed="rId3"/>
          <a:stretch>
            <a:fillRect/>
          </a:stretch>
        </p:blipFill>
        <p:spPr>
          <a:xfrm>
            <a:off x="922734" y="6574036"/>
            <a:ext cx="201573" cy="161211"/>
          </a:xfrm>
          <a:prstGeom prst="rect">
            <a:avLst/>
          </a:prstGeom>
        </p:spPr>
      </p:pic>
      <p:sp>
        <p:nvSpPr>
          <p:cNvPr id="23" name="Text 20"/>
          <p:cNvSpPr/>
          <p:nvPr/>
        </p:nvSpPr>
        <p:spPr>
          <a:xfrm>
            <a:off x="1253252" y="6562725"/>
            <a:ext cx="2108597" cy="201454"/>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Mission IA pour TAG Heuer</a:t>
            </a:r>
            <a:endParaRPr lang="en-US" sz="1250" dirty="0"/>
          </a:p>
        </p:txBody>
      </p:sp>
      <p:sp>
        <p:nvSpPr>
          <p:cNvPr id="24" name="Text 21"/>
          <p:cNvSpPr/>
          <p:nvPr/>
        </p:nvSpPr>
        <p:spPr>
          <a:xfrm>
            <a:off x="1253252" y="6893123"/>
            <a:ext cx="12454414" cy="412909"/>
          </a:xfrm>
          <a:prstGeom prst="rect">
            <a:avLst/>
          </a:prstGeom>
          <a:noFill/>
          <a:ln/>
        </p:spPr>
        <p:txBody>
          <a:bodyPr wrap="square" lIns="0" tIns="0" rIns="0" bIns="0" rtlCol="0" anchor="t"/>
          <a:lstStyle/>
          <a:p>
            <a:pPr marL="0" indent="0" algn="l">
              <a:lnSpc>
                <a:spcPts val="1600"/>
              </a:lnSpc>
              <a:buNone/>
            </a:pPr>
            <a:r>
              <a:rPr lang="en-US" sz="1000" dirty="0">
                <a:solidFill>
                  <a:srgbClr val="000000"/>
                </a:solidFill>
                <a:latin typeface="Inter" pitchFamily="34" charset="0"/>
                <a:ea typeface="Inter" pitchFamily="34" charset="-122"/>
                <a:cs typeface="Inter" pitchFamily="34" charset="-120"/>
              </a:rPr>
              <a:t>Transformer les 69% de trafic online anonyme en opportunités de conversion à 10% via l'accompagnement humain authentique (pas optimiser marginalement 0.7% vers 0.8%). </a:t>
            </a:r>
            <a:r>
              <a:rPr lang="en-US" sz="1000" b="1" dirty="0">
                <a:solidFill>
                  <a:srgbClr val="000000"/>
                </a:solidFill>
                <a:latin typeface="Inter" pitchFamily="34" charset="0"/>
                <a:ea typeface="Inter" pitchFamily="34" charset="-122"/>
                <a:cs typeface="Inter" pitchFamily="34" charset="-120"/>
              </a:rPr>
              <a:t>Deux rôles complémentaires :</a:t>
            </a:r>
            <a:r>
              <a:rPr lang="en-US" sz="1000" dirty="0">
                <a:solidFill>
                  <a:srgbClr val="000000"/>
                </a:solidFill>
                <a:latin typeface="Inter" pitchFamily="34" charset="0"/>
                <a:ea typeface="Inter" pitchFamily="34" charset="-122"/>
                <a:cs typeface="Inter" pitchFamily="34" charset="-120"/>
              </a:rPr>
              <a:t> (1) Routage intelligent des visiteurs qualifiés vers les Care Agents appropriés, (2) Augmentation des capacités du Care Agent via l'assistant MaIA en temps réel.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06266"/>
            <a:ext cx="7522726" cy="434102"/>
          </a:xfrm>
          <a:prstGeom prst="rect">
            <a:avLst/>
          </a:prstGeom>
          <a:noFill/>
          <a:ln/>
        </p:spPr>
        <p:txBody>
          <a:bodyPr wrap="none" lIns="0" tIns="0" rIns="0" bIns="0" rtlCol="0" anchor="t"/>
          <a:lstStyle/>
          <a:p>
            <a:pPr marL="0" indent="0" algn="l">
              <a:lnSpc>
                <a:spcPts val="3400"/>
              </a:lnSpc>
              <a:buNone/>
            </a:pPr>
            <a:r>
              <a:rPr lang="en-US" sz="2700" b="1" dirty="0">
                <a:solidFill>
                  <a:srgbClr val="000000"/>
                </a:solidFill>
                <a:latin typeface="Inter Bold" pitchFamily="34" charset="0"/>
                <a:ea typeface="Inter Bold" pitchFamily="34" charset="-122"/>
                <a:cs typeface="Inter Bold" pitchFamily="34" charset="-120"/>
              </a:rPr>
              <a:t>Architecture Technique : Fondations &amp; Stack</a:t>
            </a:r>
            <a:endParaRPr lang="en-US" sz="2700" dirty="0"/>
          </a:p>
        </p:txBody>
      </p:sp>
      <p:sp>
        <p:nvSpPr>
          <p:cNvPr id="3" name="Text 1"/>
          <p:cNvSpPr/>
          <p:nvPr/>
        </p:nvSpPr>
        <p:spPr>
          <a:xfrm>
            <a:off x="793790" y="1318141"/>
            <a:ext cx="13042821" cy="66686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Inter" pitchFamily="34" charset="0"/>
                <a:ea typeface="Inter" pitchFamily="34" charset="-122"/>
                <a:cs typeface="Inter" pitchFamily="34" charset="-120"/>
              </a:rPr>
              <a:t>L'architecture proposée repose sur 3 couches technologiques interdépendantes, complétées par une architecture fédérée garantissant la conformité légale régionale. Une contrainte critique a été identifiée par Benoît Grange (Head of Data &amp; IT) : les données sont actuellement fragmentées entre silos online et offline, constituant le premier obstacle majeur à résoudre avant toute initiative de personnalisation.</a:t>
            </a:r>
            <a:endParaRPr lang="en-US" sz="1050" dirty="0"/>
          </a:p>
        </p:txBody>
      </p:sp>
      <p:pic>
        <p:nvPicPr>
          <p:cNvPr id="4" name="Image 0" descr="preencoded.png"/>
          <p:cNvPicPr>
            <a:picLocks noChangeAspect="1"/>
          </p:cNvPicPr>
          <p:nvPr/>
        </p:nvPicPr>
        <p:blipFill>
          <a:blip r:embed="rId3"/>
          <a:stretch>
            <a:fillRect/>
          </a:stretch>
        </p:blipFill>
        <p:spPr>
          <a:xfrm>
            <a:off x="793790" y="2141220"/>
            <a:ext cx="4347567" cy="555665"/>
          </a:xfrm>
          <a:prstGeom prst="rect">
            <a:avLst/>
          </a:prstGeom>
        </p:spPr>
      </p:pic>
      <p:sp>
        <p:nvSpPr>
          <p:cNvPr id="5" name="Text 2"/>
          <p:cNvSpPr/>
          <p:nvPr/>
        </p:nvSpPr>
        <p:spPr>
          <a:xfrm>
            <a:off x="932617" y="2835712"/>
            <a:ext cx="3090862"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Couche 1 : Fondation Données (CDP)</a:t>
            </a:r>
            <a:endParaRPr lang="en-US" sz="1350" dirty="0"/>
          </a:p>
        </p:txBody>
      </p:sp>
      <p:sp>
        <p:nvSpPr>
          <p:cNvPr id="6" name="Text 3"/>
          <p:cNvSpPr/>
          <p:nvPr/>
        </p:nvSpPr>
        <p:spPr>
          <a:xfrm>
            <a:off x="932617" y="3136106"/>
            <a:ext cx="4069913" cy="88915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Problème actuel critique :</a:t>
            </a:r>
            <a:r>
              <a:rPr lang="en-US" sz="1050" dirty="0">
                <a:solidFill>
                  <a:srgbClr val="000000"/>
                </a:solidFill>
                <a:latin typeface="Inter" pitchFamily="34" charset="0"/>
                <a:ea typeface="Inter" pitchFamily="34" charset="-122"/>
                <a:cs typeface="Inter" pitchFamily="34" charset="-120"/>
              </a:rPr>
              <a:t> Données online ≠ Données offline (CRM Salesforce fragmenté), absence totale de vue client 360° unifiée, impossibilité technique de personnalisation N=1 sans unification préalable des sources.</a:t>
            </a:r>
            <a:endParaRPr lang="en-US" sz="1050" dirty="0"/>
          </a:p>
        </p:txBody>
      </p:sp>
      <p:sp>
        <p:nvSpPr>
          <p:cNvPr id="7" name="Text 4"/>
          <p:cNvSpPr/>
          <p:nvPr/>
        </p:nvSpPr>
        <p:spPr>
          <a:xfrm>
            <a:off x="932617" y="4108609"/>
            <a:ext cx="4069913" cy="88915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Solution technique :</a:t>
            </a:r>
            <a:r>
              <a:rPr lang="en-US" sz="1050" dirty="0">
                <a:solidFill>
                  <a:srgbClr val="000000"/>
                </a:solidFill>
                <a:latin typeface="Inter" pitchFamily="34" charset="0"/>
                <a:ea typeface="Inter" pitchFamily="34" charset="-122"/>
                <a:cs typeface="Inter" pitchFamily="34" charset="-120"/>
              </a:rPr>
              <a:t> Implémentation d'une Customer Data Platform (CDP) de niveau entreprise. Leaders de marché analysés : Salesforce Data Cloud (TAG est déjà partenaire Salesforce), Treasure Data (spécialiste retail luxe).</a:t>
            </a:r>
            <a:endParaRPr lang="en-US" sz="1050" dirty="0"/>
          </a:p>
        </p:txBody>
      </p:sp>
      <p:sp>
        <p:nvSpPr>
          <p:cNvPr id="8" name="Text 5"/>
          <p:cNvSpPr/>
          <p:nvPr/>
        </p:nvSpPr>
        <p:spPr>
          <a:xfrm>
            <a:off x="932617" y="5081111"/>
            <a:ext cx="4069913" cy="88915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Cas de validation Saks Fifth Avenue :</a:t>
            </a:r>
            <a:r>
              <a:rPr lang="en-US" sz="1050" dirty="0">
                <a:solidFill>
                  <a:srgbClr val="000000"/>
                </a:solidFill>
                <a:latin typeface="Inter" pitchFamily="34" charset="0"/>
                <a:ea typeface="Inter" pitchFamily="34" charset="-122"/>
                <a:cs typeface="Inter" pitchFamily="34" charset="-120"/>
              </a:rPr>
              <a:t> Adoption CDP → Temps d'intégration de nouvelles sources réduit de "plusieurs mois → quelques heures", productivité de l'équipe data multipliée par 5.</a:t>
            </a:r>
            <a:endParaRPr lang="en-US" sz="1050" dirty="0"/>
          </a:p>
        </p:txBody>
      </p:sp>
      <p:sp>
        <p:nvSpPr>
          <p:cNvPr id="9" name="Text 6"/>
          <p:cNvSpPr/>
          <p:nvPr/>
        </p:nvSpPr>
        <p:spPr>
          <a:xfrm>
            <a:off x="932617" y="6053614"/>
            <a:ext cx="4069913" cy="1111448"/>
          </a:xfrm>
          <a:prstGeom prst="rect">
            <a:avLst/>
          </a:prstGeom>
          <a:noFill/>
          <a:ln/>
        </p:spPr>
        <p:txBody>
          <a:bodyPr wrap="square" lIns="0" tIns="0" rIns="0" bIns="0" rtlCol="0" anchor="t"/>
          <a:lstStyle/>
          <a:p>
            <a:pPr marL="0" indent="0" algn="l">
              <a:lnSpc>
                <a:spcPts val="1750"/>
              </a:lnSpc>
              <a:buNone/>
            </a:pPr>
            <a:r>
              <a:rPr lang="en-US" sz="1050" b="1" dirty="0">
                <a:solidFill>
                  <a:srgbClr val="008150"/>
                </a:solidFill>
                <a:latin typeface="Inter" pitchFamily="34" charset="0"/>
                <a:ea typeface="Inter" pitchFamily="34" charset="-122"/>
                <a:cs typeface="Inter" pitchFamily="34" charset="-120"/>
              </a:rPr>
              <a:t>Pour TAG Heuer :</a:t>
            </a:r>
            <a:r>
              <a:rPr lang="en-US" sz="1050" dirty="0">
                <a:solidFill>
                  <a:srgbClr val="000000"/>
                </a:solidFill>
                <a:latin typeface="Inter" pitchFamily="34" charset="0"/>
                <a:ea typeface="Inter" pitchFamily="34" charset="-122"/>
                <a:cs typeface="Inter" pitchFamily="34" charset="-120"/>
              </a:rPr>
              <a:t> La véritable transformation digitale court terme = Implémentation réussie de la CDP (pas le "Jumeau Culturel" futuriste). Sans cette fondation solide, tout projet IA restera un PoC fragmenté incapable de passer à l'échelle industrielle.</a:t>
            </a:r>
            <a:endParaRPr lang="en-US" sz="1050" dirty="0"/>
          </a:p>
        </p:txBody>
      </p:sp>
      <p:pic>
        <p:nvPicPr>
          <p:cNvPr id="10" name="Image 1" descr="preencoded.png"/>
          <p:cNvPicPr>
            <a:picLocks noChangeAspect="1"/>
          </p:cNvPicPr>
          <p:nvPr/>
        </p:nvPicPr>
        <p:blipFill>
          <a:blip r:embed="rId4"/>
          <a:stretch>
            <a:fillRect/>
          </a:stretch>
        </p:blipFill>
        <p:spPr>
          <a:xfrm>
            <a:off x="5141357" y="2141220"/>
            <a:ext cx="4347567" cy="555665"/>
          </a:xfrm>
          <a:prstGeom prst="rect">
            <a:avLst/>
          </a:prstGeom>
        </p:spPr>
      </p:pic>
      <p:sp>
        <p:nvSpPr>
          <p:cNvPr id="11" name="Text 7"/>
          <p:cNvSpPr/>
          <p:nvPr/>
        </p:nvSpPr>
        <p:spPr>
          <a:xfrm>
            <a:off x="5280184" y="2835712"/>
            <a:ext cx="3504843"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Couche 2 : Moteur Analytique (ML + NLP)</a:t>
            </a:r>
            <a:endParaRPr lang="en-US" sz="1350" dirty="0"/>
          </a:p>
        </p:txBody>
      </p:sp>
      <p:sp>
        <p:nvSpPr>
          <p:cNvPr id="12" name="Text 8"/>
          <p:cNvSpPr/>
          <p:nvPr/>
        </p:nvSpPr>
        <p:spPr>
          <a:xfrm>
            <a:off x="5280184" y="3136106"/>
            <a:ext cx="4069913" cy="1111448"/>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Segmentation Prédictive :</a:t>
            </a:r>
            <a:r>
              <a:rPr lang="en-US" sz="1050" dirty="0">
                <a:solidFill>
                  <a:srgbClr val="000000"/>
                </a:solidFill>
                <a:latin typeface="Inter" pitchFamily="34" charset="0"/>
                <a:ea typeface="Inter" pitchFamily="34" charset="-122"/>
                <a:cs typeface="Inter" pitchFamily="34" charset="-120"/>
              </a:rPr>
              <a:t> Random Forest (85% de précision documentée), K-means et DBSCAN pour clustering comportemental, Deep Learning pour patterns complexes. Plateformes : Dataiku (déjà déployé à l'échelle LVMH), Vertex AI (Google Cloud Platform).</a:t>
            </a:r>
            <a:endParaRPr lang="en-US" sz="1050" dirty="0"/>
          </a:p>
        </p:txBody>
      </p:sp>
      <p:sp>
        <p:nvSpPr>
          <p:cNvPr id="13" name="Text 9"/>
          <p:cNvSpPr/>
          <p:nvPr/>
        </p:nvSpPr>
        <p:spPr>
          <a:xfrm>
            <a:off x="5280184" y="4330898"/>
            <a:ext cx="4069913" cy="88915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NLP Interculturel Avancé :</a:t>
            </a:r>
            <a:r>
              <a:rPr lang="en-US" sz="1050" dirty="0">
                <a:solidFill>
                  <a:srgbClr val="000000"/>
                </a:solidFill>
                <a:latin typeface="Inter" pitchFamily="34" charset="0"/>
                <a:ea typeface="Inter" pitchFamily="34" charset="-122"/>
                <a:cs typeface="Inter" pitchFamily="34" charset="-120"/>
              </a:rPr>
              <a:t> Les modèles NLP standards (entraînés sur anglais américain) échouent systématiquement face aux nuances culturelles subtiles. </a:t>
            </a:r>
            <a:r>
              <a:rPr lang="en-US" sz="1050" b="1" dirty="0">
                <a:solidFill>
                  <a:srgbClr val="000000"/>
                </a:solidFill>
                <a:latin typeface="Inter" pitchFamily="34" charset="0"/>
                <a:ea typeface="Inter" pitchFamily="34" charset="-122"/>
                <a:cs typeface="Inter" pitchFamily="34" charset="-120"/>
              </a:rPr>
              <a:t>3 défis techniques identifiés :</a:t>
            </a:r>
            <a:endParaRPr lang="en-US" sz="1050" dirty="0"/>
          </a:p>
        </p:txBody>
      </p:sp>
      <p:sp>
        <p:nvSpPr>
          <p:cNvPr id="14" name="Text 10"/>
          <p:cNvSpPr/>
          <p:nvPr/>
        </p:nvSpPr>
        <p:spPr>
          <a:xfrm>
            <a:off x="5280184" y="5303401"/>
            <a:ext cx="4069913" cy="444579"/>
          </a:xfrm>
          <a:prstGeom prst="rect">
            <a:avLst/>
          </a:prstGeom>
          <a:noFill/>
          <a:ln/>
        </p:spPr>
        <p:txBody>
          <a:bodyPr wrap="square" lIns="0" tIns="0" rIns="0" bIns="0" rtlCol="0" anchor="t"/>
          <a:lstStyle/>
          <a:p>
            <a:pPr marL="342900" indent="-342900" algn="l">
              <a:lnSpc>
                <a:spcPts val="1750"/>
              </a:lnSpc>
              <a:buSzPct val="100000"/>
              <a:buFont typeface="+mj-lt"/>
              <a:buAutoNum type="arabicPeriod"/>
            </a:pPr>
            <a:r>
              <a:rPr lang="en-US" sz="1050" dirty="0">
                <a:solidFill>
                  <a:srgbClr val="000000"/>
                </a:solidFill>
                <a:latin typeface="Inter" pitchFamily="34" charset="0"/>
                <a:ea typeface="Inter" pitchFamily="34" charset="-122"/>
                <a:cs typeface="Inter" pitchFamily="34" charset="-120"/>
              </a:rPr>
              <a:t>Échec pragmatique : incapacité à comprendre le "voulu" par le "dit" (contexte culturel implicite)</a:t>
            </a:r>
            <a:endParaRPr lang="en-US" sz="1050" dirty="0"/>
          </a:p>
        </p:txBody>
      </p:sp>
      <p:sp>
        <p:nvSpPr>
          <p:cNvPr id="15" name="Text 11"/>
          <p:cNvSpPr/>
          <p:nvPr/>
        </p:nvSpPr>
        <p:spPr>
          <a:xfrm>
            <a:off x="5280184" y="5796558"/>
            <a:ext cx="4069913" cy="444579"/>
          </a:xfrm>
          <a:prstGeom prst="rect">
            <a:avLst/>
          </a:prstGeom>
          <a:noFill/>
          <a:ln/>
        </p:spPr>
        <p:txBody>
          <a:bodyPr wrap="square" lIns="0" tIns="0" rIns="0" bIns="0" rtlCol="0" anchor="t"/>
          <a:lstStyle/>
          <a:p>
            <a:pPr marL="342900" indent="-342900" algn="l">
              <a:lnSpc>
                <a:spcPts val="1750"/>
              </a:lnSpc>
              <a:buSzPct val="100000"/>
              <a:buFont typeface="+mj-lt"/>
              <a:buAutoNum type="arabicPeriod" startAt="2"/>
            </a:pPr>
            <a:r>
              <a:rPr lang="en-US" sz="1050" dirty="0">
                <a:solidFill>
                  <a:srgbClr val="000000"/>
                </a:solidFill>
                <a:latin typeface="Inter" pitchFamily="34" charset="0"/>
                <a:ea typeface="Inter" pitchFamily="34" charset="-122"/>
                <a:cs typeface="Inter" pitchFamily="34" charset="-120"/>
              </a:rPr>
              <a:t>Directivité &amp; Sentiment : la directivité allemande est incorrectement classée "négative" par un modèle anglais</a:t>
            </a:r>
            <a:endParaRPr lang="en-US" sz="1050" dirty="0"/>
          </a:p>
        </p:txBody>
      </p:sp>
      <p:sp>
        <p:nvSpPr>
          <p:cNvPr id="16" name="Text 12"/>
          <p:cNvSpPr/>
          <p:nvPr/>
        </p:nvSpPr>
        <p:spPr>
          <a:xfrm>
            <a:off x="5280184" y="6289715"/>
            <a:ext cx="4069913" cy="444579"/>
          </a:xfrm>
          <a:prstGeom prst="rect">
            <a:avLst/>
          </a:prstGeom>
          <a:noFill/>
          <a:ln/>
        </p:spPr>
        <p:txBody>
          <a:bodyPr wrap="square" lIns="0" tIns="0" rIns="0" bIns="0" rtlCol="0" anchor="t"/>
          <a:lstStyle/>
          <a:p>
            <a:pPr marL="342900" indent="-342900" algn="l">
              <a:lnSpc>
                <a:spcPts val="1750"/>
              </a:lnSpc>
              <a:buSzPct val="100000"/>
              <a:buFont typeface="+mj-lt"/>
              <a:buAutoNum type="arabicPeriod" startAt="3"/>
            </a:pPr>
            <a:r>
              <a:rPr lang="en-US" sz="1050" dirty="0">
                <a:solidFill>
                  <a:srgbClr val="000000"/>
                </a:solidFill>
                <a:latin typeface="Inter" pitchFamily="34" charset="0"/>
                <a:ea typeface="Inter" pitchFamily="34" charset="-122"/>
                <a:cs typeface="Inter" pitchFamily="34" charset="-120"/>
              </a:rPr>
              <a:t>Expression émotionnelle : le ratio mots positifs/négatifs varie significativement d'une culture à l'autre</a:t>
            </a:r>
            <a:endParaRPr lang="en-US" sz="1050" dirty="0"/>
          </a:p>
        </p:txBody>
      </p:sp>
      <p:sp>
        <p:nvSpPr>
          <p:cNvPr id="17" name="Text 13"/>
          <p:cNvSpPr/>
          <p:nvPr/>
        </p:nvSpPr>
        <p:spPr>
          <a:xfrm>
            <a:off x="5280184" y="6817638"/>
            <a:ext cx="4069913" cy="66686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Solution :</a:t>
            </a:r>
            <a:r>
              <a:rPr lang="en-US" sz="1050" dirty="0">
                <a:solidFill>
                  <a:srgbClr val="000000"/>
                </a:solidFill>
                <a:latin typeface="Inter" pitchFamily="34" charset="0"/>
                <a:ea typeface="Inter" pitchFamily="34" charset="-122"/>
                <a:cs typeface="Inter" pitchFamily="34" charset="-120"/>
              </a:rPr>
              <a:t> Formation de modèles NLP spécialisés sur des corpus régionaux authentiques (pas un modèle global unique inadapté).</a:t>
            </a:r>
            <a:endParaRPr lang="en-US" sz="1050" dirty="0"/>
          </a:p>
        </p:txBody>
      </p:sp>
      <p:pic>
        <p:nvPicPr>
          <p:cNvPr id="18" name="Image 2" descr="preencoded.png"/>
          <p:cNvPicPr>
            <a:picLocks noChangeAspect="1"/>
          </p:cNvPicPr>
          <p:nvPr/>
        </p:nvPicPr>
        <p:blipFill>
          <a:blip r:embed="rId5"/>
          <a:stretch>
            <a:fillRect/>
          </a:stretch>
        </p:blipFill>
        <p:spPr>
          <a:xfrm>
            <a:off x="9488924" y="2141220"/>
            <a:ext cx="4347567" cy="555665"/>
          </a:xfrm>
          <a:prstGeom prst="rect">
            <a:avLst/>
          </a:prstGeom>
        </p:spPr>
      </p:pic>
      <p:sp>
        <p:nvSpPr>
          <p:cNvPr id="19" name="Text 14"/>
          <p:cNvSpPr/>
          <p:nvPr/>
        </p:nvSpPr>
        <p:spPr>
          <a:xfrm>
            <a:off x="9627751" y="2835712"/>
            <a:ext cx="2719864"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Couche 3 : Stack LVMH Éprouvé</a:t>
            </a:r>
            <a:endParaRPr lang="en-US" sz="1350" dirty="0"/>
          </a:p>
        </p:txBody>
      </p:sp>
      <p:sp>
        <p:nvSpPr>
          <p:cNvPr id="20" name="Text 15"/>
          <p:cNvSpPr/>
          <p:nvPr/>
        </p:nvSpPr>
        <p:spPr>
          <a:xfrm>
            <a:off x="9627751" y="3136106"/>
            <a:ext cx="4069913" cy="66686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Vertex AI (Google Cloud) :</a:t>
            </a:r>
            <a:r>
              <a:rPr lang="en-US" sz="1050" dirty="0">
                <a:solidFill>
                  <a:srgbClr val="000000"/>
                </a:solidFill>
                <a:latin typeface="Inter" pitchFamily="34" charset="0"/>
                <a:ea typeface="Inter" pitchFamily="34" charset="-122"/>
                <a:cs typeface="Inter" pitchFamily="34" charset="-120"/>
              </a:rPr>
              <a:t> Moteur de recommandations en temps réel. Cas documenté Central Group Thaïlande : +10% de taux de conversion, -94% de temps de recherche produit.</a:t>
            </a:r>
            <a:endParaRPr lang="en-US" sz="1050" dirty="0"/>
          </a:p>
        </p:txBody>
      </p:sp>
      <p:sp>
        <p:nvSpPr>
          <p:cNvPr id="21" name="Text 16"/>
          <p:cNvSpPr/>
          <p:nvPr/>
        </p:nvSpPr>
        <p:spPr>
          <a:xfrm>
            <a:off x="9627751" y="3886319"/>
            <a:ext cx="4069913" cy="66686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Dataiku :</a:t>
            </a:r>
            <a:r>
              <a:rPr lang="en-US" sz="1050" dirty="0">
                <a:solidFill>
                  <a:srgbClr val="000000"/>
                </a:solidFill>
                <a:latin typeface="Inter" pitchFamily="34" charset="0"/>
                <a:ea typeface="Inter" pitchFamily="34" charset="-122"/>
                <a:cs typeface="Inter" pitchFamily="34" charset="-120"/>
              </a:rPr>
              <a:t> Plateforme de segmentation stratégique, surveillance automatisée des "changements de segments" clients (détection précoce des shifts comportementaux).</a:t>
            </a:r>
            <a:endParaRPr lang="en-US" sz="1050" dirty="0"/>
          </a:p>
        </p:txBody>
      </p:sp>
      <p:sp>
        <p:nvSpPr>
          <p:cNvPr id="22" name="Text 17"/>
          <p:cNvSpPr/>
          <p:nvPr/>
        </p:nvSpPr>
        <p:spPr>
          <a:xfrm>
            <a:off x="9627751" y="4636532"/>
            <a:ext cx="4069913" cy="889159"/>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MaIA (Assistant IA LVMH) :</a:t>
            </a:r>
            <a:r>
              <a:rPr lang="en-US" sz="1050" dirty="0">
                <a:solidFill>
                  <a:srgbClr val="000000"/>
                </a:solidFill>
                <a:latin typeface="Inter" pitchFamily="34" charset="0"/>
                <a:ea typeface="Inter" pitchFamily="34" charset="-122"/>
                <a:cs typeface="Inter" pitchFamily="34" charset="-120"/>
              </a:rPr>
              <a:t> Déjà utilisé par 40,000 collaborateurs groupe. Extension possible comme copilote Care Agent (insights contextuels en temps réel pendant l'interaction client).</a:t>
            </a:r>
            <a:endParaRPr lang="en-US" sz="1050" dirty="0"/>
          </a:p>
        </p:txBody>
      </p:sp>
      <p:sp>
        <p:nvSpPr>
          <p:cNvPr id="23" name="Shape 18"/>
          <p:cNvSpPr/>
          <p:nvPr/>
        </p:nvSpPr>
        <p:spPr>
          <a:xfrm>
            <a:off x="9627751" y="5751281"/>
            <a:ext cx="4069913" cy="24884"/>
          </a:xfrm>
          <a:prstGeom prst="rect">
            <a:avLst/>
          </a:prstGeom>
          <a:solidFill>
            <a:srgbClr val="000000">
              <a:alpha val="50000"/>
            </a:srgbClr>
          </a:solidFill>
          <a:ln/>
        </p:spPr>
        <p:txBody>
          <a:bodyPr/>
          <a:lstStyle/>
          <a:p>
            <a:endParaRPr lang="fr-CH"/>
          </a:p>
        </p:txBody>
      </p:sp>
      <p:sp>
        <p:nvSpPr>
          <p:cNvPr id="24" name="Text 19"/>
          <p:cNvSpPr/>
          <p:nvPr/>
        </p:nvSpPr>
        <p:spPr>
          <a:xfrm>
            <a:off x="9627751" y="5932289"/>
            <a:ext cx="4069913" cy="1111448"/>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Inter" pitchFamily="34" charset="0"/>
                <a:ea typeface="Inter" pitchFamily="34" charset="-122"/>
                <a:cs typeface="Inter" pitchFamily="34" charset="-120"/>
              </a:rPr>
              <a:t>Architecture Fédérée :</a:t>
            </a:r>
            <a:r>
              <a:rPr lang="en-US" sz="1050" dirty="0">
                <a:solidFill>
                  <a:srgbClr val="000000"/>
                </a:solidFill>
                <a:latin typeface="Inter" pitchFamily="34" charset="0"/>
                <a:ea typeface="Inter" pitchFamily="34" charset="-122"/>
                <a:cs typeface="Inter" pitchFamily="34" charset="-120"/>
              </a:rPr>
              <a:t> Modèles régionaux spécialisés (APAC, EMEA, Americas) respectant la conformité GDPR/PIPL by design. Les données restent stockées localement dans leur région d'origine, seuls les agrégats anonymisés sont centralisés pour l'apprentissage global.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2343" y="624959"/>
            <a:ext cx="7022068" cy="331232"/>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Inter Bold" pitchFamily="34" charset="0"/>
                <a:ea typeface="Inter Bold" pitchFamily="34" charset="-122"/>
                <a:cs typeface="Inter Bold" pitchFamily="34" charset="-120"/>
              </a:rPr>
              <a:t>Les 4 Profils Comportementaux Intelligents Régionaux</a:t>
            </a:r>
            <a:endParaRPr lang="en-US" sz="2050" dirty="0"/>
          </a:p>
        </p:txBody>
      </p:sp>
      <p:sp>
        <p:nvSpPr>
          <p:cNvPr id="3" name="Text 1"/>
          <p:cNvSpPr/>
          <p:nvPr/>
        </p:nvSpPr>
        <p:spPr>
          <a:xfrm>
            <a:off x="652343" y="1168122"/>
            <a:ext cx="13325713" cy="339090"/>
          </a:xfrm>
          <a:prstGeom prst="rect">
            <a:avLst/>
          </a:prstGeom>
          <a:noFill/>
          <a:ln/>
        </p:spPr>
        <p:txBody>
          <a:bodyPr wrap="squar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Ces profils représentent des </a:t>
            </a:r>
            <a:r>
              <a:rPr lang="en-US" sz="800" b="1" dirty="0">
                <a:solidFill>
                  <a:srgbClr val="000000"/>
                </a:solidFill>
                <a:latin typeface="Inter" pitchFamily="34" charset="0"/>
                <a:ea typeface="Inter" pitchFamily="34" charset="-122"/>
                <a:cs typeface="Inter" pitchFamily="34" charset="-120"/>
              </a:rPr>
              <a:t>hypothèses de patterns comportementaux observés</a:t>
            </a:r>
            <a:r>
              <a:rPr lang="en-US" sz="800" dirty="0">
                <a:solidFill>
                  <a:srgbClr val="000000"/>
                </a:solidFill>
                <a:latin typeface="Inter" pitchFamily="34" charset="0"/>
                <a:ea typeface="Inter" pitchFamily="34" charset="-122"/>
                <a:cs typeface="Inter" pitchFamily="34" charset="-120"/>
              </a:rPr>
              <a:t> (et non des stéréotypes culturels déterministes). Leur utilisation opérationnelle se fait exclusivement via des tests A/B rigoureux permettant la validation du comportement réel observé versus l'hypothèse initiale. Chaque pattern peut être invalidé ou affiné en continu.</a:t>
            </a:r>
            <a:endParaRPr lang="en-US" sz="800" dirty="0"/>
          </a:p>
        </p:txBody>
      </p:sp>
      <p:sp>
        <p:nvSpPr>
          <p:cNvPr id="4" name="Shape 2"/>
          <p:cNvSpPr/>
          <p:nvPr/>
        </p:nvSpPr>
        <p:spPr>
          <a:xfrm>
            <a:off x="652343" y="1626394"/>
            <a:ext cx="6609874" cy="2766536"/>
          </a:xfrm>
          <a:prstGeom prst="roundRect">
            <a:avLst>
              <a:gd name="adj" fmla="val 1610"/>
            </a:avLst>
          </a:prstGeom>
          <a:solidFill>
            <a:srgbClr val="008150"/>
          </a:solidFill>
          <a:ln w="7620">
            <a:solidFill>
              <a:srgbClr val="008150"/>
            </a:solidFill>
            <a:prstDash val="solid"/>
          </a:ln>
        </p:spPr>
        <p:txBody>
          <a:bodyPr/>
          <a:lstStyle/>
          <a:p>
            <a:endParaRPr lang="fr-CH"/>
          </a:p>
        </p:txBody>
      </p:sp>
      <p:sp>
        <p:nvSpPr>
          <p:cNvPr id="5" name="Shape 3"/>
          <p:cNvSpPr/>
          <p:nvPr/>
        </p:nvSpPr>
        <p:spPr>
          <a:xfrm>
            <a:off x="765929" y="1739979"/>
            <a:ext cx="318016" cy="318016"/>
          </a:xfrm>
          <a:prstGeom prst="roundRect">
            <a:avLst>
              <a:gd name="adj" fmla="val 28750395"/>
            </a:avLst>
          </a:prstGeom>
          <a:solidFill>
            <a:srgbClr val="008150"/>
          </a:solidFill>
          <a:ln/>
        </p:spPr>
        <p:txBody>
          <a:bodyPr/>
          <a:lstStyle/>
          <a:p>
            <a:endParaRPr lang="fr-CH"/>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3321" y="1827371"/>
            <a:ext cx="143113" cy="143113"/>
          </a:xfrm>
          <a:prstGeom prst="rect">
            <a:avLst/>
          </a:prstGeom>
        </p:spPr>
      </p:pic>
      <p:sp>
        <p:nvSpPr>
          <p:cNvPr id="7" name="Text 4"/>
          <p:cNvSpPr/>
          <p:nvPr/>
        </p:nvSpPr>
        <p:spPr>
          <a:xfrm>
            <a:off x="765929" y="2163961"/>
            <a:ext cx="2624376" cy="165616"/>
          </a:xfrm>
          <a:prstGeom prst="rect">
            <a:avLst/>
          </a:prstGeom>
          <a:noFill/>
          <a:ln/>
        </p:spPr>
        <p:txBody>
          <a:bodyPr wrap="none" lIns="0" tIns="0" rIns="0" bIns="0" rtlCol="0" anchor="t"/>
          <a:lstStyle/>
          <a:p>
            <a:pPr marL="0" indent="0" algn="l">
              <a:lnSpc>
                <a:spcPts val="1300"/>
              </a:lnSpc>
              <a:buNone/>
            </a:pPr>
            <a:r>
              <a:rPr lang="en-US" sz="1000" b="1" dirty="0">
                <a:solidFill>
                  <a:srgbClr val="FFFFFF"/>
                </a:solidFill>
                <a:latin typeface="Inter Bold" pitchFamily="34" charset="0"/>
                <a:ea typeface="Inter Bold" pitchFamily="34" charset="-122"/>
                <a:cs typeface="Inter Bold" pitchFamily="34" charset="-120"/>
              </a:rPr>
              <a:t>Japon : Omotenashi (Service Anticipatif)</a:t>
            </a:r>
            <a:endParaRPr lang="en-US" sz="1000" dirty="0"/>
          </a:p>
        </p:txBody>
      </p:sp>
      <p:sp>
        <p:nvSpPr>
          <p:cNvPr id="8" name="Text 5"/>
          <p:cNvSpPr/>
          <p:nvPr/>
        </p:nvSpPr>
        <p:spPr>
          <a:xfrm>
            <a:off x="765929" y="2393156"/>
            <a:ext cx="6382703" cy="339090"/>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Moteur culturel :</a:t>
            </a:r>
            <a:r>
              <a:rPr lang="en-US" sz="800" dirty="0">
                <a:solidFill>
                  <a:srgbClr val="FFFFFF"/>
                </a:solidFill>
                <a:latin typeface="Inter" pitchFamily="34" charset="0"/>
                <a:ea typeface="Inter" pitchFamily="34" charset="-122"/>
                <a:cs typeface="Inter" pitchFamily="34" charset="-120"/>
              </a:rPr>
              <a:t> Hospitalité anticipative désintéressée profondément ancrée. Attente que le service anticipe les besoins avant même leur formulation explicite par le client.</a:t>
            </a:r>
            <a:endParaRPr lang="en-US" sz="800" dirty="0"/>
          </a:p>
        </p:txBody>
      </p:sp>
      <p:sp>
        <p:nvSpPr>
          <p:cNvPr id="9" name="Text 6"/>
          <p:cNvSpPr/>
          <p:nvPr/>
        </p:nvSpPr>
        <p:spPr>
          <a:xfrm>
            <a:off x="765929" y="2795826"/>
            <a:ext cx="6382703" cy="169545"/>
          </a:xfrm>
          <a:prstGeom prst="rect">
            <a:avLst/>
          </a:prstGeom>
          <a:noFill/>
          <a:ln/>
        </p:spPr>
        <p:txBody>
          <a:bodyPr wrap="non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Fonction IA :</a:t>
            </a:r>
            <a:r>
              <a:rPr lang="en-US" sz="800" dirty="0">
                <a:solidFill>
                  <a:srgbClr val="FFFFFF"/>
                </a:solidFill>
                <a:latin typeface="Inter" pitchFamily="34" charset="0"/>
                <a:ea typeface="Inter" pitchFamily="34" charset="-122"/>
                <a:cs typeface="Inter" pitchFamily="34" charset="-120"/>
              </a:rPr>
              <a:t> Moteur de Service Anticipatif alimentant discrètement la tablette du conseiller en boutique.</a:t>
            </a:r>
            <a:endParaRPr lang="en-US" sz="800" dirty="0"/>
          </a:p>
        </p:txBody>
      </p:sp>
      <p:sp>
        <p:nvSpPr>
          <p:cNvPr id="10" name="Text 7"/>
          <p:cNvSpPr/>
          <p:nvPr/>
        </p:nvSpPr>
        <p:spPr>
          <a:xfrm>
            <a:off x="765929" y="3028950"/>
            <a:ext cx="6382703" cy="678180"/>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Exemple concret :</a:t>
            </a:r>
            <a:r>
              <a:rPr lang="en-US" sz="800" dirty="0">
                <a:solidFill>
                  <a:srgbClr val="FFFFFF"/>
                </a:solidFill>
                <a:latin typeface="Inter" pitchFamily="34" charset="0"/>
                <a:ea typeface="Inter" pitchFamily="34" charset="-122"/>
                <a:cs typeface="Inter" pitchFamily="34" charset="-120"/>
              </a:rPr>
              <a:t> M. Tanaka arrive pour un entretien de montre programmé. L'IA fournit au Care Agent en temps réel : historique complet des achats (préférence marquée pour les Carrera au design épuré), recommandation proactive du nouveau modèle Glassbox (aligné sur son goût pour l'héritage horloger), anti-recommandation explicite de la Formula 1 (style trop sportif pour son profil), préférence personnelle documentée (thé vert sencha).</a:t>
            </a:r>
            <a:endParaRPr lang="en-US" sz="800" dirty="0"/>
          </a:p>
        </p:txBody>
      </p:sp>
      <p:sp>
        <p:nvSpPr>
          <p:cNvPr id="11" name="Text 8"/>
          <p:cNvSpPr/>
          <p:nvPr/>
        </p:nvSpPr>
        <p:spPr>
          <a:xfrm>
            <a:off x="765929" y="3770709"/>
            <a:ext cx="6382703" cy="339090"/>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a:t>
            </a:r>
            <a:r>
              <a:rPr lang="en-US" sz="800" dirty="0">
                <a:solidFill>
                  <a:srgbClr val="FFFFFF"/>
                </a:solidFill>
                <a:latin typeface="Inter" pitchFamily="34" charset="0"/>
                <a:ea typeface="Inter" pitchFamily="34" charset="-122"/>
                <a:cs typeface="Inter" pitchFamily="34" charset="-120"/>
              </a:rPr>
              <a:t> Service anticipatif parfait avec zéro friction perceptible. </a:t>
            </a:r>
            <a:r>
              <a:rPr lang="en-US" sz="800" b="1" dirty="0">
                <a:solidFill>
                  <a:srgbClr val="E3001D"/>
                </a:solidFill>
                <a:latin typeface="Inter" pitchFamily="34" charset="0"/>
                <a:ea typeface="Inter" pitchFamily="34" charset="-122"/>
                <a:cs typeface="Inter" pitchFamily="34" charset="-120"/>
              </a:rPr>
              <a:t>Risque d'échec :</a:t>
            </a:r>
            <a:r>
              <a:rPr lang="en-US" sz="800" dirty="0">
                <a:solidFill>
                  <a:srgbClr val="FFFFFF"/>
                </a:solidFill>
                <a:latin typeface="Inter" pitchFamily="34" charset="0"/>
                <a:ea typeface="Inter" pitchFamily="34" charset="-122"/>
                <a:cs typeface="Inter" pitchFamily="34" charset="-120"/>
              </a:rPr>
              <a:t> Service perçu comme non authentique ou robotisé si mal exécuté.</a:t>
            </a:r>
            <a:endParaRPr lang="en-US" sz="800" dirty="0"/>
          </a:p>
        </p:txBody>
      </p:sp>
      <p:sp>
        <p:nvSpPr>
          <p:cNvPr id="12" name="Shape 9"/>
          <p:cNvSpPr/>
          <p:nvPr/>
        </p:nvSpPr>
        <p:spPr>
          <a:xfrm>
            <a:off x="7368183" y="1626394"/>
            <a:ext cx="6609874" cy="2766536"/>
          </a:xfrm>
          <a:prstGeom prst="roundRect">
            <a:avLst>
              <a:gd name="adj" fmla="val 1610"/>
            </a:avLst>
          </a:prstGeom>
          <a:solidFill>
            <a:srgbClr val="008150"/>
          </a:solidFill>
          <a:ln w="7620">
            <a:solidFill>
              <a:srgbClr val="E3001D"/>
            </a:solidFill>
            <a:prstDash val="solid"/>
          </a:ln>
        </p:spPr>
        <p:txBody>
          <a:bodyPr/>
          <a:lstStyle/>
          <a:p>
            <a:endParaRPr lang="fr-CH"/>
          </a:p>
        </p:txBody>
      </p:sp>
      <p:sp>
        <p:nvSpPr>
          <p:cNvPr id="13" name="Shape 10"/>
          <p:cNvSpPr/>
          <p:nvPr/>
        </p:nvSpPr>
        <p:spPr>
          <a:xfrm>
            <a:off x="7481768" y="1739979"/>
            <a:ext cx="318016" cy="318016"/>
          </a:xfrm>
          <a:prstGeom prst="roundRect">
            <a:avLst>
              <a:gd name="adj" fmla="val 28750395"/>
            </a:avLst>
          </a:prstGeom>
          <a:solidFill>
            <a:srgbClr val="E3001D"/>
          </a:solidFill>
          <a:ln/>
        </p:spPr>
        <p:txBody>
          <a:bodyPr/>
          <a:lstStyle/>
          <a:p>
            <a:endParaRPr lang="fr-CH"/>
          </a:p>
        </p:txBody>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69160" y="1827371"/>
            <a:ext cx="143113" cy="143113"/>
          </a:xfrm>
          <a:prstGeom prst="rect">
            <a:avLst/>
          </a:prstGeom>
        </p:spPr>
      </p:pic>
      <p:sp>
        <p:nvSpPr>
          <p:cNvPr id="15" name="Text 11"/>
          <p:cNvSpPr/>
          <p:nvPr/>
        </p:nvSpPr>
        <p:spPr>
          <a:xfrm>
            <a:off x="7481768" y="2163961"/>
            <a:ext cx="2882503" cy="165616"/>
          </a:xfrm>
          <a:prstGeom prst="rect">
            <a:avLst/>
          </a:prstGeom>
          <a:noFill/>
          <a:ln/>
        </p:spPr>
        <p:txBody>
          <a:bodyPr wrap="none" lIns="0" tIns="0" rIns="0" bIns="0" rtlCol="0" anchor="t"/>
          <a:lstStyle/>
          <a:p>
            <a:pPr marL="0" indent="0" algn="l">
              <a:lnSpc>
                <a:spcPts val="1300"/>
              </a:lnSpc>
              <a:buNone/>
            </a:pPr>
            <a:r>
              <a:rPr lang="en-US" sz="1000" b="1" dirty="0">
                <a:solidFill>
                  <a:srgbClr val="FFFFFF"/>
                </a:solidFill>
                <a:latin typeface="Inter Bold" pitchFamily="34" charset="0"/>
                <a:ea typeface="Inter Bold" pitchFamily="34" charset="-122"/>
                <a:cs typeface="Inter Bold" pitchFamily="34" charset="-120"/>
              </a:rPr>
              <a:t>Chine : Excellence Service + Word-of-Mouth</a:t>
            </a:r>
            <a:endParaRPr lang="en-US" sz="1000" dirty="0"/>
          </a:p>
        </p:txBody>
      </p:sp>
      <p:sp>
        <p:nvSpPr>
          <p:cNvPr id="16" name="Text 12"/>
          <p:cNvSpPr/>
          <p:nvPr/>
        </p:nvSpPr>
        <p:spPr>
          <a:xfrm>
            <a:off x="7481768" y="2393156"/>
            <a:ext cx="6382703" cy="508635"/>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Moteur culturel :</a:t>
            </a:r>
            <a:r>
              <a:rPr lang="en-US" sz="800" dirty="0">
                <a:solidFill>
                  <a:srgbClr val="FFFFFF"/>
                </a:solidFill>
                <a:latin typeface="Inter" pitchFamily="34" charset="0"/>
                <a:ea typeface="Inter" pitchFamily="34" charset="-122"/>
                <a:cs typeface="Inter" pitchFamily="34" charset="-120"/>
              </a:rPr>
              <a:t> Impulsivité d'achat élevée (décision finale en moins de 24h typiquement) combinée à une sensibilité extrême à la preuve sociale. Le Word-of-Mouth d'amis et famille = facteur d'influence #1 absolu. Insatisfaction documentée "Mainland Mismatch" (service en Chine continentale perçu systématiquement inférieur au service international).</a:t>
            </a:r>
            <a:endParaRPr lang="en-US" sz="800" dirty="0"/>
          </a:p>
        </p:txBody>
      </p:sp>
      <p:sp>
        <p:nvSpPr>
          <p:cNvPr id="17" name="Text 13"/>
          <p:cNvSpPr/>
          <p:nvPr/>
        </p:nvSpPr>
        <p:spPr>
          <a:xfrm>
            <a:off x="7481768" y="2965371"/>
            <a:ext cx="6382703" cy="169545"/>
          </a:xfrm>
          <a:prstGeom prst="rect">
            <a:avLst/>
          </a:prstGeom>
          <a:noFill/>
          <a:ln/>
        </p:spPr>
        <p:txBody>
          <a:bodyPr wrap="non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Fonction IA :</a:t>
            </a:r>
            <a:r>
              <a:rPr lang="en-US" sz="800" dirty="0">
                <a:solidFill>
                  <a:srgbClr val="FFFFFF"/>
                </a:solidFill>
                <a:latin typeface="Inter" pitchFamily="34" charset="0"/>
                <a:ea typeface="Inter" pitchFamily="34" charset="-122"/>
                <a:cs typeface="Inter" pitchFamily="34" charset="-120"/>
              </a:rPr>
              <a:t> Prévention proactive du "Mainland Mismatch" + Écoute sociale en temps réel des signaux d'intention.</a:t>
            </a:r>
            <a:endParaRPr lang="en-US" sz="800" dirty="0"/>
          </a:p>
        </p:txBody>
      </p:sp>
      <p:sp>
        <p:nvSpPr>
          <p:cNvPr id="18" name="Text 14"/>
          <p:cNvSpPr/>
          <p:nvPr/>
        </p:nvSpPr>
        <p:spPr>
          <a:xfrm>
            <a:off x="7481768" y="3198495"/>
            <a:ext cx="6382703" cy="678180"/>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Exemple concret :</a:t>
            </a:r>
            <a:r>
              <a:rPr lang="en-US" sz="800" dirty="0">
                <a:solidFill>
                  <a:srgbClr val="FFFFFF"/>
                </a:solidFill>
                <a:latin typeface="Inter" pitchFamily="34" charset="0"/>
                <a:ea typeface="Inter" pitchFamily="34" charset="-122"/>
                <a:cs typeface="Inter" pitchFamily="34" charset="-120"/>
              </a:rPr>
              <a:t> Mme Chen browse le site pendant 20 minutes avec un engagement comportemental élevé mais sans finaliser d'achat. L'IA détecte un pattern caractéristique "recherche de Word-of-Mouth" (4 minutes passées à lire attentivement les reviews clients). Action déclenchée : Appel proactif du Care Agent 30 minutes après la session, offrant des témoignages authentiques de clients satisfaits basés à Shanghai + invitation à un événement privé avec ambassadeurs de marque locaux.</a:t>
            </a:r>
            <a:endParaRPr lang="en-US" sz="800" dirty="0"/>
          </a:p>
        </p:txBody>
      </p:sp>
      <p:sp>
        <p:nvSpPr>
          <p:cNvPr id="19" name="Text 15"/>
          <p:cNvSpPr/>
          <p:nvPr/>
        </p:nvSpPr>
        <p:spPr>
          <a:xfrm>
            <a:off x="7481768" y="3940254"/>
            <a:ext cx="6382703" cy="339090"/>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a:t>
            </a:r>
            <a:r>
              <a:rPr lang="en-US" sz="800" dirty="0">
                <a:solidFill>
                  <a:srgbClr val="FFFFFF"/>
                </a:solidFill>
                <a:latin typeface="Inter" pitchFamily="34" charset="0"/>
                <a:ea typeface="Inter" pitchFamily="34" charset="-122"/>
                <a:cs typeface="Inter" pitchFamily="34" charset="-120"/>
              </a:rPr>
              <a:t> Réassurance sociale fournie, prévention du "Mainland Mismatch", conversion du trafic online vers visite en boutique. </a:t>
            </a:r>
            <a:r>
              <a:rPr lang="en-US" sz="800" b="1" dirty="0">
                <a:solidFill>
                  <a:srgbClr val="E3001D"/>
                </a:solidFill>
                <a:latin typeface="Inter" pitchFamily="34" charset="0"/>
                <a:ea typeface="Inter" pitchFamily="34" charset="-122"/>
                <a:cs typeface="Inter" pitchFamily="34" charset="-120"/>
              </a:rPr>
              <a:t>Risque d'échec :</a:t>
            </a:r>
            <a:r>
              <a:rPr lang="en-US" sz="800" dirty="0">
                <a:solidFill>
                  <a:srgbClr val="FFFFFF"/>
                </a:solidFill>
                <a:latin typeface="Inter" pitchFamily="34" charset="0"/>
                <a:ea typeface="Inter" pitchFamily="34" charset="-122"/>
                <a:cs typeface="Inter" pitchFamily="34" charset="-120"/>
              </a:rPr>
              <a:t> Reproduire involontairement le "Mainland Mismatch" redouté.</a:t>
            </a:r>
            <a:endParaRPr lang="en-US" sz="800" dirty="0"/>
          </a:p>
        </p:txBody>
      </p:sp>
      <p:sp>
        <p:nvSpPr>
          <p:cNvPr id="20" name="Shape 16"/>
          <p:cNvSpPr/>
          <p:nvPr/>
        </p:nvSpPr>
        <p:spPr>
          <a:xfrm>
            <a:off x="652343" y="4498896"/>
            <a:ext cx="6609874" cy="3105626"/>
          </a:xfrm>
          <a:prstGeom prst="roundRect">
            <a:avLst>
              <a:gd name="adj" fmla="val 1434"/>
            </a:avLst>
          </a:prstGeom>
          <a:solidFill>
            <a:srgbClr val="008150"/>
          </a:solidFill>
          <a:ln w="7620">
            <a:solidFill>
              <a:srgbClr val="008150"/>
            </a:solidFill>
            <a:prstDash val="solid"/>
          </a:ln>
        </p:spPr>
        <p:txBody>
          <a:bodyPr/>
          <a:lstStyle/>
          <a:p>
            <a:endParaRPr lang="fr-CH"/>
          </a:p>
        </p:txBody>
      </p:sp>
      <p:sp>
        <p:nvSpPr>
          <p:cNvPr id="21" name="Shape 17"/>
          <p:cNvSpPr/>
          <p:nvPr/>
        </p:nvSpPr>
        <p:spPr>
          <a:xfrm>
            <a:off x="765929" y="4612481"/>
            <a:ext cx="318016" cy="318016"/>
          </a:xfrm>
          <a:prstGeom prst="roundRect">
            <a:avLst>
              <a:gd name="adj" fmla="val 28750395"/>
            </a:avLst>
          </a:prstGeom>
          <a:solidFill>
            <a:srgbClr val="008150"/>
          </a:solidFill>
          <a:ln/>
        </p:spPr>
        <p:txBody>
          <a:bodyPr/>
          <a:lstStyle/>
          <a:p>
            <a:endParaRPr lang="fr-CH"/>
          </a:p>
        </p:txBody>
      </p:sp>
      <p:pic>
        <p:nvPicPr>
          <p:cNvPr id="2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3321" y="4699873"/>
            <a:ext cx="143113" cy="143113"/>
          </a:xfrm>
          <a:prstGeom prst="rect">
            <a:avLst/>
          </a:prstGeom>
        </p:spPr>
      </p:pic>
      <p:sp>
        <p:nvSpPr>
          <p:cNvPr id="23" name="Text 18"/>
          <p:cNvSpPr/>
          <p:nvPr/>
        </p:nvSpPr>
        <p:spPr>
          <a:xfrm>
            <a:off x="765929" y="5036463"/>
            <a:ext cx="3182541" cy="165616"/>
          </a:xfrm>
          <a:prstGeom prst="rect">
            <a:avLst/>
          </a:prstGeom>
          <a:noFill/>
          <a:ln/>
        </p:spPr>
        <p:txBody>
          <a:bodyPr wrap="none" lIns="0" tIns="0" rIns="0" bIns="0" rtlCol="0" anchor="t"/>
          <a:lstStyle/>
          <a:p>
            <a:pPr marL="0" indent="0" algn="l">
              <a:lnSpc>
                <a:spcPts val="1300"/>
              </a:lnSpc>
              <a:buNone/>
            </a:pPr>
            <a:r>
              <a:rPr lang="en-US" sz="1000" b="1" dirty="0">
                <a:solidFill>
                  <a:srgbClr val="FFFFFF"/>
                </a:solidFill>
                <a:latin typeface="Inter Bold" pitchFamily="34" charset="0"/>
                <a:ea typeface="Inter Bold" pitchFamily="34" charset="-122"/>
                <a:cs typeface="Inter Bold" pitchFamily="34" charset="-120"/>
              </a:rPr>
              <a:t>CCG (Moyen-Orient) : Reconnaissance Statut VIP</a:t>
            </a:r>
            <a:endParaRPr lang="en-US" sz="1000" dirty="0"/>
          </a:p>
        </p:txBody>
      </p:sp>
      <p:sp>
        <p:nvSpPr>
          <p:cNvPr id="24" name="Text 19"/>
          <p:cNvSpPr/>
          <p:nvPr/>
        </p:nvSpPr>
        <p:spPr>
          <a:xfrm>
            <a:off x="765929" y="5265658"/>
            <a:ext cx="6382703" cy="339090"/>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Moteur culturel :</a:t>
            </a:r>
            <a:r>
              <a:rPr lang="en-US" sz="800" dirty="0">
                <a:solidFill>
                  <a:srgbClr val="FFFFFF"/>
                </a:solidFill>
                <a:latin typeface="Inter" pitchFamily="34" charset="0"/>
                <a:ea typeface="Inter" pitchFamily="34" charset="-122"/>
                <a:cs typeface="Inter" pitchFamily="34" charset="-120"/>
              </a:rPr>
              <a:t> Dépense par capita la plus élevée au monde (58,000 USD à Dubaï documenté). Moteurs d'achat dominants : Exclusivité absolue, services VIP sur-mesure, expression du statut social, attente systématique de reconnaissance immédiate.</a:t>
            </a:r>
            <a:endParaRPr lang="en-US" sz="800" dirty="0"/>
          </a:p>
        </p:txBody>
      </p:sp>
      <p:sp>
        <p:nvSpPr>
          <p:cNvPr id="25" name="Text 20"/>
          <p:cNvSpPr/>
          <p:nvPr/>
        </p:nvSpPr>
        <p:spPr>
          <a:xfrm>
            <a:off x="765929" y="5668327"/>
            <a:ext cx="6382703" cy="169545"/>
          </a:xfrm>
          <a:prstGeom prst="rect">
            <a:avLst/>
          </a:prstGeom>
          <a:noFill/>
          <a:ln/>
        </p:spPr>
        <p:txBody>
          <a:bodyPr wrap="non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Fonction IA :</a:t>
            </a:r>
            <a:r>
              <a:rPr lang="en-US" sz="800" dirty="0">
                <a:solidFill>
                  <a:srgbClr val="FFFFFF"/>
                </a:solidFill>
                <a:latin typeface="Inter" pitchFamily="34" charset="0"/>
                <a:ea typeface="Inter" pitchFamily="34" charset="-122"/>
                <a:cs typeface="Inter" pitchFamily="34" charset="-120"/>
              </a:rPr>
              <a:t> Signalement prédictif VIP en temps réel + Orchestration automatisée d'événements exclusifs personnalisés.</a:t>
            </a:r>
            <a:endParaRPr lang="en-US" sz="800" dirty="0"/>
          </a:p>
        </p:txBody>
      </p:sp>
      <p:sp>
        <p:nvSpPr>
          <p:cNvPr id="26" name="Text 21"/>
          <p:cNvSpPr/>
          <p:nvPr/>
        </p:nvSpPr>
        <p:spPr>
          <a:xfrm>
            <a:off x="765929" y="5901452"/>
            <a:ext cx="6382703" cy="847725"/>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Exemple concret :</a:t>
            </a:r>
            <a:r>
              <a:rPr lang="en-US" sz="800" dirty="0">
                <a:solidFill>
                  <a:srgbClr val="FFFFFF"/>
                </a:solidFill>
                <a:latin typeface="Inter" pitchFamily="34" charset="0"/>
                <a:ea typeface="Inter" pitchFamily="34" charset="-122"/>
                <a:cs typeface="Inter" pitchFamily="34" charset="-120"/>
              </a:rPr>
              <a:t> M. Al-Jamil possède un historique de 3 achats sur 12 mois totalisant 45,000 CHF. L'IA détecte qu'une nouvelle Monaco Split-Seconds arrive en stock dans 7 jours (avant le lancement public officiel). Workflow automatique déclenché : Génération d'une invitation à un aperçu privé exclusif, assignment du personal shopper Khalid (relation existante documentée), réservation automatique du salon VIP Dubai Mall, email hautement personnalisé avec appel de confirmation. Contenu email : "En tant que collectionneur privilégié et passionné de course automobile, invitation exclusive..."</a:t>
            </a:r>
            <a:endParaRPr lang="en-US" sz="800" dirty="0"/>
          </a:p>
        </p:txBody>
      </p:sp>
      <p:sp>
        <p:nvSpPr>
          <p:cNvPr id="27" name="Text 22"/>
          <p:cNvSpPr/>
          <p:nvPr/>
        </p:nvSpPr>
        <p:spPr>
          <a:xfrm>
            <a:off x="765929" y="6812756"/>
            <a:ext cx="6382703" cy="508635"/>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a:t>
            </a:r>
            <a:r>
              <a:rPr lang="en-US" sz="800" dirty="0">
                <a:solidFill>
                  <a:srgbClr val="FFFFFF"/>
                </a:solidFill>
                <a:latin typeface="Inter" pitchFamily="34" charset="0"/>
                <a:ea typeface="Inter" pitchFamily="34" charset="-122"/>
                <a:cs typeface="Inter" pitchFamily="34" charset="-120"/>
              </a:rPr>
              <a:t> Reconnaissance effective du statut VIC, personnalisation extrême visible, exclusivité tangible et réelle, taux de conversion VIP estimé 60-70%. </a:t>
            </a:r>
            <a:r>
              <a:rPr lang="en-US" sz="800" b="1" dirty="0">
                <a:solidFill>
                  <a:srgbClr val="E3001D"/>
                </a:solidFill>
                <a:latin typeface="Inter" pitchFamily="34" charset="0"/>
                <a:ea typeface="Inter" pitchFamily="34" charset="-122"/>
                <a:cs typeface="Inter" pitchFamily="34" charset="-120"/>
              </a:rPr>
              <a:t>Risque d'échec :</a:t>
            </a:r>
            <a:r>
              <a:rPr lang="en-US" sz="800" dirty="0">
                <a:solidFill>
                  <a:srgbClr val="FFFFFF"/>
                </a:solidFill>
                <a:latin typeface="Inter" pitchFamily="34" charset="0"/>
                <a:ea typeface="Inter" pitchFamily="34" charset="-122"/>
                <a:cs typeface="Inter" pitchFamily="34" charset="-120"/>
              </a:rPr>
              <a:t> Traitement générique (la non-reconnaissance constitue une offense dans ce contexte culturel).</a:t>
            </a:r>
            <a:endParaRPr lang="en-US" sz="800" dirty="0"/>
          </a:p>
        </p:txBody>
      </p:sp>
      <p:sp>
        <p:nvSpPr>
          <p:cNvPr id="28" name="Shape 23"/>
          <p:cNvSpPr/>
          <p:nvPr/>
        </p:nvSpPr>
        <p:spPr>
          <a:xfrm>
            <a:off x="7368183" y="4498896"/>
            <a:ext cx="6609874" cy="3105626"/>
          </a:xfrm>
          <a:prstGeom prst="roundRect">
            <a:avLst>
              <a:gd name="adj" fmla="val 1434"/>
            </a:avLst>
          </a:prstGeom>
          <a:solidFill>
            <a:srgbClr val="008150"/>
          </a:solidFill>
          <a:ln w="7620">
            <a:solidFill>
              <a:srgbClr val="E3001D"/>
            </a:solidFill>
            <a:prstDash val="solid"/>
          </a:ln>
        </p:spPr>
        <p:txBody>
          <a:bodyPr/>
          <a:lstStyle/>
          <a:p>
            <a:endParaRPr lang="fr-CH"/>
          </a:p>
        </p:txBody>
      </p:sp>
      <p:sp>
        <p:nvSpPr>
          <p:cNvPr id="29" name="Shape 24"/>
          <p:cNvSpPr/>
          <p:nvPr/>
        </p:nvSpPr>
        <p:spPr>
          <a:xfrm>
            <a:off x="7481768" y="4612481"/>
            <a:ext cx="318016" cy="318016"/>
          </a:xfrm>
          <a:prstGeom prst="roundRect">
            <a:avLst>
              <a:gd name="adj" fmla="val 28750395"/>
            </a:avLst>
          </a:prstGeom>
          <a:solidFill>
            <a:srgbClr val="E3001D"/>
          </a:solidFill>
          <a:ln/>
        </p:spPr>
        <p:txBody>
          <a:bodyPr/>
          <a:lstStyle/>
          <a:p>
            <a:endParaRPr lang="fr-CH"/>
          </a:p>
        </p:txBody>
      </p:sp>
      <p:pic>
        <p:nvPicPr>
          <p:cNvPr id="3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69160" y="4699873"/>
            <a:ext cx="143113" cy="143113"/>
          </a:xfrm>
          <a:prstGeom prst="rect">
            <a:avLst/>
          </a:prstGeom>
        </p:spPr>
      </p:pic>
      <p:sp>
        <p:nvSpPr>
          <p:cNvPr id="31" name="Text 25"/>
          <p:cNvSpPr/>
          <p:nvPr/>
        </p:nvSpPr>
        <p:spPr>
          <a:xfrm>
            <a:off x="7481768" y="5036463"/>
            <a:ext cx="2503408" cy="165616"/>
          </a:xfrm>
          <a:prstGeom prst="rect">
            <a:avLst/>
          </a:prstGeom>
          <a:noFill/>
          <a:ln/>
        </p:spPr>
        <p:txBody>
          <a:bodyPr wrap="none" lIns="0" tIns="0" rIns="0" bIns="0" rtlCol="0" anchor="t"/>
          <a:lstStyle/>
          <a:p>
            <a:pPr marL="0" indent="0" algn="l">
              <a:lnSpc>
                <a:spcPts val="1300"/>
              </a:lnSpc>
              <a:buNone/>
            </a:pPr>
            <a:r>
              <a:rPr lang="en-US" sz="1000" b="1" dirty="0">
                <a:solidFill>
                  <a:srgbClr val="FFFFFF"/>
                </a:solidFill>
                <a:latin typeface="Inter Bold" pitchFamily="34" charset="0"/>
                <a:ea typeface="Inter Bold" pitchFamily="34" charset="-122"/>
                <a:cs typeface="Inter Bold" pitchFamily="34" charset="-120"/>
              </a:rPr>
              <a:t>USA/Europe : Transparence + Contrôle</a:t>
            </a:r>
            <a:endParaRPr lang="en-US" sz="1000" dirty="0"/>
          </a:p>
        </p:txBody>
      </p:sp>
      <p:sp>
        <p:nvSpPr>
          <p:cNvPr id="32" name="Text 26"/>
          <p:cNvSpPr/>
          <p:nvPr/>
        </p:nvSpPr>
        <p:spPr>
          <a:xfrm>
            <a:off x="7481768" y="5265658"/>
            <a:ext cx="6382703" cy="339090"/>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Moteur culturel :</a:t>
            </a:r>
            <a:r>
              <a:rPr lang="en-US" sz="800" dirty="0">
                <a:solidFill>
                  <a:srgbClr val="FFFFFF"/>
                </a:solidFill>
                <a:latin typeface="Inter" pitchFamily="34" charset="0"/>
                <a:ea typeface="Inter" pitchFamily="34" charset="-122"/>
                <a:cs typeface="Inter" pitchFamily="34" charset="-120"/>
              </a:rPr>
              <a:t> Confiance conditionnelle et méritée (pas automatique), scepticisme marqué envers l'utilisation des données personnelles, sensibilité extrême aux enjeux de confidentialité et vie privée.</a:t>
            </a:r>
            <a:endParaRPr lang="en-US" sz="800" dirty="0"/>
          </a:p>
        </p:txBody>
      </p:sp>
      <p:sp>
        <p:nvSpPr>
          <p:cNvPr id="33" name="Text 27"/>
          <p:cNvSpPr/>
          <p:nvPr/>
        </p:nvSpPr>
        <p:spPr>
          <a:xfrm>
            <a:off x="7481768" y="5668327"/>
            <a:ext cx="6382703" cy="169545"/>
          </a:xfrm>
          <a:prstGeom prst="rect">
            <a:avLst/>
          </a:prstGeom>
          <a:noFill/>
          <a:ln/>
        </p:spPr>
        <p:txBody>
          <a:bodyPr wrap="non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Fonction IA :</a:t>
            </a:r>
            <a:r>
              <a:rPr lang="en-US" sz="800" dirty="0">
                <a:solidFill>
                  <a:srgbClr val="FFFFFF"/>
                </a:solidFill>
                <a:latin typeface="Inter" pitchFamily="34" charset="0"/>
                <a:ea typeface="Inter" pitchFamily="34" charset="-122"/>
                <a:cs typeface="Inter" pitchFamily="34" charset="-120"/>
              </a:rPr>
              <a:t> Moteur Explicable (XAI - Explainable AI) + Constructeur de Confiance Progressive.</a:t>
            </a:r>
            <a:endParaRPr lang="en-US" sz="800" dirty="0"/>
          </a:p>
        </p:txBody>
      </p:sp>
      <p:sp>
        <p:nvSpPr>
          <p:cNvPr id="34" name="Text 28"/>
          <p:cNvSpPr/>
          <p:nvPr/>
        </p:nvSpPr>
        <p:spPr>
          <a:xfrm>
            <a:off x="7481768" y="5901452"/>
            <a:ext cx="6382703" cy="1186815"/>
          </a:xfrm>
          <a:prstGeom prst="rect">
            <a:avLst/>
          </a:prstGeom>
          <a:noFill/>
          <a:ln/>
        </p:spPr>
        <p:txBody>
          <a:bodyPr wrap="square" lIns="0" tIns="0" rIns="0" bIns="0" rtlCol="0" anchor="t"/>
          <a:lstStyle/>
          <a:p>
            <a:pPr marL="0" indent="0" algn="l">
              <a:lnSpc>
                <a:spcPts val="1300"/>
              </a:lnSpc>
              <a:buNone/>
            </a:pPr>
            <a:r>
              <a:rPr lang="en-US" sz="800" b="1" dirty="0">
                <a:solidFill>
                  <a:srgbClr val="FFFFFF"/>
                </a:solidFill>
                <a:latin typeface="Inter" pitchFamily="34" charset="0"/>
                <a:ea typeface="Inter" pitchFamily="34" charset="-122"/>
                <a:cs typeface="Inter" pitchFamily="34" charset="-120"/>
              </a:rPr>
              <a:t>Exemple concret :</a:t>
            </a:r>
            <a:r>
              <a:rPr lang="en-US" sz="800" dirty="0">
                <a:solidFill>
                  <a:srgbClr val="FFFFFF"/>
                </a:solidFill>
                <a:latin typeface="Inter" pitchFamily="34" charset="0"/>
                <a:ea typeface="Inter" pitchFamily="34" charset="-122"/>
                <a:cs typeface="Inter" pitchFamily="34" charset="-120"/>
              </a:rPr>
              <a:t> Visiteur anonyme arrive sur le site TAG Heuer USA pour sa toute première visite (zéro historique disponible). Pages consultées : Collection Aquaracer, utilisation du configurateur (cadran bleu + bracelet caoutchouc personnalisés). L'IA génère une hypothèse comportementale probabiliste (PAS un profil déterministe). Pop-up parfaitement transparent s'affiche : "Basé uniquement sur votre intérêt observé pour les montres de plongée, nous recommandons l'Aquaracer Professional 300. </a:t>
            </a:r>
            <a:r>
              <a:rPr lang="en-US" sz="800" b="1" dirty="0">
                <a:solidFill>
                  <a:srgbClr val="FFFFFF"/>
                </a:solidFill>
                <a:latin typeface="Inter" pitchFamily="34" charset="0"/>
                <a:ea typeface="Inter" pitchFamily="34" charset="-122"/>
                <a:cs typeface="Inter" pitchFamily="34" charset="-120"/>
              </a:rPr>
              <a:t>Pourquoi cette recommandation ?</a:t>
            </a:r>
            <a:r>
              <a:rPr lang="en-US" sz="800" dirty="0">
                <a:solidFill>
                  <a:srgbClr val="FFFFFF"/>
                </a:solidFill>
                <a:latin typeface="Inter" pitchFamily="34" charset="0"/>
                <a:ea typeface="Inter" pitchFamily="34" charset="-122"/>
                <a:cs typeface="Inter" pitchFamily="34" charset="-120"/>
              </a:rPr>
              <a:t> Vous avez consulté notre collection plongée et personnalisé un cadran bleu." Interface explicite : Gérer vos préférences de personnalisation, Option "Ne plus personnaliser mon expérience", Opt-out clair et immédiat.</a:t>
            </a:r>
            <a:endParaRPr lang="en-US" sz="800" dirty="0"/>
          </a:p>
        </p:txBody>
      </p:sp>
      <p:sp>
        <p:nvSpPr>
          <p:cNvPr id="35" name="Text 29"/>
          <p:cNvSpPr/>
          <p:nvPr/>
        </p:nvSpPr>
        <p:spPr>
          <a:xfrm>
            <a:off x="7481768" y="7151846"/>
            <a:ext cx="6382703" cy="339090"/>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a:t>
            </a:r>
            <a:r>
              <a:rPr lang="en-US" sz="800" dirty="0">
                <a:solidFill>
                  <a:srgbClr val="FFFFFF"/>
                </a:solidFill>
                <a:latin typeface="Inter" pitchFamily="34" charset="0"/>
                <a:ea typeface="Inter" pitchFamily="34" charset="-122"/>
                <a:cs typeface="Inter" pitchFamily="34" charset="-120"/>
              </a:rPr>
              <a:t> Personnalisation respectueuse et justifiée, confiance progressivement construite, conformité GDPR totale, apprentissage du comportement réel via test A/B. </a:t>
            </a:r>
            <a:r>
              <a:rPr lang="en-US" sz="800" b="1" dirty="0">
                <a:solidFill>
                  <a:srgbClr val="E3001D"/>
                </a:solidFill>
                <a:latin typeface="Inter" pitchFamily="34" charset="0"/>
                <a:ea typeface="Inter" pitchFamily="34" charset="-122"/>
                <a:cs typeface="Inter" pitchFamily="34" charset="-120"/>
              </a:rPr>
              <a:t>Risque d'échec :</a:t>
            </a:r>
            <a:r>
              <a:rPr lang="en-US" sz="800" dirty="0">
                <a:solidFill>
                  <a:srgbClr val="FFFFFF"/>
                </a:solidFill>
                <a:latin typeface="Inter" pitchFamily="34" charset="0"/>
                <a:ea typeface="Inter" pitchFamily="34" charset="-122"/>
                <a:cs typeface="Inter" pitchFamily="34" charset="-120"/>
              </a:rPr>
              <a:t> Personnalisation perçue comme "effrayante" ou intrusive.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9962" y="611148"/>
            <a:ext cx="6823472" cy="330041"/>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Inter Bold" pitchFamily="34" charset="0"/>
                <a:ea typeface="Inter Bold" pitchFamily="34" charset="-122"/>
                <a:cs typeface="Inter Bold" pitchFamily="34" charset="-120"/>
              </a:rPr>
              <a:t>Cas d'Usage Concrets : Applications Opérationnelles</a:t>
            </a:r>
            <a:endParaRPr lang="en-US" sz="2050" dirty="0"/>
          </a:p>
        </p:txBody>
      </p:sp>
      <p:sp>
        <p:nvSpPr>
          <p:cNvPr id="3" name="Text 1"/>
          <p:cNvSpPr/>
          <p:nvPr/>
        </p:nvSpPr>
        <p:spPr>
          <a:xfrm>
            <a:off x="649962" y="1152406"/>
            <a:ext cx="13330476" cy="168950"/>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pitchFamily="34" charset="0"/>
                <a:ea typeface="Inter" pitchFamily="34" charset="-122"/>
                <a:cs typeface="Inter" pitchFamily="34" charset="-120"/>
              </a:rPr>
              <a:t>Ces quatre scénarios illustrent l'application pratique de l'intelligence culturelle dans des situations client réelles, démontrant comment l'IA augmente les capacités humaines sans jamais remplacer l'authenticité de la relation.</a:t>
            </a:r>
            <a:endParaRPr lang="en-US" sz="800" dirty="0"/>
          </a:p>
        </p:txBody>
      </p:sp>
      <p:sp>
        <p:nvSpPr>
          <p:cNvPr id="4" name="Text 2"/>
          <p:cNvSpPr/>
          <p:nvPr/>
        </p:nvSpPr>
        <p:spPr>
          <a:xfrm>
            <a:off x="649962" y="1440180"/>
            <a:ext cx="105608" cy="132040"/>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Light" pitchFamily="34" charset="0"/>
                <a:ea typeface="Inter Light" pitchFamily="34" charset="-122"/>
                <a:cs typeface="Inter Light" pitchFamily="34" charset="-120"/>
              </a:rPr>
              <a:t>01</a:t>
            </a:r>
            <a:endParaRPr lang="en-US" sz="800" dirty="0"/>
          </a:p>
        </p:txBody>
      </p:sp>
      <p:sp>
        <p:nvSpPr>
          <p:cNvPr id="5" name="Shape 3"/>
          <p:cNvSpPr/>
          <p:nvPr/>
        </p:nvSpPr>
        <p:spPr>
          <a:xfrm>
            <a:off x="649962" y="1604367"/>
            <a:ext cx="6612374" cy="15240"/>
          </a:xfrm>
          <a:prstGeom prst="rect">
            <a:avLst/>
          </a:prstGeom>
          <a:solidFill>
            <a:srgbClr val="008150"/>
          </a:solidFill>
          <a:ln/>
        </p:spPr>
        <p:txBody>
          <a:bodyPr/>
          <a:lstStyle/>
          <a:p>
            <a:endParaRPr lang="fr-CH"/>
          </a:p>
        </p:txBody>
      </p:sp>
      <p:sp>
        <p:nvSpPr>
          <p:cNvPr id="6" name="Text 4"/>
          <p:cNvSpPr/>
          <p:nvPr/>
        </p:nvSpPr>
        <p:spPr>
          <a:xfrm>
            <a:off x="649962" y="1687592"/>
            <a:ext cx="2735342" cy="165021"/>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Inter Bold" pitchFamily="34" charset="0"/>
                <a:ea typeface="Inter Bold" pitchFamily="34" charset="-122"/>
                <a:cs typeface="Inter Bold" pitchFamily="34" charset="-120"/>
              </a:rPr>
              <a:t>Tokyo : Care Agent Omotenashi Augmenté</a:t>
            </a:r>
            <a:endParaRPr lang="en-US" sz="1000" dirty="0"/>
          </a:p>
        </p:txBody>
      </p:sp>
      <p:sp>
        <p:nvSpPr>
          <p:cNvPr id="7" name="Text 5"/>
          <p:cNvSpPr/>
          <p:nvPr/>
        </p:nvSpPr>
        <p:spPr>
          <a:xfrm>
            <a:off x="649962" y="1915954"/>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Contexte :</a:t>
            </a:r>
            <a:r>
              <a:rPr lang="en-US" sz="800" dirty="0">
                <a:solidFill>
                  <a:srgbClr val="000000"/>
                </a:solidFill>
                <a:latin typeface="Inter" pitchFamily="34" charset="0"/>
                <a:ea typeface="Inter" pitchFamily="34" charset="-122"/>
                <a:cs typeface="Inter" pitchFamily="34" charset="-120"/>
              </a:rPr>
              <a:t> M. Tanaka arrive à la boutique TAG Heuer Ginza pour l'entretien de sa Carrera (rendez-vous programmé il y a exactement 3 ans lors de l'achat initial).</a:t>
            </a:r>
            <a:endParaRPr lang="en-US" sz="800" dirty="0"/>
          </a:p>
        </p:txBody>
      </p:sp>
      <p:sp>
        <p:nvSpPr>
          <p:cNvPr id="8" name="Text 6"/>
          <p:cNvSpPr/>
          <p:nvPr/>
        </p:nvSpPr>
        <p:spPr>
          <a:xfrm>
            <a:off x="649962" y="2317194"/>
            <a:ext cx="6612374" cy="50684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CDP Unifiée fournit au système :</a:t>
            </a:r>
            <a:r>
              <a:rPr lang="en-US" sz="800" dirty="0">
                <a:solidFill>
                  <a:srgbClr val="000000"/>
                </a:solidFill>
                <a:latin typeface="Inter" pitchFamily="34" charset="0"/>
                <a:ea typeface="Inter" pitchFamily="34" charset="-122"/>
                <a:cs typeface="Inter" pitchFamily="34" charset="-120"/>
              </a:rPr>
              <a:t> Propriétaire de 4 montres TAG Heuer (3 Carrera tous avec cadrans épurés minimalistes), préférence documentée pour les discussions approfondies sur les calibres techniques, jamais d'achat impulsif observé (réflexion moyenne 2 semaines), préférence personnelle notée lors visite précédente (thé vert sencha).</a:t>
            </a:r>
            <a:endParaRPr lang="en-US" sz="800" dirty="0"/>
          </a:p>
        </p:txBody>
      </p:sp>
      <p:sp>
        <p:nvSpPr>
          <p:cNvPr id="9" name="Text 7"/>
          <p:cNvSpPr/>
          <p:nvPr/>
        </p:nvSpPr>
        <p:spPr>
          <a:xfrm>
            <a:off x="649962" y="2887385"/>
            <a:ext cx="6612374" cy="50684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24h avant le RDV :</a:t>
            </a:r>
            <a:r>
              <a:rPr lang="en-US" sz="800" dirty="0">
                <a:solidFill>
                  <a:srgbClr val="000000"/>
                </a:solidFill>
                <a:latin typeface="Inter" pitchFamily="34" charset="0"/>
                <a:ea typeface="Inter" pitchFamily="34" charset="-122"/>
                <a:cs typeface="Inter" pitchFamily="34" charset="-120"/>
              </a:rPr>
              <a:t> L'IA prépare automatiquement un brief complet sur la tablette de la conseillère Yuki : Préparer du thé vert sencha de qualité, Avoir le catalogue Glassbox à disposition (design épuré aligné profil), Préparer le dossier technique détaillé du Calibre Heuer 02, </a:t>
            </a:r>
            <a:r>
              <a:rPr lang="en-US" sz="800" b="1" dirty="0">
                <a:solidFill>
                  <a:srgbClr val="E3001D"/>
                </a:solidFill>
                <a:latin typeface="Inter" pitchFamily="34" charset="0"/>
                <a:ea typeface="Inter" pitchFamily="34" charset="-122"/>
                <a:cs typeface="Inter" pitchFamily="34" charset="-120"/>
              </a:rPr>
              <a:t>NE PAS suggérer</a:t>
            </a:r>
            <a:r>
              <a:rPr lang="en-US" sz="800" dirty="0">
                <a:solidFill>
                  <a:srgbClr val="000000"/>
                </a:solidFill>
                <a:latin typeface="Inter" pitchFamily="34" charset="0"/>
                <a:ea typeface="Inter" pitchFamily="34" charset="-122"/>
                <a:cs typeface="Inter" pitchFamily="34" charset="-120"/>
              </a:rPr>
              <a:t> la nouvelle Formula 1 (style trop sportif/agressif pour son profil établi).</a:t>
            </a:r>
            <a:endParaRPr lang="en-US" sz="800" dirty="0"/>
          </a:p>
        </p:txBody>
      </p:sp>
      <p:sp>
        <p:nvSpPr>
          <p:cNvPr id="10" name="Text 8"/>
          <p:cNvSpPr/>
          <p:nvPr/>
        </p:nvSpPr>
        <p:spPr>
          <a:xfrm>
            <a:off x="649962" y="3457575"/>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Pendant la visite :</a:t>
            </a:r>
            <a:r>
              <a:rPr lang="en-US" sz="800" dirty="0">
                <a:solidFill>
                  <a:srgbClr val="000000"/>
                </a:solidFill>
                <a:latin typeface="Inter" pitchFamily="34" charset="0"/>
                <a:ea typeface="Inter" pitchFamily="34" charset="-122"/>
                <a:cs typeface="Inter" pitchFamily="34" charset="-120"/>
              </a:rPr>
              <a:t> Yuki offre naturellement le thé sencha (M. Tanaka est agréablement surpris et ravi de cette attention), présente spontanément le nouveau modèle Glassbox parfaitement aligné avec ses goûts documentés.</a:t>
            </a:r>
            <a:endParaRPr lang="en-US" sz="800" dirty="0"/>
          </a:p>
        </p:txBody>
      </p:sp>
      <p:sp>
        <p:nvSpPr>
          <p:cNvPr id="11" name="Text 9"/>
          <p:cNvSpPr/>
          <p:nvPr/>
        </p:nvSpPr>
        <p:spPr>
          <a:xfrm>
            <a:off x="649962" y="3858816"/>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mesurable :</a:t>
            </a:r>
            <a:r>
              <a:rPr lang="en-US" sz="800" dirty="0">
                <a:solidFill>
                  <a:srgbClr val="000000"/>
                </a:solidFill>
                <a:latin typeface="Inter" pitchFamily="34" charset="0"/>
                <a:ea typeface="Inter" pitchFamily="34" charset="-122"/>
                <a:cs typeface="Inter" pitchFamily="34" charset="-120"/>
              </a:rPr>
              <a:t> Service anticipatif perçu comme parfait, zéro friction dans l'expérience, authenticité de la relation humaine totalement préservée (l'IA reste complètement invisible pour M. Tanaka).</a:t>
            </a:r>
            <a:endParaRPr lang="en-US" sz="800" dirty="0"/>
          </a:p>
        </p:txBody>
      </p:sp>
      <p:sp>
        <p:nvSpPr>
          <p:cNvPr id="12" name="Text 10"/>
          <p:cNvSpPr/>
          <p:nvPr/>
        </p:nvSpPr>
        <p:spPr>
          <a:xfrm>
            <a:off x="7367945" y="1440180"/>
            <a:ext cx="105608" cy="132040"/>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Light" pitchFamily="34" charset="0"/>
                <a:ea typeface="Inter Light" pitchFamily="34" charset="-122"/>
                <a:cs typeface="Inter Light" pitchFamily="34" charset="-120"/>
              </a:rPr>
              <a:t>02</a:t>
            </a:r>
            <a:endParaRPr lang="en-US" sz="800" dirty="0"/>
          </a:p>
        </p:txBody>
      </p:sp>
      <p:sp>
        <p:nvSpPr>
          <p:cNvPr id="13" name="Shape 11"/>
          <p:cNvSpPr/>
          <p:nvPr/>
        </p:nvSpPr>
        <p:spPr>
          <a:xfrm>
            <a:off x="7367945" y="1604367"/>
            <a:ext cx="6612493" cy="15240"/>
          </a:xfrm>
          <a:prstGeom prst="rect">
            <a:avLst/>
          </a:prstGeom>
          <a:solidFill>
            <a:srgbClr val="E3001D"/>
          </a:solidFill>
          <a:ln/>
        </p:spPr>
        <p:txBody>
          <a:bodyPr/>
          <a:lstStyle/>
          <a:p>
            <a:endParaRPr lang="fr-CH"/>
          </a:p>
        </p:txBody>
      </p:sp>
      <p:sp>
        <p:nvSpPr>
          <p:cNvPr id="14" name="Text 12"/>
          <p:cNvSpPr/>
          <p:nvPr/>
        </p:nvSpPr>
        <p:spPr>
          <a:xfrm>
            <a:off x="7367945" y="1687592"/>
            <a:ext cx="3487936" cy="165021"/>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Inter Bold" pitchFamily="34" charset="0"/>
                <a:ea typeface="Inter Bold" pitchFamily="34" charset="-122"/>
                <a:cs typeface="Inter Bold" pitchFamily="34" charset="-120"/>
              </a:rPr>
              <a:t>Shanghai : Prévention Proactive "Mainland Mismatch"</a:t>
            </a:r>
            <a:endParaRPr lang="en-US" sz="1000" dirty="0"/>
          </a:p>
        </p:txBody>
      </p:sp>
      <p:sp>
        <p:nvSpPr>
          <p:cNvPr id="15" name="Text 13"/>
          <p:cNvSpPr/>
          <p:nvPr/>
        </p:nvSpPr>
        <p:spPr>
          <a:xfrm>
            <a:off x="7367945" y="1915954"/>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Contexte :</a:t>
            </a:r>
            <a:r>
              <a:rPr lang="en-US" sz="800" dirty="0">
                <a:solidFill>
                  <a:srgbClr val="000000"/>
                </a:solidFill>
                <a:latin typeface="Inter" pitchFamily="34" charset="0"/>
                <a:ea typeface="Inter" pitchFamily="34" charset="-122"/>
                <a:cs typeface="Inter" pitchFamily="34" charset="-120"/>
              </a:rPr>
              <a:t> Mme Chen browse le site TAG Heuer Chine pendant 20 minutes avec un engagement comportemental très élevé (5 pages produits consultées en profondeur) mais sans finaliser d'achat.</a:t>
            </a:r>
            <a:endParaRPr lang="en-US" sz="800" dirty="0"/>
          </a:p>
        </p:txBody>
      </p:sp>
      <p:sp>
        <p:nvSpPr>
          <p:cNvPr id="16" name="Text 14"/>
          <p:cNvSpPr/>
          <p:nvPr/>
        </p:nvSpPr>
        <p:spPr>
          <a:xfrm>
            <a:off x="7367945" y="2317194"/>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IA détecte un pattern caractéristique :</a:t>
            </a:r>
            <a:r>
              <a:rPr lang="en-US" sz="800" dirty="0">
                <a:solidFill>
                  <a:srgbClr val="000000"/>
                </a:solidFill>
                <a:latin typeface="Inter" pitchFamily="34" charset="0"/>
                <a:ea typeface="Inter" pitchFamily="34" charset="-122"/>
                <a:cs typeface="Inter" pitchFamily="34" charset="-120"/>
              </a:rPr>
              <a:t> "Recherche active de Word-of-Mouth" → 4 minutes complètes passées à lire attentivement les reviews et témoignages clients.</a:t>
            </a:r>
            <a:endParaRPr lang="en-US" sz="800" dirty="0"/>
          </a:p>
        </p:txBody>
      </p:sp>
      <p:sp>
        <p:nvSpPr>
          <p:cNvPr id="17" name="Text 15"/>
          <p:cNvSpPr/>
          <p:nvPr/>
        </p:nvSpPr>
        <p:spPr>
          <a:xfrm>
            <a:off x="7367945" y="2718435"/>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Alerte automatique au Care Agent Li :</a:t>
            </a:r>
            <a:r>
              <a:rPr lang="en-US" sz="800" dirty="0">
                <a:solidFill>
                  <a:srgbClr val="000000"/>
                </a:solidFill>
                <a:latin typeface="Inter" pitchFamily="34" charset="0"/>
                <a:ea typeface="Inter" pitchFamily="34" charset="-122"/>
                <a:cs typeface="Inter" pitchFamily="34" charset="-120"/>
              </a:rPr>
              <a:t> "Visiteuse haute intention achat détectée, besoin probable de réassurance sociale avant décision finale."</a:t>
            </a:r>
            <a:endParaRPr lang="en-US" sz="800" dirty="0"/>
          </a:p>
        </p:txBody>
      </p:sp>
      <p:sp>
        <p:nvSpPr>
          <p:cNvPr id="18" name="Text 16"/>
          <p:cNvSpPr/>
          <p:nvPr/>
        </p:nvSpPr>
        <p:spPr>
          <a:xfrm>
            <a:off x="7367945" y="3119676"/>
            <a:ext cx="6612493" cy="50684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Action déclenchée :</a:t>
            </a:r>
            <a:r>
              <a:rPr lang="en-US" sz="800" dirty="0">
                <a:solidFill>
                  <a:srgbClr val="000000"/>
                </a:solidFill>
                <a:latin typeface="Inter" pitchFamily="34" charset="0"/>
                <a:ea typeface="Inter" pitchFamily="34" charset="-122"/>
                <a:cs typeface="Inter" pitchFamily="34" charset="-120"/>
              </a:rPr>
              <a:t> Appel proactif via WeChat exactement 30 minutes après la fin de sa session de browsing (timing optimal validé par A/B tests). Li partage spontanément des témoignages vidéo authentiques de clientes satisfaites basées à Shanghai (dimension locale critique), puis offre une invitation personnalisée à un événement privé avec des ambassadeurs de marque chinois reconnus.</a:t>
            </a:r>
            <a:endParaRPr lang="en-US" sz="800" dirty="0"/>
          </a:p>
        </p:txBody>
      </p:sp>
      <p:sp>
        <p:nvSpPr>
          <p:cNvPr id="19" name="Text 17"/>
          <p:cNvSpPr/>
          <p:nvPr/>
        </p:nvSpPr>
        <p:spPr>
          <a:xfrm>
            <a:off x="7367945" y="3689866"/>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mesurable :</a:t>
            </a:r>
            <a:r>
              <a:rPr lang="en-US" sz="800" dirty="0">
                <a:solidFill>
                  <a:srgbClr val="000000"/>
                </a:solidFill>
                <a:latin typeface="Inter" pitchFamily="34" charset="0"/>
                <a:ea typeface="Inter" pitchFamily="34" charset="-122"/>
                <a:cs typeface="Inter" pitchFamily="34" charset="-120"/>
              </a:rPr>
              <a:t> Réassurance sociale efficacement fournie via canaux culturellement appropriés, prévention réussie du redouté "Mainland Mismatch", conversion du trafic online anonyme vers visite physique qualifiée en boutique Shanghai.</a:t>
            </a:r>
            <a:endParaRPr lang="en-US" sz="800" dirty="0"/>
          </a:p>
        </p:txBody>
      </p:sp>
      <p:sp>
        <p:nvSpPr>
          <p:cNvPr id="20" name="Text 18"/>
          <p:cNvSpPr/>
          <p:nvPr/>
        </p:nvSpPr>
        <p:spPr>
          <a:xfrm>
            <a:off x="649962" y="4381500"/>
            <a:ext cx="105608" cy="132040"/>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Light" pitchFamily="34" charset="0"/>
                <a:ea typeface="Inter Light" pitchFamily="34" charset="-122"/>
                <a:cs typeface="Inter Light" pitchFamily="34" charset="-120"/>
              </a:rPr>
              <a:t>03</a:t>
            </a:r>
            <a:endParaRPr lang="en-US" sz="800" dirty="0"/>
          </a:p>
        </p:txBody>
      </p:sp>
      <p:sp>
        <p:nvSpPr>
          <p:cNvPr id="21" name="Shape 19"/>
          <p:cNvSpPr/>
          <p:nvPr/>
        </p:nvSpPr>
        <p:spPr>
          <a:xfrm>
            <a:off x="649962" y="4545687"/>
            <a:ext cx="6612374" cy="15240"/>
          </a:xfrm>
          <a:prstGeom prst="rect">
            <a:avLst/>
          </a:prstGeom>
          <a:solidFill>
            <a:srgbClr val="008150"/>
          </a:solidFill>
          <a:ln/>
        </p:spPr>
        <p:txBody>
          <a:bodyPr/>
          <a:lstStyle/>
          <a:p>
            <a:endParaRPr lang="fr-CH"/>
          </a:p>
        </p:txBody>
      </p:sp>
      <p:sp>
        <p:nvSpPr>
          <p:cNvPr id="22" name="Text 20"/>
          <p:cNvSpPr/>
          <p:nvPr/>
        </p:nvSpPr>
        <p:spPr>
          <a:xfrm>
            <a:off x="649962" y="4628912"/>
            <a:ext cx="3287792" cy="165021"/>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Inter Bold" pitchFamily="34" charset="0"/>
                <a:ea typeface="Inter Bold" pitchFamily="34" charset="-122"/>
                <a:cs typeface="Inter Bold" pitchFamily="34" charset="-120"/>
              </a:rPr>
              <a:t>Dubaï : Orchestration VIP Entièrement Automatisée</a:t>
            </a:r>
            <a:endParaRPr lang="en-US" sz="1000" dirty="0"/>
          </a:p>
        </p:txBody>
      </p:sp>
      <p:sp>
        <p:nvSpPr>
          <p:cNvPr id="23" name="Text 21"/>
          <p:cNvSpPr/>
          <p:nvPr/>
        </p:nvSpPr>
        <p:spPr>
          <a:xfrm>
            <a:off x="649962" y="4857274"/>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Contexte :</a:t>
            </a:r>
            <a:r>
              <a:rPr lang="en-US" sz="800" dirty="0">
                <a:solidFill>
                  <a:srgbClr val="000000"/>
                </a:solidFill>
                <a:latin typeface="Inter" pitchFamily="34" charset="0"/>
                <a:ea typeface="Inter" pitchFamily="34" charset="-122"/>
                <a:cs typeface="Inter" pitchFamily="34" charset="-120"/>
              </a:rPr>
              <a:t> M. Al-Jamil possède un historique éloquent : 3 achats significatifs sur les 12 derniers mois totalisant 45,000 CHF (statut VIC - Very Important Customer - confirmé et documenté).</a:t>
            </a:r>
            <a:endParaRPr lang="en-US" sz="800" dirty="0"/>
          </a:p>
        </p:txBody>
      </p:sp>
      <p:sp>
        <p:nvSpPr>
          <p:cNvPr id="24" name="Text 22"/>
          <p:cNvSpPr/>
          <p:nvPr/>
        </p:nvSpPr>
        <p:spPr>
          <a:xfrm>
            <a:off x="649962" y="5258514"/>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IA détecte en temps réel :</a:t>
            </a:r>
            <a:r>
              <a:rPr lang="en-US" sz="800" dirty="0">
                <a:solidFill>
                  <a:srgbClr val="000000"/>
                </a:solidFill>
                <a:latin typeface="Inter" pitchFamily="34" charset="0"/>
                <a:ea typeface="Inter" pitchFamily="34" charset="-122"/>
                <a:cs typeface="Inter" pitchFamily="34" charset="-120"/>
              </a:rPr>
              <a:t> Une nouvelle Monaco Split-Seconds arrive en stock Dubaï dans exactement 7 jours (avant le lancement public officiel prévu 3 semaines plus tard).</a:t>
            </a:r>
            <a:endParaRPr lang="en-US" sz="800" dirty="0"/>
          </a:p>
        </p:txBody>
      </p:sp>
      <p:sp>
        <p:nvSpPr>
          <p:cNvPr id="25" name="Text 23"/>
          <p:cNvSpPr/>
          <p:nvPr/>
        </p:nvSpPr>
        <p:spPr>
          <a:xfrm>
            <a:off x="649962" y="5659755"/>
            <a:ext cx="6612374" cy="6757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Workflow entièrement automatisé se déclenche :</a:t>
            </a:r>
            <a:r>
              <a:rPr lang="en-US" sz="800" dirty="0">
                <a:solidFill>
                  <a:srgbClr val="000000"/>
                </a:solidFill>
                <a:latin typeface="Inter" pitchFamily="34" charset="0"/>
                <a:ea typeface="Inter" pitchFamily="34" charset="-122"/>
                <a:cs typeface="Inter" pitchFamily="34" charset="-120"/>
              </a:rPr>
              <a:t> Génération d'une invitation hautement personnalisée pour un aperçu privé exclusif, Assignment automatique du personal shopper Khalid (relation client existante documentée sur 18 mois), Réservation automatique du salon VIP privé Dubai Mall (créneau optimal identifié via calendrier), Email initial personnalisé suivi d'un appel téléphonique de confirmation protocole.</a:t>
            </a:r>
            <a:endParaRPr lang="en-US" sz="800" dirty="0"/>
          </a:p>
        </p:txBody>
      </p:sp>
      <p:sp>
        <p:nvSpPr>
          <p:cNvPr id="26" name="Text 24"/>
          <p:cNvSpPr/>
          <p:nvPr/>
        </p:nvSpPr>
        <p:spPr>
          <a:xfrm>
            <a:off x="649962" y="6398895"/>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Contenu email sophistiqué :</a:t>
            </a:r>
            <a:r>
              <a:rPr lang="en-US" sz="800" dirty="0">
                <a:solidFill>
                  <a:srgbClr val="000000"/>
                </a:solidFill>
                <a:latin typeface="Inter" pitchFamily="34" charset="0"/>
                <a:ea typeface="Inter" pitchFamily="34" charset="-122"/>
                <a:cs typeface="Inter" pitchFamily="34" charset="-120"/>
              </a:rPr>
              <a:t> "Cher M. Al-Jamil, en tant que collectionneur privilégié de notre Maison et passionné reconnu de course automobile, nous avons l'honneur de vous inviter en avant-première exclusive..."</a:t>
            </a:r>
            <a:endParaRPr lang="en-US" sz="800" dirty="0"/>
          </a:p>
        </p:txBody>
      </p:sp>
      <p:sp>
        <p:nvSpPr>
          <p:cNvPr id="27" name="Text 25"/>
          <p:cNvSpPr/>
          <p:nvPr/>
        </p:nvSpPr>
        <p:spPr>
          <a:xfrm>
            <a:off x="649962" y="6800136"/>
            <a:ext cx="6612374" cy="337899"/>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mesurable :</a:t>
            </a:r>
            <a:r>
              <a:rPr lang="en-US" sz="800" dirty="0">
                <a:solidFill>
                  <a:srgbClr val="000000"/>
                </a:solidFill>
                <a:latin typeface="Inter" pitchFamily="34" charset="0"/>
                <a:ea typeface="Inter" pitchFamily="34" charset="-122"/>
                <a:cs typeface="Inter" pitchFamily="34" charset="-120"/>
              </a:rPr>
              <a:t> Reconnaissance tangible et visible du statut VIC, personnalisation extrême à chaque point de contact, exclusivité réelle et vérifiable (pas simulée), taux de conversion segment VIP estimé entre 60-70% (versus 7% standard boutique).</a:t>
            </a:r>
            <a:endParaRPr lang="en-US" sz="800" dirty="0"/>
          </a:p>
        </p:txBody>
      </p:sp>
      <p:sp>
        <p:nvSpPr>
          <p:cNvPr id="28" name="Text 26"/>
          <p:cNvSpPr/>
          <p:nvPr/>
        </p:nvSpPr>
        <p:spPr>
          <a:xfrm>
            <a:off x="7367945" y="4381500"/>
            <a:ext cx="105608" cy="132040"/>
          </a:xfrm>
          <a:prstGeom prst="rect">
            <a:avLst/>
          </a:prstGeom>
          <a:noFill/>
          <a:ln/>
        </p:spPr>
        <p:txBody>
          <a:bodyPr wrap="none" lIns="0" tIns="0" rIns="0" bIns="0" rtlCol="0" anchor="t"/>
          <a:lstStyle/>
          <a:p>
            <a:pPr marL="0" indent="0" algn="l">
              <a:lnSpc>
                <a:spcPts val="1300"/>
              </a:lnSpc>
              <a:buNone/>
            </a:pPr>
            <a:r>
              <a:rPr lang="en-US" sz="800" dirty="0">
                <a:solidFill>
                  <a:srgbClr val="000000"/>
                </a:solidFill>
                <a:latin typeface="Inter Light" pitchFamily="34" charset="0"/>
                <a:ea typeface="Inter Light" pitchFamily="34" charset="-122"/>
                <a:cs typeface="Inter Light" pitchFamily="34" charset="-120"/>
              </a:rPr>
              <a:t>04</a:t>
            </a:r>
            <a:endParaRPr lang="en-US" sz="800" dirty="0"/>
          </a:p>
        </p:txBody>
      </p:sp>
      <p:sp>
        <p:nvSpPr>
          <p:cNvPr id="29" name="Shape 27"/>
          <p:cNvSpPr/>
          <p:nvPr/>
        </p:nvSpPr>
        <p:spPr>
          <a:xfrm>
            <a:off x="7367945" y="4545687"/>
            <a:ext cx="6612493" cy="15240"/>
          </a:xfrm>
          <a:prstGeom prst="rect">
            <a:avLst/>
          </a:prstGeom>
          <a:solidFill>
            <a:srgbClr val="E3001D"/>
          </a:solidFill>
          <a:ln/>
        </p:spPr>
        <p:txBody>
          <a:bodyPr/>
          <a:lstStyle/>
          <a:p>
            <a:endParaRPr lang="fr-CH"/>
          </a:p>
        </p:txBody>
      </p:sp>
      <p:sp>
        <p:nvSpPr>
          <p:cNvPr id="30" name="Text 28"/>
          <p:cNvSpPr/>
          <p:nvPr/>
        </p:nvSpPr>
        <p:spPr>
          <a:xfrm>
            <a:off x="7367945" y="4628912"/>
            <a:ext cx="3511034" cy="165021"/>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Inter Bold" pitchFamily="34" charset="0"/>
                <a:ea typeface="Inter Bold" pitchFamily="34" charset="-122"/>
                <a:cs typeface="Inter Bold" pitchFamily="34" charset="-120"/>
              </a:rPr>
              <a:t>New York : Interface Transparente XAI (Explainable AI)</a:t>
            </a:r>
            <a:endParaRPr lang="en-US" sz="1000" dirty="0"/>
          </a:p>
        </p:txBody>
      </p:sp>
      <p:sp>
        <p:nvSpPr>
          <p:cNvPr id="31" name="Text 29"/>
          <p:cNvSpPr/>
          <p:nvPr/>
        </p:nvSpPr>
        <p:spPr>
          <a:xfrm>
            <a:off x="7367945" y="4857274"/>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Contexte :</a:t>
            </a:r>
            <a:r>
              <a:rPr lang="en-US" sz="800" dirty="0">
                <a:solidFill>
                  <a:srgbClr val="000000"/>
                </a:solidFill>
                <a:latin typeface="Inter" pitchFamily="34" charset="0"/>
                <a:ea typeface="Inter" pitchFamily="34" charset="-122"/>
                <a:cs typeface="Inter" pitchFamily="34" charset="-120"/>
              </a:rPr>
              <a:t> Visiteur entièrement anonyme arrive sur le site TAG Heuer USA pour sa toute première visite (zéro historique disponible, aucune donnée personnelle).</a:t>
            </a:r>
            <a:endParaRPr lang="en-US" sz="800" dirty="0"/>
          </a:p>
        </p:txBody>
      </p:sp>
      <p:sp>
        <p:nvSpPr>
          <p:cNvPr id="32" name="Text 30"/>
          <p:cNvSpPr/>
          <p:nvPr/>
        </p:nvSpPr>
        <p:spPr>
          <a:xfrm>
            <a:off x="7367945" y="5258514"/>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Comportement observé en temps réel :</a:t>
            </a:r>
            <a:r>
              <a:rPr lang="en-US" sz="800" dirty="0">
                <a:solidFill>
                  <a:srgbClr val="000000"/>
                </a:solidFill>
                <a:latin typeface="Inter" pitchFamily="34" charset="0"/>
                <a:ea typeface="Inter" pitchFamily="34" charset="-122"/>
                <a:cs typeface="Inter" pitchFamily="34" charset="-120"/>
              </a:rPr>
              <a:t> Pages visitées : Collection Aquaracer (3 minutes), Configurateur de montre utilisé activement (sélection cadran bleu + bracelet caoutchouc noir, 5 minutes d'interaction).</a:t>
            </a:r>
            <a:endParaRPr lang="en-US" sz="800" dirty="0"/>
          </a:p>
        </p:txBody>
      </p:sp>
      <p:sp>
        <p:nvSpPr>
          <p:cNvPr id="33" name="Text 31"/>
          <p:cNvSpPr/>
          <p:nvPr/>
        </p:nvSpPr>
        <p:spPr>
          <a:xfrm>
            <a:off x="7367945" y="5659755"/>
            <a:ext cx="6612493" cy="168950"/>
          </a:xfrm>
          <a:prstGeom prst="rect">
            <a:avLst/>
          </a:prstGeom>
          <a:noFill/>
          <a:ln/>
        </p:spPr>
        <p:txBody>
          <a:bodyPr wrap="non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IA génère une hypothèse comportementale probabiliste</a:t>
            </a:r>
            <a:r>
              <a:rPr lang="en-US" sz="800" dirty="0">
                <a:solidFill>
                  <a:srgbClr val="000000"/>
                </a:solidFill>
                <a:latin typeface="Inter" pitchFamily="34" charset="0"/>
                <a:ea typeface="Inter" pitchFamily="34" charset="-122"/>
                <a:cs typeface="Inter" pitchFamily="34" charset="-120"/>
              </a:rPr>
              <a:t> (explicitement PAS un profil culturel déterministe).</a:t>
            </a:r>
            <a:endParaRPr lang="en-US" sz="800" dirty="0"/>
          </a:p>
        </p:txBody>
      </p:sp>
      <p:sp>
        <p:nvSpPr>
          <p:cNvPr id="34" name="Text 32"/>
          <p:cNvSpPr/>
          <p:nvPr/>
        </p:nvSpPr>
        <p:spPr>
          <a:xfrm>
            <a:off x="7367945" y="5892046"/>
            <a:ext cx="6612493" cy="6757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Pop-up parfaitement transparent s'affiche :</a:t>
            </a:r>
            <a:r>
              <a:rPr lang="en-US" sz="800" dirty="0">
                <a:solidFill>
                  <a:srgbClr val="000000"/>
                </a:solidFill>
                <a:latin typeface="Inter" pitchFamily="34" charset="0"/>
                <a:ea typeface="Inter" pitchFamily="34" charset="-122"/>
                <a:cs typeface="Inter" pitchFamily="34" charset="-120"/>
              </a:rPr>
              <a:t> "Basé exclusivement sur votre intérêt observé pour les montres de plongée et les préférences de personnalisation que vous avez volontairement partagées via le configurateur, nous recommandons l'Aquaracer Professional 300. </a:t>
            </a:r>
            <a:r>
              <a:rPr lang="en-US" sz="800" b="1" dirty="0">
                <a:solidFill>
                  <a:srgbClr val="000000"/>
                </a:solidFill>
                <a:latin typeface="Inter" pitchFamily="34" charset="0"/>
                <a:ea typeface="Inter" pitchFamily="34" charset="-122"/>
                <a:cs typeface="Inter" pitchFamily="34" charset="-120"/>
              </a:rPr>
              <a:t>Pourquoi exactement cette recommandation ?</a:t>
            </a:r>
            <a:r>
              <a:rPr lang="en-US" sz="800" dirty="0">
                <a:solidFill>
                  <a:srgbClr val="000000"/>
                </a:solidFill>
                <a:latin typeface="Inter" pitchFamily="34" charset="0"/>
                <a:ea typeface="Inter" pitchFamily="34" charset="-122"/>
                <a:cs typeface="Inter" pitchFamily="34" charset="-120"/>
              </a:rPr>
              <a:t> Vous avez consulté en profondeur notre collection plongée professionnelle ET vous avez activement personnalisé un cadran bleu dans le configurateur."</a:t>
            </a:r>
            <a:endParaRPr lang="en-US" sz="800" dirty="0"/>
          </a:p>
        </p:txBody>
      </p:sp>
      <p:sp>
        <p:nvSpPr>
          <p:cNvPr id="35" name="Text 33"/>
          <p:cNvSpPr/>
          <p:nvPr/>
        </p:nvSpPr>
        <p:spPr>
          <a:xfrm>
            <a:off x="7367945" y="6631186"/>
            <a:ext cx="6612493" cy="337899"/>
          </a:xfrm>
          <a:prstGeom prst="rect">
            <a:avLst/>
          </a:prstGeom>
          <a:noFill/>
          <a:ln/>
        </p:spPr>
        <p:txBody>
          <a:bodyPr wrap="square" lIns="0" tIns="0" rIns="0" bIns="0" rtlCol="0" anchor="t"/>
          <a:lstStyle/>
          <a:p>
            <a:pPr marL="0" indent="0" algn="l">
              <a:lnSpc>
                <a:spcPts val="1300"/>
              </a:lnSpc>
              <a:buNone/>
            </a:pPr>
            <a:r>
              <a:rPr lang="en-US" sz="800" b="1" dirty="0">
                <a:solidFill>
                  <a:srgbClr val="000000"/>
                </a:solidFill>
                <a:latin typeface="Inter" pitchFamily="34" charset="0"/>
                <a:ea typeface="Inter" pitchFamily="34" charset="-122"/>
                <a:cs typeface="Inter" pitchFamily="34" charset="-120"/>
              </a:rPr>
              <a:t>Interface de contrôle visible et accessible :</a:t>
            </a:r>
            <a:r>
              <a:rPr lang="en-US" sz="800" dirty="0">
                <a:solidFill>
                  <a:srgbClr val="000000"/>
                </a:solidFill>
                <a:latin typeface="Inter" pitchFamily="34" charset="0"/>
                <a:ea typeface="Inter" pitchFamily="34" charset="-122"/>
                <a:cs typeface="Inter" pitchFamily="34" charset="-120"/>
              </a:rPr>
              <a:t> Bouton "Gérer toutes mes préférences de personnalisation", Option claire "Ne plus personnaliser mon expérience de navigation", Mécanisme d'opt-out immédiat et sans friction.</a:t>
            </a:r>
            <a:endParaRPr lang="en-US" sz="800" dirty="0"/>
          </a:p>
        </p:txBody>
      </p:sp>
      <p:sp>
        <p:nvSpPr>
          <p:cNvPr id="36" name="Text 34"/>
          <p:cNvSpPr/>
          <p:nvPr/>
        </p:nvSpPr>
        <p:spPr>
          <a:xfrm>
            <a:off x="7367945" y="7032427"/>
            <a:ext cx="6612493" cy="506849"/>
          </a:xfrm>
          <a:prstGeom prst="rect">
            <a:avLst/>
          </a:prstGeom>
          <a:noFill/>
          <a:ln/>
        </p:spPr>
        <p:txBody>
          <a:bodyPr wrap="square" lIns="0" tIns="0" rIns="0" bIns="0" rtlCol="0" anchor="t"/>
          <a:lstStyle/>
          <a:p>
            <a:pPr marL="0" indent="0" algn="l">
              <a:lnSpc>
                <a:spcPts val="1300"/>
              </a:lnSpc>
              <a:buNone/>
            </a:pPr>
            <a:r>
              <a:rPr lang="en-US" sz="800" b="1" dirty="0">
                <a:solidFill>
                  <a:srgbClr val="008150"/>
                </a:solidFill>
                <a:latin typeface="Inter" pitchFamily="34" charset="0"/>
                <a:ea typeface="Inter" pitchFamily="34" charset="-122"/>
                <a:cs typeface="Inter" pitchFamily="34" charset="-120"/>
              </a:rPr>
              <a:t>Résultat mesurable :</a:t>
            </a:r>
            <a:r>
              <a:rPr lang="en-US" sz="800" dirty="0">
                <a:solidFill>
                  <a:srgbClr val="000000"/>
                </a:solidFill>
                <a:latin typeface="Inter" pitchFamily="34" charset="0"/>
                <a:ea typeface="Inter" pitchFamily="34" charset="-122"/>
                <a:cs typeface="Inter" pitchFamily="34" charset="-120"/>
              </a:rPr>
              <a:t> Personnalisation perçue comme respectueuse et parfaitement justifiée, confiance progressivement construite via transparence totale, conformité GDPR exemplaire et vérifiable, apprentissage continu du comportement réel via tests A/B (validation ou invalidation de l'hypothèse initiale).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2102" y="496372"/>
            <a:ext cx="6773704" cy="315873"/>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Benchmarks Cross-Industrie : Validation de l'Approche</a:t>
            </a:r>
            <a:endParaRPr lang="en-US" sz="1950" dirty="0"/>
          </a:p>
        </p:txBody>
      </p:sp>
      <p:sp>
        <p:nvSpPr>
          <p:cNvPr id="3" name="Text 1"/>
          <p:cNvSpPr/>
          <p:nvPr/>
        </p:nvSpPr>
        <p:spPr>
          <a:xfrm>
            <a:off x="622102" y="1014413"/>
            <a:ext cx="13386197" cy="323374"/>
          </a:xfrm>
          <a:prstGeom prst="rect">
            <a:avLst/>
          </a:prstGeom>
          <a:noFill/>
          <a:ln/>
        </p:spPr>
        <p:txBody>
          <a:bodyPr wrap="square" lIns="0" tIns="0" rIns="0" bIns="0" rtlCol="0" anchor="t"/>
          <a:lstStyle/>
          <a:p>
            <a:pPr marL="0" indent="0" algn="l">
              <a:lnSpc>
                <a:spcPts val="1250"/>
              </a:lnSpc>
              <a:buNone/>
            </a:pPr>
            <a:r>
              <a:rPr lang="en-US" sz="750" dirty="0">
                <a:solidFill>
                  <a:srgbClr val="000000"/>
                </a:solidFill>
                <a:latin typeface="Inter" pitchFamily="34" charset="0"/>
                <a:ea typeface="Inter" pitchFamily="34" charset="-122"/>
                <a:cs typeface="Inter" pitchFamily="34" charset="-120"/>
              </a:rPr>
              <a:t>L'analyse de leaders dans d'autres secteurs du luxe et des services premium valide la faisabilité technique et l'acceptabilité client de notre approche d'intelligence culturelle. Ces cas démontrent que la personnalisation IA à grande échelle est non seulement possible, mais attendue par les clients UHNWI lorsqu'elle est correctement mise en œuvre.</a:t>
            </a:r>
            <a:endParaRPr lang="en-US" sz="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2102" y="1451491"/>
            <a:ext cx="252651" cy="252651"/>
          </a:xfrm>
          <a:prstGeom prst="rect">
            <a:avLst/>
          </a:prstGeom>
        </p:spPr>
      </p:pic>
      <p:sp>
        <p:nvSpPr>
          <p:cNvPr id="5" name="Text 2"/>
          <p:cNvSpPr/>
          <p:nvPr/>
        </p:nvSpPr>
        <p:spPr>
          <a:xfrm>
            <a:off x="622102" y="1830467"/>
            <a:ext cx="1778079" cy="157877"/>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Hôtellerie 5★ : Four Seasons</a:t>
            </a:r>
            <a:endParaRPr lang="en-US" sz="950" dirty="0"/>
          </a:p>
        </p:txBody>
      </p:sp>
      <p:sp>
        <p:nvSpPr>
          <p:cNvPr id="6" name="Text 3"/>
          <p:cNvSpPr/>
          <p:nvPr/>
        </p:nvSpPr>
        <p:spPr>
          <a:xfrm>
            <a:off x="622102" y="2048947"/>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Approche stratégique :</a:t>
            </a:r>
            <a:r>
              <a:rPr lang="en-US" sz="750" dirty="0">
                <a:solidFill>
                  <a:srgbClr val="000000"/>
                </a:solidFill>
                <a:latin typeface="Inter" pitchFamily="34" charset="0"/>
                <a:ea typeface="Inter" pitchFamily="34" charset="-122"/>
                <a:cs typeface="Inter" pitchFamily="34" charset="-120"/>
              </a:rPr>
              <a:t> Personnalisation N=1 rigoureuse basée sur l'historique complet des séjours individuels de chaque client à travers leur réseau mondial.</a:t>
            </a:r>
            <a:endParaRPr lang="en-US" sz="750" dirty="0"/>
          </a:p>
        </p:txBody>
      </p:sp>
      <p:sp>
        <p:nvSpPr>
          <p:cNvPr id="7" name="Text 4"/>
          <p:cNvSpPr/>
          <p:nvPr/>
        </p:nvSpPr>
        <p:spPr>
          <a:xfrm>
            <a:off x="622102" y="2432923"/>
            <a:ext cx="4377809" cy="485061"/>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Technologie déployée :</a:t>
            </a:r>
            <a:r>
              <a:rPr lang="en-US" sz="750" dirty="0">
                <a:solidFill>
                  <a:srgbClr val="000000"/>
                </a:solidFill>
                <a:latin typeface="Inter" pitchFamily="34" charset="0"/>
                <a:ea typeface="Inter" pitchFamily="34" charset="-122"/>
                <a:cs typeface="Inter" pitchFamily="34" charset="-120"/>
              </a:rPr>
              <a:t> Intelligence Artificielle couplée à une Customer Data Platform (CDP) permettant l'anticipation proactive des besoins (types d'oreillers préférés, horaires spa favoris, équipements gym utilisés).</a:t>
            </a:r>
            <a:endParaRPr lang="en-US" sz="750" dirty="0"/>
          </a:p>
        </p:txBody>
      </p:sp>
      <p:sp>
        <p:nvSpPr>
          <p:cNvPr id="8" name="Text 5"/>
          <p:cNvSpPr/>
          <p:nvPr/>
        </p:nvSpPr>
        <p:spPr>
          <a:xfrm>
            <a:off x="622102" y="2978587"/>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Résultat documenté :</a:t>
            </a:r>
            <a:r>
              <a:rPr lang="en-US" sz="750" dirty="0">
                <a:solidFill>
                  <a:srgbClr val="000000"/>
                </a:solidFill>
                <a:latin typeface="Inter" pitchFamily="34" charset="0"/>
                <a:ea typeface="Inter" pitchFamily="34" charset="-122"/>
                <a:cs typeface="Inter" pitchFamily="34" charset="-120"/>
              </a:rPr>
              <a:t> Augmentation mesurable de la satisfaction client sans déshumanisation perçue de l'expérience (le personnel reste au centre de la relation).</a:t>
            </a:r>
            <a:endParaRPr lang="en-US" sz="750" dirty="0"/>
          </a:p>
        </p:txBody>
      </p:sp>
      <p:sp>
        <p:nvSpPr>
          <p:cNvPr id="9" name="Text 6"/>
          <p:cNvSpPr/>
          <p:nvPr/>
        </p:nvSpPr>
        <p:spPr>
          <a:xfrm>
            <a:off x="622102" y="3362563"/>
            <a:ext cx="4377809" cy="485061"/>
          </a:xfrm>
          <a:prstGeom prst="rect">
            <a:avLst/>
          </a:prstGeom>
          <a:noFill/>
          <a:ln/>
        </p:spPr>
        <p:txBody>
          <a:bodyPr wrap="square" lIns="0" tIns="0" rIns="0" bIns="0" rtlCol="0" anchor="t"/>
          <a:lstStyle/>
          <a:p>
            <a:pPr marL="0" indent="0" algn="l">
              <a:lnSpc>
                <a:spcPts val="1250"/>
              </a:lnSpc>
              <a:buNone/>
            </a:pPr>
            <a:r>
              <a:rPr lang="en-US" sz="750" b="1" dirty="0">
                <a:solidFill>
                  <a:srgbClr val="008150"/>
                </a:solidFill>
                <a:latin typeface="Inter" pitchFamily="34" charset="0"/>
                <a:ea typeface="Inter" pitchFamily="34" charset="-122"/>
                <a:cs typeface="Inter" pitchFamily="34" charset="-120"/>
              </a:rPr>
              <a:t>Transposabilité TAG Heuer :</a:t>
            </a:r>
            <a:r>
              <a:rPr lang="en-US" sz="750" dirty="0">
                <a:solidFill>
                  <a:srgbClr val="000000"/>
                </a:solidFill>
                <a:latin typeface="Inter" pitchFamily="34" charset="0"/>
                <a:ea typeface="Inter" pitchFamily="34" charset="-122"/>
                <a:cs typeface="Inter" pitchFamily="34" charset="-120"/>
              </a:rPr>
              <a:t> Modèle directement applicable au Care Agent augmenté. </a:t>
            </a:r>
            <a:r>
              <a:rPr lang="en-US" sz="750" b="1" dirty="0">
                <a:solidFill>
                  <a:srgbClr val="000000"/>
                </a:solidFill>
                <a:latin typeface="Inter" pitchFamily="34" charset="0"/>
                <a:ea typeface="Inter" pitchFamily="34" charset="-122"/>
                <a:cs typeface="Inter" pitchFamily="34" charset="-120"/>
              </a:rPr>
              <a:t>Validation critique :</a:t>
            </a:r>
            <a:r>
              <a:rPr lang="en-US" sz="750" dirty="0">
                <a:solidFill>
                  <a:srgbClr val="000000"/>
                </a:solidFill>
                <a:latin typeface="Inter" pitchFamily="34" charset="0"/>
                <a:ea typeface="Inter" pitchFamily="34" charset="-122"/>
                <a:cs typeface="Inter" pitchFamily="34" charset="-120"/>
              </a:rPr>
              <a:t> Les clients UHNW acceptent et apprécient l'hyper-personnalisation pilotée par IA si l'authenticité de la relation humaine est préservée.</a:t>
            </a:r>
            <a:endParaRPr lang="en-US" sz="750" dirty="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26236" y="1451491"/>
            <a:ext cx="252651" cy="252651"/>
          </a:xfrm>
          <a:prstGeom prst="rect">
            <a:avLst/>
          </a:prstGeom>
        </p:spPr>
      </p:pic>
      <p:sp>
        <p:nvSpPr>
          <p:cNvPr id="11" name="Text 7"/>
          <p:cNvSpPr/>
          <p:nvPr/>
        </p:nvSpPr>
        <p:spPr>
          <a:xfrm>
            <a:off x="5126236" y="1830467"/>
            <a:ext cx="2816662" cy="157877"/>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Banque Privée : DBS Private Bank (Singapour)</a:t>
            </a:r>
            <a:endParaRPr lang="en-US" sz="950" dirty="0"/>
          </a:p>
        </p:txBody>
      </p:sp>
      <p:sp>
        <p:nvSpPr>
          <p:cNvPr id="12" name="Text 8"/>
          <p:cNvSpPr/>
          <p:nvPr/>
        </p:nvSpPr>
        <p:spPr>
          <a:xfrm>
            <a:off x="5126236" y="2048947"/>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Approche stratégique :</a:t>
            </a:r>
            <a:r>
              <a:rPr lang="en-US" sz="750" dirty="0">
                <a:solidFill>
                  <a:srgbClr val="000000"/>
                </a:solidFill>
                <a:latin typeface="Inter" pitchFamily="34" charset="0"/>
                <a:ea typeface="Inter" pitchFamily="34" charset="-122"/>
                <a:cs typeface="Inter" pitchFamily="34" charset="-120"/>
              </a:rPr>
              <a:t> Déploiement de plus de 100 algorithmes d'IA analysant en continu 15,000 points de données distincts par client individuel.</a:t>
            </a:r>
            <a:endParaRPr lang="en-US" sz="750" dirty="0"/>
          </a:p>
        </p:txBody>
      </p:sp>
      <p:sp>
        <p:nvSpPr>
          <p:cNvPr id="13" name="Text 9"/>
          <p:cNvSpPr/>
          <p:nvPr/>
        </p:nvSpPr>
        <p:spPr>
          <a:xfrm>
            <a:off x="5126236" y="2432923"/>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Technologie déployée :</a:t>
            </a:r>
            <a:r>
              <a:rPr lang="en-US" sz="750" dirty="0">
                <a:solidFill>
                  <a:srgbClr val="000000"/>
                </a:solidFill>
                <a:latin typeface="Inter" pitchFamily="34" charset="0"/>
                <a:ea typeface="Inter" pitchFamily="34" charset="-122"/>
                <a:cs typeface="Inter" pitchFamily="34" charset="-120"/>
              </a:rPr>
              <a:t> Système sophistiqué de 7 types de "nudges" comportementaux personnalisés générant 3.5 millions d'interactions mensuelles totalement individualisées.</a:t>
            </a:r>
            <a:endParaRPr lang="en-US" sz="750" dirty="0"/>
          </a:p>
        </p:txBody>
      </p:sp>
      <p:sp>
        <p:nvSpPr>
          <p:cNvPr id="14" name="Text 10"/>
          <p:cNvSpPr/>
          <p:nvPr/>
        </p:nvSpPr>
        <p:spPr>
          <a:xfrm>
            <a:off x="5126236" y="2816900"/>
            <a:ext cx="4377809" cy="485061"/>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Résultat documenté :</a:t>
            </a:r>
            <a:r>
              <a:rPr lang="en-US" sz="750" dirty="0">
                <a:solidFill>
                  <a:srgbClr val="000000"/>
                </a:solidFill>
                <a:latin typeface="Inter" pitchFamily="34" charset="0"/>
                <a:ea typeface="Inter" pitchFamily="34" charset="-122"/>
                <a:cs typeface="Inter" pitchFamily="34" charset="-120"/>
              </a:rPr>
              <a:t> Preuve empirique que les clients UHNW non seulement acceptent mais </a:t>
            </a:r>
            <a:r>
              <a:rPr lang="en-US" sz="750" b="1" dirty="0">
                <a:solidFill>
                  <a:srgbClr val="000000"/>
                </a:solidFill>
                <a:latin typeface="Inter" pitchFamily="34" charset="0"/>
                <a:ea typeface="Inter" pitchFamily="34" charset="-122"/>
                <a:cs typeface="Inter" pitchFamily="34" charset="-120"/>
              </a:rPr>
              <a:t>attendent activement</a:t>
            </a:r>
            <a:r>
              <a:rPr lang="en-US" sz="750" dirty="0">
                <a:solidFill>
                  <a:srgbClr val="000000"/>
                </a:solidFill>
                <a:latin typeface="Inter" pitchFamily="34" charset="0"/>
                <a:ea typeface="Inter" pitchFamily="34" charset="-122"/>
                <a:cs typeface="Inter" pitchFamily="34" charset="-120"/>
              </a:rPr>
              <a:t> une hyper-personnalisation pilotée par IA dans leur gestion patrimoniale.</a:t>
            </a:r>
            <a:endParaRPr lang="en-US" sz="750" dirty="0"/>
          </a:p>
        </p:txBody>
      </p:sp>
      <p:sp>
        <p:nvSpPr>
          <p:cNvPr id="15" name="Text 11"/>
          <p:cNvSpPr/>
          <p:nvPr/>
        </p:nvSpPr>
        <p:spPr>
          <a:xfrm>
            <a:off x="5126236" y="3362563"/>
            <a:ext cx="4377809" cy="485061"/>
          </a:xfrm>
          <a:prstGeom prst="rect">
            <a:avLst/>
          </a:prstGeom>
          <a:noFill/>
          <a:ln/>
        </p:spPr>
        <p:txBody>
          <a:bodyPr wrap="square" lIns="0" tIns="0" rIns="0" bIns="0" rtlCol="0" anchor="t"/>
          <a:lstStyle/>
          <a:p>
            <a:pPr marL="0" indent="0" algn="l">
              <a:lnSpc>
                <a:spcPts val="1250"/>
              </a:lnSpc>
              <a:buNone/>
            </a:pPr>
            <a:r>
              <a:rPr lang="en-US" sz="750" b="1" dirty="0">
                <a:solidFill>
                  <a:srgbClr val="008150"/>
                </a:solidFill>
                <a:latin typeface="Inter" pitchFamily="34" charset="0"/>
                <a:ea typeface="Inter" pitchFamily="34" charset="-122"/>
                <a:cs typeface="Inter" pitchFamily="34" charset="-120"/>
              </a:rPr>
              <a:t>Transposabilité TAG Heuer :</a:t>
            </a:r>
            <a:r>
              <a:rPr lang="en-US" sz="750" dirty="0">
                <a:solidFill>
                  <a:srgbClr val="000000"/>
                </a:solidFill>
                <a:latin typeface="Inter" pitchFamily="34" charset="0"/>
                <a:ea typeface="Inter" pitchFamily="34" charset="-122"/>
                <a:cs typeface="Inter" pitchFamily="34" charset="-120"/>
              </a:rPr>
              <a:t> Validation de la viabilité technique à l'échelle de la complexité requise. </a:t>
            </a:r>
            <a:r>
              <a:rPr lang="en-US" sz="750" b="1" dirty="0">
                <a:solidFill>
                  <a:srgbClr val="000000"/>
                </a:solidFill>
                <a:latin typeface="Inter" pitchFamily="34" charset="0"/>
                <a:ea typeface="Inter" pitchFamily="34" charset="-122"/>
                <a:cs typeface="Inter" pitchFamily="34" charset="-120"/>
              </a:rPr>
              <a:t>Insight stratégique :</a:t>
            </a:r>
            <a:r>
              <a:rPr lang="en-US" sz="750" dirty="0">
                <a:solidFill>
                  <a:srgbClr val="000000"/>
                </a:solidFill>
                <a:latin typeface="Inter" pitchFamily="34" charset="0"/>
                <a:ea typeface="Inter" pitchFamily="34" charset="-122"/>
                <a:cs typeface="Inter" pitchFamily="34" charset="-120"/>
              </a:rPr>
              <a:t> Les clients fortunés ne rejettent PAS fondamentalement l'IA si elle améliore tangiblement le service (plutôt que de chercher à le remplacer).</a:t>
            </a:r>
            <a:endParaRPr lang="en-US" sz="750" dirty="0"/>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30370" y="1451491"/>
            <a:ext cx="252651" cy="252651"/>
          </a:xfrm>
          <a:prstGeom prst="rect">
            <a:avLst/>
          </a:prstGeom>
        </p:spPr>
      </p:pic>
      <p:sp>
        <p:nvSpPr>
          <p:cNvPr id="17" name="Text 12"/>
          <p:cNvSpPr/>
          <p:nvPr/>
        </p:nvSpPr>
        <p:spPr>
          <a:xfrm>
            <a:off x="9630370" y="1830467"/>
            <a:ext cx="2829044" cy="157877"/>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Hôtellerie Luxe Chine : InterContinental Sanya</a:t>
            </a:r>
            <a:endParaRPr lang="en-US" sz="950" dirty="0"/>
          </a:p>
        </p:txBody>
      </p:sp>
      <p:sp>
        <p:nvSpPr>
          <p:cNvPr id="18" name="Text 13"/>
          <p:cNvSpPr/>
          <p:nvPr/>
        </p:nvSpPr>
        <p:spPr>
          <a:xfrm>
            <a:off x="9630370" y="2048947"/>
            <a:ext cx="4377928"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Approche stratégique :</a:t>
            </a:r>
            <a:r>
              <a:rPr lang="en-US" sz="750" dirty="0">
                <a:solidFill>
                  <a:srgbClr val="000000"/>
                </a:solidFill>
                <a:latin typeface="Inter" pitchFamily="34" charset="0"/>
                <a:ea typeface="Inter" pitchFamily="34" charset="-122"/>
                <a:cs typeface="Inter" pitchFamily="34" charset="-120"/>
              </a:rPr>
              <a:t> Intégration culturelle chinoise profonde et authentique dans tous les aspects du service (absolument pas une standardisation mondiale type JW Marriott).</a:t>
            </a:r>
            <a:endParaRPr lang="en-US" sz="750" dirty="0"/>
          </a:p>
        </p:txBody>
      </p:sp>
      <p:sp>
        <p:nvSpPr>
          <p:cNvPr id="19" name="Text 14"/>
          <p:cNvSpPr/>
          <p:nvPr/>
        </p:nvSpPr>
        <p:spPr>
          <a:xfrm>
            <a:off x="9630370" y="2432923"/>
            <a:ext cx="4377928" cy="485061"/>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Résultat documenté :</a:t>
            </a:r>
            <a:r>
              <a:rPr lang="en-US" sz="750" dirty="0">
                <a:solidFill>
                  <a:srgbClr val="000000"/>
                </a:solidFill>
                <a:latin typeface="Inter" pitchFamily="34" charset="0"/>
                <a:ea typeface="Inter" pitchFamily="34" charset="-122"/>
                <a:cs typeface="Inter" pitchFamily="34" charset="-120"/>
              </a:rPr>
              <a:t> Création d'un lien émotionnel significativement supérieur et d'un sentiment d'appartenance culturelle fort chez les clients chinois (versus concurrents internationaux standardisés).</a:t>
            </a:r>
            <a:endParaRPr lang="en-US" sz="750" dirty="0"/>
          </a:p>
        </p:txBody>
      </p:sp>
      <p:sp>
        <p:nvSpPr>
          <p:cNvPr id="20" name="Text 15"/>
          <p:cNvSpPr/>
          <p:nvPr/>
        </p:nvSpPr>
        <p:spPr>
          <a:xfrm>
            <a:off x="9630370" y="2978587"/>
            <a:ext cx="4377928" cy="646748"/>
          </a:xfrm>
          <a:prstGeom prst="rect">
            <a:avLst/>
          </a:prstGeom>
          <a:noFill/>
          <a:ln/>
        </p:spPr>
        <p:txBody>
          <a:bodyPr wrap="square" lIns="0" tIns="0" rIns="0" bIns="0" rtlCol="0" anchor="t"/>
          <a:lstStyle/>
          <a:p>
            <a:pPr marL="0" indent="0" algn="l">
              <a:lnSpc>
                <a:spcPts val="1250"/>
              </a:lnSpc>
              <a:buNone/>
            </a:pPr>
            <a:r>
              <a:rPr lang="en-US" sz="750" b="1" dirty="0">
                <a:solidFill>
                  <a:srgbClr val="008150"/>
                </a:solidFill>
                <a:latin typeface="Inter" pitchFamily="34" charset="0"/>
                <a:ea typeface="Inter" pitchFamily="34" charset="-122"/>
                <a:cs typeface="Inter" pitchFamily="34" charset="-120"/>
              </a:rPr>
              <a:t>Transposabilité TAG Heuer :</a:t>
            </a:r>
            <a:r>
              <a:rPr lang="en-US" sz="750" dirty="0">
                <a:solidFill>
                  <a:srgbClr val="000000"/>
                </a:solidFill>
                <a:latin typeface="Inter" pitchFamily="34" charset="0"/>
                <a:ea typeface="Inter" pitchFamily="34" charset="-122"/>
                <a:cs typeface="Inter" pitchFamily="34" charset="-120"/>
              </a:rPr>
              <a:t> La personnalisation culturelle crée une différenciation perçue supérieure au service cohérent mais générique. </a:t>
            </a:r>
            <a:r>
              <a:rPr lang="en-US" sz="750" b="1" dirty="0">
                <a:solidFill>
                  <a:srgbClr val="000000"/>
                </a:solidFill>
                <a:latin typeface="Inter" pitchFamily="34" charset="0"/>
                <a:ea typeface="Inter" pitchFamily="34" charset="-122"/>
                <a:cs typeface="Inter" pitchFamily="34" charset="-120"/>
              </a:rPr>
              <a:t>Validation stratégique :</a:t>
            </a:r>
            <a:r>
              <a:rPr lang="en-US" sz="750" dirty="0">
                <a:solidFill>
                  <a:srgbClr val="000000"/>
                </a:solidFill>
                <a:latin typeface="Inter" pitchFamily="34" charset="0"/>
                <a:ea typeface="Inter" pitchFamily="34" charset="-122"/>
                <a:cs typeface="Inter" pitchFamily="34" charset="-120"/>
              </a:rPr>
              <a:t> L'adaptation culturelle authentique génère une différenciation concurrentielle durable et difficilement réplicable.</a:t>
            </a:r>
            <a:endParaRPr lang="en-US" sz="750" dirty="0"/>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2102" y="4049792"/>
            <a:ext cx="252651" cy="252651"/>
          </a:xfrm>
          <a:prstGeom prst="rect">
            <a:avLst/>
          </a:prstGeom>
        </p:spPr>
      </p:pic>
      <p:sp>
        <p:nvSpPr>
          <p:cNvPr id="22" name="Text 16"/>
          <p:cNvSpPr/>
          <p:nvPr/>
        </p:nvSpPr>
        <p:spPr>
          <a:xfrm>
            <a:off x="622102" y="4428768"/>
            <a:ext cx="2421493" cy="157877"/>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Groupe LVMH (Interne) : Leçon Critique</a:t>
            </a:r>
            <a:endParaRPr lang="en-US" sz="950" dirty="0"/>
          </a:p>
        </p:txBody>
      </p:sp>
      <p:sp>
        <p:nvSpPr>
          <p:cNvPr id="23" name="Text 17"/>
          <p:cNvSpPr/>
          <p:nvPr/>
        </p:nvSpPr>
        <p:spPr>
          <a:xfrm>
            <a:off x="622102" y="4647248"/>
            <a:ext cx="4377809" cy="485061"/>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Cas documenté :</a:t>
            </a:r>
            <a:r>
              <a:rPr lang="en-US" sz="750" dirty="0">
                <a:solidFill>
                  <a:srgbClr val="000000"/>
                </a:solidFill>
                <a:latin typeface="Inter" pitchFamily="34" charset="0"/>
                <a:ea typeface="Inter" pitchFamily="34" charset="-122"/>
                <a:cs typeface="Inter" pitchFamily="34" charset="-120"/>
              </a:rPr>
              <a:t> Déploiement initial d'une IA "chirurgicalement précise" dans ses recommandations → Résultat inattendu : Stagnation complète des ventes malgré l'optimisation technique parfaite.</a:t>
            </a:r>
            <a:endParaRPr lang="en-US" sz="750" dirty="0"/>
          </a:p>
        </p:txBody>
      </p:sp>
      <p:sp>
        <p:nvSpPr>
          <p:cNvPr id="24" name="Text 18"/>
          <p:cNvSpPr/>
          <p:nvPr/>
        </p:nvSpPr>
        <p:spPr>
          <a:xfrm>
            <a:off x="622102" y="5192911"/>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Pivot stratégique majeur :</a:t>
            </a:r>
            <a:r>
              <a:rPr lang="en-US" sz="750" dirty="0">
                <a:solidFill>
                  <a:srgbClr val="000000"/>
                </a:solidFill>
                <a:latin typeface="Inter" pitchFamily="34" charset="0"/>
                <a:ea typeface="Inter" pitchFamily="34" charset="-122"/>
                <a:cs typeface="Inter" pitchFamily="34" charset="-120"/>
              </a:rPr>
              <a:t> Introduction volontaire de "déséquilibres stratégiques" (suggestions intentionnellement placées hors de la zone de confort prédite du client).</a:t>
            </a:r>
            <a:endParaRPr lang="en-US" sz="750" dirty="0"/>
          </a:p>
        </p:txBody>
      </p:sp>
      <p:sp>
        <p:nvSpPr>
          <p:cNvPr id="25" name="Text 19"/>
          <p:cNvSpPr/>
          <p:nvPr/>
        </p:nvSpPr>
        <p:spPr>
          <a:xfrm>
            <a:off x="622102" y="5576888"/>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Résultat post-pivot :</a:t>
            </a:r>
            <a:r>
              <a:rPr lang="en-US" sz="750" dirty="0">
                <a:solidFill>
                  <a:srgbClr val="000000"/>
                </a:solidFill>
                <a:latin typeface="Inter" pitchFamily="34" charset="0"/>
                <a:ea typeface="Inter" pitchFamily="34" charset="-122"/>
                <a:cs typeface="Inter" pitchFamily="34" charset="-120"/>
              </a:rPr>
              <a:t> </a:t>
            </a:r>
            <a:r>
              <a:rPr lang="en-US" sz="750" dirty="0">
                <a:solidFill>
                  <a:srgbClr val="FFFFFF"/>
                </a:solidFill>
                <a:highlight>
                  <a:srgbClr val="008150"/>
                </a:highlight>
                <a:latin typeface="Inter" pitchFamily="34" charset="0"/>
                <a:ea typeface="Inter" pitchFamily="34" charset="-122"/>
                <a:cs typeface="Inter" pitchFamily="34" charset="-120"/>
              </a:rPr>
              <a:t>+23% de taux de conversion global</a:t>
            </a:r>
            <a:r>
              <a:rPr lang="en-US" sz="750" dirty="0">
                <a:solidFill>
                  <a:srgbClr val="000000"/>
                </a:solidFill>
                <a:latin typeface="Inter" pitchFamily="34" charset="0"/>
                <a:ea typeface="Inter" pitchFamily="34" charset="-122"/>
                <a:cs typeface="Inter" pitchFamily="34" charset="-120"/>
              </a:rPr>
              <a:t> après réintroduction de la sérendipité.</a:t>
            </a:r>
            <a:endParaRPr lang="en-US" sz="750" dirty="0"/>
          </a:p>
        </p:txBody>
      </p:sp>
      <p:sp>
        <p:nvSpPr>
          <p:cNvPr id="26" name="Text 20"/>
          <p:cNvSpPr/>
          <p:nvPr/>
        </p:nvSpPr>
        <p:spPr>
          <a:xfrm>
            <a:off x="622102" y="5960864"/>
            <a:ext cx="4377809" cy="808434"/>
          </a:xfrm>
          <a:prstGeom prst="rect">
            <a:avLst/>
          </a:prstGeom>
          <a:noFill/>
          <a:ln/>
        </p:spPr>
        <p:txBody>
          <a:bodyPr wrap="square" lIns="0" tIns="0" rIns="0" bIns="0" rtlCol="0" anchor="t"/>
          <a:lstStyle/>
          <a:p>
            <a:pPr marL="0" indent="0" algn="l">
              <a:lnSpc>
                <a:spcPts val="1250"/>
              </a:lnSpc>
              <a:buNone/>
            </a:pPr>
            <a:r>
              <a:rPr lang="en-US" sz="750" b="1" dirty="0">
                <a:solidFill>
                  <a:srgbClr val="E3001D"/>
                </a:solidFill>
                <a:latin typeface="Inter" pitchFamily="34" charset="0"/>
                <a:ea typeface="Inter" pitchFamily="34" charset="-122"/>
                <a:cs typeface="Inter" pitchFamily="34" charset="-120"/>
              </a:rPr>
              <a:t>Implication directe TAG Heuer :</a:t>
            </a:r>
            <a:r>
              <a:rPr lang="en-US" sz="750" dirty="0">
                <a:solidFill>
                  <a:srgbClr val="000000"/>
                </a:solidFill>
                <a:latin typeface="Inter" pitchFamily="34" charset="0"/>
                <a:ea typeface="Inter" pitchFamily="34" charset="-122"/>
                <a:cs typeface="Inter" pitchFamily="34" charset="-120"/>
              </a:rPr>
              <a:t> La sur-optimisation algorithmique tue la sérendipité et devient contre-productive dans le luxe. L'IA doit impérativement laisser de l'espace pour la découverte et la surprise (éléments essentiels de l'expérience luxe authentique). </a:t>
            </a:r>
            <a:r>
              <a:rPr lang="en-US" sz="750" b="1" dirty="0">
                <a:solidFill>
                  <a:srgbClr val="000000"/>
                </a:solidFill>
                <a:latin typeface="Inter" pitchFamily="34" charset="0"/>
                <a:ea typeface="Inter" pitchFamily="34" charset="-122"/>
                <a:cs typeface="Inter" pitchFamily="34" charset="-120"/>
              </a:rPr>
              <a:t>Paradoxe fondamental :</a:t>
            </a:r>
            <a:r>
              <a:rPr lang="en-US" sz="750" dirty="0">
                <a:solidFill>
                  <a:srgbClr val="000000"/>
                </a:solidFill>
                <a:latin typeface="Inter" pitchFamily="34" charset="0"/>
                <a:ea typeface="Inter" pitchFamily="34" charset="-122"/>
                <a:cs typeface="Inter" pitchFamily="34" charset="-120"/>
              </a:rPr>
              <a:t> L'intelligence culturelle aide significativement mais ne doit JAMAIS enfermer le client dans un tunnel de préférences prédites et auto-réalisatrices.</a:t>
            </a:r>
            <a:endParaRPr lang="en-US" sz="750" dirty="0"/>
          </a:p>
        </p:txBody>
      </p:sp>
      <p:pic>
        <p:nvPicPr>
          <p:cNvPr id="27"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26236" y="4049792"/>
            <a:ext cx="252651" cy="252651"/>
          </a:xfrm>
          <a:prstGeom prst="rect">
            <a:avLst/>
          </a:prstGeom>
        </p:spPr>
      </p:pic>
      <p:sp>
        <p:nvSpPr>
          <p:cNvPr id="28" name="Text 21"/>
          <p:cNvSpPr/>
          <p:nvPr/>
        </p:nvSpPr>
        <p:spPr>
          <a:xfrm>
            <a:off x="5126236" y="4428768"/>
            <a:ext cx="2799517" cy="157877"/>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Saks Fifth Avenue : Fondation Technique CDP</a:t>
            </a:r>
            <a:endParaRPr lang="en-US" sz="950" dirty="0"/>
          </a:p>
        </p:txBody>
      </p:sp>
      <p:sp>
        <p:nvSpPr>
          <p:cNvPr id="29" name="Text 22"/>
          <p:cNvSpPr/>
          <p:nvPr/>
        </p:nvSpPr>
        <p:spPr>
          <a:xfrm>
            <a:off x="5126236" y="4647248"/>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Problème initial :</a:t>
            </a:r>
            <a:r>
              <a:rPr lang="en-US" sz="750" dirty="0">
                <a:solidFill>
                  <a:srgbClr val="000000"/>
                </a:solidFill>
                <a:latin typeface="Inter" pitchFamily="34" charset="0"/>
                <a:ea typeface="Inter" pitchFamily="34" charset="-122"/>
                <a:cs typeface="Inter" pitchFamily="34" charset="-120"/>
              </a:rPr>
              <a:t> Fragmentation sévère des données clients à travers multiples systèmes hérités (exactement le même problème que TAG Heuer actuellement).</a:t>
            </a:r>
            <a:endParaRPr lang="en-US" sz="750" dirty="0"/>
          </a:p>
        </p:txBody>
      </p:sp>
      <p:sp>
        <p:nvSpPr>
          <p:cNvPr id="30" name="Text 23"/>
          <p:cNvSpPr/>
          <p:nvPr/>
        </p:nvSpPr>
        <p:spPr>
          <a:xfrm>
            <a:off x="5126236" y="5031224"/>
            <a:ext cx="4377809" cy="323374"/>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Solution déployée :</a:t>
            </a:r>
            <a:r>
              <a:rPr lang="en-US" sz="750" dirty="0">
                <a:solidFill>
                  <a:srgbClr val="000000"/>
                </a:solidFill>
                <a:latin typeface="Inter" pitchFamily="34" charset="0"/>
                <a:ea typeface="Inter" pitchFamily="34" charset="-122"/>
                <a:cs typeface="Inter" pitchFamily="34" charset="-120"/>
              </a:rPr>
              <a:t> Implémentation d'une architecture CDP (Customer Data Platform) moderne et unifiée.</a:t>
            </a:r>
            <a:endParaRPr lang="en-US" sz="750" dirty="0"/>
          </a:p>
        </p:txBody>
      </p:sp>
      <p:sp>
        <p:nvSpPr>
          <p:cNvPr id="31" name="Text 24"/>
          <p:cNvSpPr/>
          <p:nvPr/>
        </p:nvSpPr>
        <p:spPr>
          <a:xfrm>
            <a:off x="5126236" y="5415201"/>
            <a:ext cx="4377809" cy="485061"/>
          </a:xfrm>
          <a:prstGeom prst="rect">
            <a:avLst/>
          </a:prstGeom>
          <a:noFill/>
          <a:ln/>
        </p:spPr>
        <p:txBody>
          <a:bodyPr wrap="square" lIns="0" tIns="0" rIns="0" bIns="0" rtlCol="0" anchor="t"/>
          <a:lstStyle/>
          <a:p>
            <a:pPr marL="0" indent="0" algn="l">
              <a:lnSpc>
                <a:spcPts val="1250"/>
              </a:lnSpc>
              <a:buNone/>
            </a:pPr>
            <a:r>
              <a:rPr lang="en-US" sz="750" b="1" dirty="0">
                <a:solidFill>
                  <a:srgbClr val="000000"/>
                </a:solidFill>
                <a:latin typeface="Inter" pitchFamily="34" charset="0"/>
                <a:ea typeface="Inter" pitchFamily="34" charset="-122"/>
                <a:cs typeface="Inter" pitchFamily="34" charset="-120"/>
              </a:rPr>
              <a:t>Résultats mesurés post-implémentation :</a:t>
            </a:r>
            <a:r>
              <a:rPr lang="en-US" sz="750" dirty="0">
                <a:solidFill>
                  <a:srgbClr val="000000"/>
                </a:solidFill>
                <a:latin typeface="Inter" pitchFamily="34" charset="0"/>
                <a:ea typeface="Inter" pitchFamily="34" charset="-122"/>
                <a:cs typeface="Inter" pitchFamily="34" charset="-120"/>
              </a:rPr>
              <a:t> Temps d'intégration de nouvelles sources de données réduit de "plusieurs mois → quelques heures seulement", Productivité de l'équipe data engineering multipliée par 5.</a:t>
            </a:r>
            <a:endParaRPr lang="en-US" sz="750" dirty="0"/>
          </a:p>
        </p:txBody>
      </p:sp>
      <p:sp>
        <p:nvSpPr>
          <p:cNvPr id="32" name="Text 25"/>
          <p:cNvSpPr/>
          <p:nvPr/>
        </p:nvSpPr>
        <p:spPr>
          <a:xfrm>
            <a:off x="5126236" y="5960864"/>
            <a:ext cx="4377809" cy="646748"/>
          </a:xfrm>
          <a:prstGeom prst="rect">
            <a:avLst/>
          </a:prstGeom>
          <a:noFill/>
          <a:ln/>
        </p:spPr>
        <p:txBody>
          <a:bodyPr wrap="square" lIns="0" tIns="0" rIns="0" bIns="0" rtlCol="0" anchor="t"/>
          <a:lstStyle/>
          <a:p>
            <a:pPr marL="0" indent="0" algn="l">
              <a:lnSpc>
                <a:spcPts val="1250"/>
              </a:lnSpc>
              <a:buNone/>
            </a:pPr>
            <a:r>
              <a:rPr lang="en-US" sz="750" b="1" dirty="0">
                <a:solidFill>
                  <a:srgbClr val="008150"/>
                </a:solidFill>
                <a:latin typeface="Inter" pitchFamily="34" charset="0"/>
                <a:ea typeface="Inter" pitchFamily="34" charset="-122"/>
                <a:cs typeface="Inter" pitchFamily="34" charset="-120"/>
              </a:rPr>
              <a:t>Transposabilité TAG Heuer :</a:t>
            </a:r>
            <a:r>
              <a:rPr lang="en-US" sz="750" dirty="0">
                <a:solidFill>
                  <a:srgbClr val="000000"/>
                </a:solidFill>
                <a:latin typeface="Inter" pitchFamily="34" charset="0"/>
                <a:ea typeface="Inter" pitchFamily="34" charset="-122"/>
                <a:cs typeface="Inter" pitchFamily="34" charset="-120"/>
              </a:rPr>
              <a:t> Le ROI d'une CDP est empiriquement démontré dans le retail luxe. </a:t>
            </a:r>
            <a:r>
              <a:rPr lang="en-US" sz="750" b="1" dirty="0">
                <a:solidFill>
                  <a:srgbClr val="000000"/>
                </a:solidFill>
                <a:latin typeface="Inter" pitchFamily="34" charset="0"/>
                <a:ea typeface="Inter" pitchFamily="34" charset="-122"/>
                <a:cs typeface="Inter" pitchFamily="34" charset="-120"/>
              </a:rPr>
              <a:t>Implication stratégique :</a:t>
            </a:r>
            <a:r>
              <a:rPr lang="en-US" sz="750" dirty="0">
                <a:solidFill>
                  <a:srgbClr val="000000"/>
                </a:solidFill>
                <a:latin typeface="Inter" pitchFamily="34" charset="0"/>
                <a:ea typeface="Inter" pitchFamily="34" charset="-122"/>
                <a:cs typeface="Inter" pitchFamily="34" charset="-120"/>
              </a:rPr>
              <a:t> L'investissement prioritaire dans la fondation de données unifiée doit précéder absolument tout projet ambitieux d'IA de personnalisation (ordre des phases non négociable).</a:t>
            </a:r>
            <a:endParaRPr lang="en-US" sz="750" dirty="0"/>
          </a:p>
        </p:txBody>
      </p:sp>
      <p:sp>
        <p:nvSpPr>
          <p:cNvPr id="33" name="Shape 26"/>
          <p:cNvSpPr/>
          <p:nvPr/>
        </p:nvSpPr>
        <p:spPr>
          <a:xfrm>
            <a:off x="622102" y="6883003"/>
            <a:ext cx="13386197" cy="850106"/>
          </a:xfrm>
          <a:prstGeom prst="roundRect">
            <a:avLst>
              <a:gd name="adj" fmla="val 4995"/>
            </a:avLst>
          </a:prstGeom>
          <a:solidFill>
            <a:srgbClr val="B3FFE2"/>
          </a:solidFill>
          <a:ln/>
        </p:spPr>
        <p:txBody>
          <a:bodyPr/>
          <a:lstStyle/>
          <a:p>
            <a:endParaRPr lang="fr-CH"/>
          </a:p>
        </p:txBody>
      </p:sp>
      <p:pic>
        <p:nvPicPr>
          <p:cNvPr id="34" name="Image 5" descr="preencoded.png"/>
          <p:cNvPicPr>
            <a:picLocks noChangeAspect="1"/>
          </p:cNvPicPr>
          <p:nvPr/>
        </p:nvPicPr>
        <p:blipFill>
          <a:blip r:embed="rId13"/>
          <a:stretch>
            <a:fillRect/>
          </a:stretch>
        </p:blipFill>
        <p:spPr>
          <a:xfrm>
            <a:off x="723186" y="7020639"/>
            <a:ext cx="157877" cy="126325"/>
          </a:xfrm>
          <a:prstGeom prst="rect">
            <a:avLst/>
          </a:prstGeom>
        </p:spPr>
      </p:pic>
      <p:sp>
        <p:nvSpPr>
          <p:cNvPr id="35" name="Text 27"/>
          <p:cNvSpPr/>
          <p:nvPr/>
        </p:nvSpPr>
        <p:spPr>
          <a:xfrm>
            <a:off x="982147" y="7009328"/>
            <a:ext cx="2559129" cy="157877"/>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Inter Bold" pitchFamily="34" charset="0"/>
                <a:ea typeface="Inter Bold" pitchFamily="34" charset="-122"/>
                <a:cs typeface="Inter Bold" pitchFamily="34" charset="-120"/>
              </a:rPr>
              <a:t>Synthèse des Validations Cross-Industrie</a:t>
            </a:r>
            <a:endParaRPr lang="en-US" sz="950" dirty="0"/>
          </a:p>
        </p:txBody>
      </p:sp>
      <p:sp>
        <p:nvSpPr>
          <p:cNvPr id="36" name="Text 28"/>
          <p:cNvSpPr/>
          <p:nvPr/>
        </p:nvSpPr>
        <p:spPr>
          <a:xfrm>
            <a:off x="982147" y="7268289"/>
            <a:ext cx="12925068" cy="323374"/>
          </a:xfrm>
          <a:prstGeom prst="rect">
            <a:avLst/>
          </a:prstGeom>
          <a:noFill/>
          <a:ln/>
        </p:spPr>
        <p:txBody>
          <a:bodyPr wrap="square" lIns="0" tIns="0" rIns="0" bIns="0" rtlCol="0" anchor="t"/>
          <a:lstStyle/>
          <a:p>
            <a:pPr marL="0" indent="0" algn="l">
              <a:lnSpc>
                <a:spcPts val="1250"/>
              </a:lnSpc>
              <a:buNone/>
            </a:pPr>
            <a:r>
              <a:rPr lang="en-US" sz="750" dirty="0">
                <a:solidFill>
                  <a:srgbClr val="000000"/>
                </a:solidFill>
                <a:latin typeface="Inter" pitchFamily="34" charset="0"/>
                <a:ea typeface="Inter" pitchFamily="34" charset="-122"/>
                <a:cs typeface="Inter" pitchFamily="34" charset="-120"/>
              </a:rPr>
              <a:t>Les benchmarks cross-industrie valident empiriquement cinq hypothèses critiques : (1) La personnalisation N=1 est techniquement possible à l'échelle industrielle (Four Seasons), (2) Les clients UHNW acceptent et valorisent l'IA bien implémentée (DBS), (3) L'adaptation culturelle génère une différenciation concurrentielle mesurable (InterContinental), (4) La sur-optimisation représente un risque stratégique réel et quantifié (LVMH +23%), (5) La CDP constitue la fondation technique absolument indispensable (Saks ×5 productivité).</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3043" y="503634"/>
            <a:ext cx="5348407" cy="270629"/>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Roadmap d'Implémentation : 4 Phases sur 24 Mois</a:t>
            </a:r>
            <a:endParaRPr lang="en-US" sz="1700" dirty="0"/>
          </a:p>
        </p:txBody>
      </p:sp>
      <p:sp>
        <p:nvSpPr>
          <p:cNvPr id="3" name="Text 1"/>
          <p:cNvSpPr/>
          <p:nvPr/>
        </p:nvSpPr>
        <p:spPr>
          <a:xfrm>
            <a:off x="533043" y="947499"/>
            <a:ext cx="13564314" cy="138589"/>
          </a:xfrm>
          <a:prstGeom prst="rect">
            <a:avLst/>
          </a:prstGeom>
          <a:noFill/>
          <a:ln/>
        </p:spPr>
        <p:txBody>
          <a:bodyPr wrap="none" lIns="0" tIns="0" rIns="0" bIns="0" rtlCol="0" anchor="t"/>
          <a:lstStyle/>
          <a:p>
            <a:pPr marL="0" indent="0" algn="l">
              <a:lnSpc>
                <a:spcPts val="1050"/>
              </a:lnSpc>
              <a:buNone/>
            </a:pPr>
            <a:r>
              <a:rPr lang="en-US" sz="650" dirty="0">
                <a:solidFill>
                  <a:srgbClr val="000000"/>
                </a:solidFill>
                <a:latin typeface="Inter" pitchFamily="34" charset="0"/>
                <a:ea typeface="Inter" pitchFamily="34" charset="-122"/>
                <a:cs typeface="Inter" pitchFamily="34" charset="-120"/>
              </a:rPr>
              <a:t>L'approche proposée suit une progression rigoureuse en 4 phases interdépendantes, chacune construisant sur les fondations de la précédente. Cette roadmap privilégie la validation incrémentale et la mitigation des risques plutôt qu'un déploiement "big bang" à haut risque.</a:t>
            </a:r>
            <a:endParaRPr lang="en-US" sz="650" dirty="0"/>
          </a:p>
        </p:txBody>
      </p:sp>
      <p:sp>
        <p:nvSpPr>
          <p:cNvPr id="4" name="Shape 2"/>
          <p:cNvSpPr/>
          <p:nvPr/>
        </p:nvSpPr>
        <p:spPr>
          <a:xfrm>
            <a:off x="533043" y="3830360"/>
            <a:ext cx="13564314" cy="7620"/>
          </a:xfrm>
          <a:prstGeom prst="roundRect">
            <a:avLst>
              <a:gd name="adj" fmla="val 477503"/>
            </a:avLst>
          </a:prstGeom>
          <a:solidFill>
            <a:srgbClr val="000000">
              <a:alpha val="8000"/>
            </a:srgbClr>
          </a:solidFill>
          <a:ln/>
        </p:spPr>
        <p:txBody>
          <a:bodyPr/>
          <a:lstStyle/>
          <a:p>
            <a:endParaRPr lang="fr-CH"/>
          </a:p>
        </p:txBody>
      </p:sp>
      <p:sp>
        <p:nvSpPr>
          <p:cNvPr id="5" name="Shape 3"/>
          <p:cNvSpPr/>
          <p:nvPr/>
        </p:nvSpPr>
        <p:spPr>
          <a:xfrm>
            <a:off x="3209449" y="3570625"/>
            <a:ext cx="7620" cy="259794"/>
          </a:xfrm>
          <a:prstGeom prst="roundRect">
            <a:avLst>
              <a:gd name="adj" fmla="val 477503"/>
            </a:avLst>
          </a:prstGeom>
          <a:solidFill>
            <a:srgbClr val="199A69"/>
          </a:solidFill>
          <a:ln/>
        </p:spPr>
        <p:txBody>
          <a:bodyPr/>
          <a:lstStyle/>
          <a:p>
            <a:endParaRPr lang="fr-CH"/>
          </a:p>
        </p:txBody>
      </p:sp>
      <p:sp>
        <p:nvSpPr>
          <p:cNvPr id="6" name="Shape 4"/>
          <p:cNvSpPr/>
          <p:nvPr/>
        </p:nvSpPr>
        <p:spPr>
          <a:xfrm>
            <a:off x="3115866" y="3732907"/>
            <a:ext cx="194905" cy="194905"/>
          </a:xfrm>
          <a:prstGeom prst="roundRect">
            <a:avLst>
              <a:gd name="adj" fmla="val 18668"/>
            </a:avLst>
          </a:prstGeom>
          <a:solidFill>
            <a:srgbClr val="008150"/>
          </a:solidFill>
          <a:ln w="7620">
            <a:solidFill>
              <a:srgbClr val="199A69"/>
            </a:solidFill>
            <a:prstDash val="solid"/>
          </a:ln>
        </p:spPr>
        <p:txBody>
          <a:bodyPr/>
          <a:lstStyle/>
          <a:p>
            <a:endParaRPr lang="fr-CH"/>
          </a:p>
        </p:txBody>
      </p:sp>
      <p:sp>
        <p:nvSpPr>
          <p:cNvPr id="7" name="Text 5"/>
          <p:cNvSpPr/>
          <p:nvPr/>
        </p:nvSpPr>
        <p:spPr>
          <a:xfrm>
            <a:off x="3148310" y="3749100"/>
            <a:ext cx="129897" cy="162401"/>
          </a:xfrm>
          <a:prstGeom prst="rect">
            <a:avLst/>
          </a:prstGeom>
          <a:noFill/>
          <a:ln/>
        </p:spPr>
        <p:txBody>
          <a:bodyPr wrap="none" lIns="0" tIns="0" rIns="0" bIns="0" rtlCol="0" anchor="t"/>
          <a:lstStyle/>
          <a:p>
            <a:pPr marL="0" indent="0" algn="ctr">
              <a:lnSpc>
                <a:spcPts val="1000"/>
              </a:lnSpc>
              <a:buNone/>
            </a:pPr>
            <a:r>
              <a:rPr lang="en-US" sz="1000" b="1" dirty="0">
                <a:solidFill>
                  <a:srgbClr val="FFFFFF"/>
                </a:solidFill>
                <a:latin typeface="Inter Bold" pitchFamily="34" charset="0"/>
                <a:ea typeface="Inter Bold" pitchFamily="34" charset="-122"/>
                <a:cs typeface="Inter Bold" pitchFamily="34" charset="-120"/>
              </a:rPr>
              <a:t>1</a:t>
            </a:r>
            <a:endParaRPr lang="en-US" sz="1000" dirty="0"/>
          </a:p>
        </p:txBody>
      </p:sp>
      <p:sp>
        <p:nvSpPr>
          <p:cNvPr id="8" name="Text 6"/>
          <p:cNvSpPr/>
          <p:nvPr/>
        </p:nvSpPr>
        <p:spPr>
          <a:xfrm>
            <a:off x="2428518" y="1183481"/>
            <a:ext cx="1569720" cy="135374"/>
          </a:xfrm>
          <a:prstGeom prst="rect">
            <a:avLst/>
          </a:prstGeom>
          <a:noFill/>
          <a:ln/>
        </p:spPr>
        <p:txBody>
          <a:bodyPr wrap="none" lIns="0" tIns="0" rIns="0" bIns="0" rtlCol="0" anchor="t"/>
          <a:lstStyle/>
          <a:p>
            <a:pPr marL="0" indent="0" algn="ctr">
              <a:lnSpc>
                <a:spcPts val="1050"/>
              </a:lnSpc>
              <a:buNone/>
            </a:pPr>
            <a:r>
              <a:rPr lang="en-US" sz="850" b="1" dirty="0">
                <a:solidFill>
                  <a:srgbClr val="000000"/>
                </a:solidFill>
                <a:latin typeface="Inter Bold" pitchFamily="34" charset="0"/>
                <a:ea typeface="Inter Bold" pitchFamily="34" charset="-122"/>
                <a:cs typeface="Inter Bold" pitchFamily="34" charset="-120"/>
              </a:rPr>
              <a:t>Phase 1 : CODIFIER (0-6 mois)</a:t>
            </a:r>
            <a:endParaRPr lang="en-US" sz="850" dirty="0"/>
          </a:p>
        </p:txBody>
      </p:sp>
      <p:sp>
        <p:nvSpPr>
          <p:cNvPr id="9" name="Text 7"/>
          <p:cNvSpPr/>
          <p:nvPr/>
        </p:nvSpPr>
        <p:spPr>
          <a:xfrm>
            <a:off x="619601" y="137076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Budget alloué :</a:t>
            </a:r>
            <a:r>
              <a:rPr lang="en-US" sz="650" dirty="0">
                <a:solidFill>
                  <a:srgbClr val="000000"/>
                </a:solidFill>
                <a:latin typeface="Inter" pitchFamily="34" charset="0"/>
                <a:ea typeface="Inter" pitchFamily="34" charset="-122"/>
                <a:cs typeface="Inter" pitchFamily="34" charset="-120"/>
              </a:rPr>
              <a:t> 150,000 CHF</a:t>
            </a:r>
            <a:endParaRPr lang="en-US" sz="650" dirty="0"/>
          </a:p>
        </p:txBody>
      </p:sp>
      <p:sp>
        <p:nvSpPr>
          <p:cNvPr id="10" name="Text 8"/>
          <p:cNvSpPr/>
          <p:nvPr/>
        </p:nvSpPr>
        <p:spPr>
          <a:xfrm>
            <a:off x="619601" y="156126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Action centrale :</a:t>
            </a:r>
            <a:r>
              <a:rPr lang="en-US" sz="650" dirty="0">
                <a:solidFill>
                  <a:srgbClr val="000000"/>
                </a:solidFill>
                <a:latin typeface="Inter" pitchFamily="34" charset="0"/>
                <a:ea typeface="Inter" pitchFamily="34" charset="-122"/>
                <a:cs typeface="Inter" pitchFamily="34" charset="-120"/>
              </a:rPr>
              <a:t> Création d'un "Bac à Sable Comportemental" (simulateur IA 100% interne et sécurisé).</a:t>
            </a:r>
            <a:endParaRPr lang="en-US" sz="650" dirty="0"/>
          </a:p>
        </p:txBody>
      </p:sp>
      <p:sp>
        <p:nvSpPr>
          <p:cNvPr id="11" name="Text 9"/>
          <p:cNvSpPr/>
          <p:nvPr/>
        </p:nvSpPr>
        <p:spPr>
          <a:xfrm>
            <a:off x="619601" y="1751767"/>
            <a:ext cx="5187672" cy="415766"/>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Objectif stratégique :</a:t>
            </a:r>
            <a:r>
              <a:rPr lang="en-US" sz="650" dirty="0">
                <a:solidFill>
                  <a:srgbClr val="000000"/>
                </a:solidFill>
                <a:latin typeface="Inter" pitchFamily="34" charset="0"/>
                <a:ea typeface="Inter" pitchFamily="34" charset="-122"/>
                <a:cs typeface="Inter" pitchFamily="34" charset="-120"/>
              </a:rPr>
              <a:t> Créer une bibliothèque structurée de patterns comportementaux validés en capturant le savoir-faire tacite des meilleurs vendeurs TAG Heuer mondiaux (pas une formation traditionnelle classique, mais une véritable codification systématique de l'expertise implicite).</a:t>
            </a:r>
            <a:endParaRPr lang="en-US" sz="650" dirty="0"/>
          </a:p>
        </p:txBody>
      </p:sp>
      <p:sp>
        <p:nvSpPr>
          <p:cNvPr id="12" name="Text 10"/>
          <p:cNvSpPr/>
          <p:nvPr/>
        </p:nvSpPr>
        <p:spPr>
          <a:xfrm>
            <a:off x="619601" y="2219444"/>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Environnement technique :</a:t>
            </a:r>
            <a:r>
              <a:rPr lang="en-US" sz="650" dirty="0">
                <a:solidFill>
                  <a:srgbClr val="000000"/>
                </a:solidFill>
                <a:latin typeface="Inter" pitchFamily="34" charset="0"/>
                <a:ea typeface="Inter" pitchFamily="34" charset="-122"/>
                <a:cs typeface="Inter" pitchFamily="34" charset="-120"/>
              </a:rPr>
              <a:t> Système entièrement interne et sécurisé, zéro donnée client réelle utilisée, absolument aucun risque GDPR pendant cette phase d'apprentissage.</a:t>
            </a:r>
            <a:endParaRPr lang="en-US" sz="650" dirty="0"/>
          </a:p>
        </p:txBody>
      </p:sp>
      <p:sp>
        <p:nvSpPr>
          <p:cNvPr id="13" name="Text 11"/>
          <p:cNvSpPr/>
          <p:nvPr/>
        </p:nvSpPr>
        <p:spPr>
          <a:xfrm>
            <a:off x="619601" y="2548533"/>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Livrable concret :</a:t>
            </a:r>
            <a:r>
              <a:rPr lang="en-US" sz="650" dirty="0">
                <a:solidFill>
                  <a:srgbClr val="000000"/>
                </a:solidFill>
                <a:latin typeface="Inter" pitchFamily="34" charset="0"/>
                <a:ea typeface="Inter" pitchFamily="34" charset="-122"/>
                <a:cs typeface="Inter" pitchFamily="34" charset="-120"/>
              </a:rPr>
              <a:t> Base de connaissances complète des patterns comportementaux TAG Heuer (explicitement décorrélés de la nationalité ou origine des clients).</a:t>
            </a:r>
            <a:endParaRPr lang="en-US" sz="650" dirty="0"/>
          </a:p>
        </p:txBody>
      </p:sp>
      <p:sp>
        <p:nvSpPr>
          <p:cNvPr id="14" name="Text 12"/>
          <p:cNvSpPr/>
          <p:nvPr/>
        </p:nvSpPr>
        <p:spPr>
          <a:xfrm>
            <a:off x="619601" y="2877622"/>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Break-even attendu :</a:t>
            </a:r>
            <a:r>
              <a:rPr lang="en-US" sz="650" dirty="0">
                <a:solidFill>
                  <a:srgbClr val="000000"/>
                </a:solidFill>
                <a:latin typeface="Inter" pitchFamily="34" charset="0"/>
                <a:ea typeface="Inter" pitchFamily="34" charset="-122"/>
                <a:cs typeface="Inter" pitchFamily="34" charset="-120"/>
              </a:rPr>
              <a:t> 6 mois après déploiement.</a:t>
            </a:r>
            <a:endParaRPr lang="en-US" sz="650" dirty="0"/>
          </a:p>
        </p:txBody>
      </p:sp>
      <p:sp>
        <p:nvSpPr>
          <p:cNvPr id="15" name="Text 13"/>
          <p:cNvSpPr/>
          <p:nvPr/>
        </p:nvSpPr>
        <p:spPr>
          <a:xfrm>
            <a:off x="619601" y="3068122"/>
            <a:ext cx="5187672" cy="415766"/>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ROI mesuré via :</a:t>
            </a:r>
            <a:r>
              <a:rPr lang="en-US" sz="650" dirty="0">
                <a:solidFill>
                  <a:srgbClr val="000000"/>
                </a:solidFill>
                <a:latin typeface="Inter" pitchFamily="34" charset="0"/>
                <a:ea typeface="Inter" pitchFamily="34" charset="-122"/>
                <a:cs typeface="Inter" pitchFamily="34" charset="-120"/>
              </a:rPr>
              <a:t> Réduction temps de montée en compétence des nouvelles recrues retail (semaines → jours), Amélioration cohérence du message commercial à travers toutes les régions, Capitalisation et préservation du savoir-faire critique des top performers.</a:t>
            </a:r>
            <a:endParaRPr lang="en-US" sz="650" dirty="0"/>
          </a:p>
        </p:txBody>
      </p:sp>
      <p:sp>
        <p:nvSpPr>
          <p:cNvPr id="16" name="Shape 14"/>
          <p:cNvSpPr/>
          <p:nvPr/>
        </p:nvSpPr>
        <p:spPr>
          <a:xfrm>
            <a:off x="5943957" y="3830300"/>
            <a:ext cx="7620" cy="259794"/>
          </a:xfrm>
          <a:prstGeom prst="roundRect">
            <a:avLst>
              <a:gd name="adj" fmla="val 477503"/>
            </a:avLst>
          </a:prstGeom>
          <a:solidFill>
            <a:srgbClr val="FC1936"/>
          </a:solidFill>
          <a:ln/>
        </p:spPr>
        <p:txBody>
          <a:bodyPr/>
          <a:lstStyle/>
          <a:p>
            <a:endParaRPr lang="fr-CH"/>
          </a:p>
        </p:txBody>
      </p:sp>
      <p:sp>
        <p:nvSpPr>
          <p:cNvPr id="17" name="Shape 15"/>
          <p:cNvSpPr/>
          <p:nvPr/>
        </p:nvSpPr>
        <p:spPr>
          <a:xfrm>
            <a:off x="5850374" y="3732907"/>
            <a:ext cx="194905" cy="194905"/>
          </a:xfrm>
          <a:prstGeom prst="roundRect">
            <a:avLst>
              <a:gd name="adj" fmla="val 18668"/>
            </a:avLst>
          </a:prstGeom>
          <a:solidFill>
            <a:srgbClr val="E3001D"/>
          </a:solidFill>
          <a:ln w="7620">
            <a:solidFill>
              <a:srgbClr val="FC1936"/>
            </a:solidFill>
            <a:prstDash val="solid"/>
          </a:ln>
        </p:spPr>
        <p:txBody>
          <a:bodyPr/>
          <a:lstStyle/>
          <a:p>
            <a:endParaRPr lang="fr-CH"/>
          </a:p>
        </p:txBody>
      </p:sp>
      <p:sp>
        <p:nvSpPr>
          <p:cNvPr id="18" name="Text 16"/>
          <p:cNvSpPr/>
          <p:nvPr/>
        </p:nvSpPr>
        <p:spPr>
          <a:xfrm>
            <a:off x="5882819" y="3749100"/>
            <a:ext cx="129897" cy="162401"/>
          </a:xfrm>
          <a:prstGeom prst="rect">
            <a:avLst/>
          </a:prstGeom>
          <a:noFill/>
          <a:ln/>
        </p:spPr>
        <p:txBody>
          <a:bodyPr wrap="none" lIns="0" tIns="0" rIns="0" bIns="0" rtlCol="0" anchor="t"/>
          <a:lstStyle/>
          <a:p>
            <a:pPr marL="0" indent="0" algn="ctr">
              <a:lnSpc>
                <a:spcPts val="1000"/>
              </a:lnSpc>
              <a:buNone/>
            </a:pPr>
            <a:r>
              <a:rPr lang="en-US" sz="1000" b="1" dirty="0">
                <a:solidFill>
                  <a:srgbClr val="FFFFFF"/>
                </a:solidFill>
                <a:latin typeface="Inter Bold" pitchFamily="34" charset="0"/>
                <a:ea typeface="Inter Bold" pitchFamily="34" charset="-122"/>
                <a:cs typeface="Inter Bold" pitchFamily="34" charset="-120"/>
              </a:rPr>
              <a:t>2</a:t>
            </a:r>
            <a:endParaRPr lang="en-US" sz="1000" dirty="0"/>
          </a:p>
        </p:txBody>
      </p:sp>
      <p:sp>
        <p:nvSpPr>
          <p:cNvPr id="19" name="Text 17"/>
          <p:cNvSpPr/>
          <p:nvPr/>
        </p:nvSpPr>
        <p:spPr>
          <a:xfrm>
            <a:off x="5171361" y="4176832"/>
            <a:ext cx="1553170" cy="135374"/>
          </a:xfrm>
          <a:prstGeom prst="rect">
            <a:avLst/>
          </a:prstGeom>
          <a:noFill/>
          <a:ln/>
        </p:spPr>
        <p:txBody>
          <a:bodyPr wrap="none" lIns="0" tIns="0" rIns="0" bIns="0" rtlCol="0" anchor="t"/>
          <a:lstStyle/>
          <a:p>
            <a:pPr marL="0" indent="0" algn="ctr">
              <a:lnSpc>
                <a:spcPts val="1050"/>
              </a:lnSpc>
              <a:buNone/>
            </a:pPr>
            <a:r>
              <a:rPr lang="en-US" sz="850" b="1" dirty="0">
                <a:solidFill>
                  <a:srgbClr val="000000"/>
                </a:solidFill>
                <a:latin typeface="Inter Bold" pitchFamily="34" charset="0"/>
                <a:ea typeface="Inter Bold" pitchFamily="34" charset="-122"/>
                <a:cs typeface="Inter Bold" pitchFamily="34" charset="-120"/>
              </a:rPr>
              <a:t>Phase 2 : UNIFIER (6-12 mois)</a:t>
            </a:r>
            <a:endParaRPr lang="en-US" sz="850" dirty="0"/>
          </a:p>
        </p:txBody>
      </p:sp>
      <p:sp>
        <p:nvSpPr>
          <p:cNvPr id="20" name="Text 18"/>
          <p:cNvSpPr/>
          <p:nvPr/>
        </p:nvSpPr>
        <p:spPr>
          <a:xfrm>
            <a:off x="3354110" y="436411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Budget alloué :</a:t>
            </a:r>
            <a:r>
              <a:rPr lang="en-US" sz="650" dirty="0">
                <a:solidFill>
                  <a:srgbClr val="000000"/>
                </a:solidFill>
                <a:latin typeface="Inter" pitchFamily="34" charset="0"/>
                <a:ea typeface="Inter" pitchFamily="34" charset="-122"/>
                <a:cs typeface="Inter" pitchFamily="34" charset="-120"/>
              </a:rPr>
              <a:t> 400,000 CHF</a:t>
            </a:r>
            <a:endParaRPr lang="en-US" sz="650" dirty="0"/>
          </a:p>
        </p:txBody>
      </p:sp>
      <p:sp>
        <p:nvSpPr>
          <p:cNvPr id="21" name="Text 19"/>
          <p:cNvSpPr/>
          <p:nvPr/>
        </p:nvSpPr>
        <p:spPr>
          <a:xfrm>
            <a:off x="3354110" y="455461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Action centrale :</a:t>
            </a:r>
            <a:r>
              <a:rPr lang="en-US" sz="650" dirty="0">
                <a:solidFill>
                  <a:srgbClr val="000000"/>
                </a:solidFill>
                <a:latin typeface="Inter" pitchFamily="34" charset="0"/>
                <a:ea typeface="Inter" pitchFamily="34" charset="-122"/>
                <a:cs typeface="Inter" pitchFamily="34" charset="-120"/>
              </a:rPr>
              <a:t> Implémentation complète de la Customer Data Platform (CDP) unifiée.</a:t>
            </a:r>
            <a:endParaRPr lang="en-US" sz="650" dirty="0"/>
          </a:p>
        </p:txBody>
      </p:sp>
      <p:sp>
        <p:nvSpPr>
          <p:cNvPr id="22" name="Text 20"/>
          <p:cNvSpPr/>
          <p:nvPr/>
        </p:nvSpPr>
        <p:spPr>
          <a:xfrm>
            <a:off x="3354110" y="4745117"/>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Objectif stratégique :</a:t>
            </a:r>
            <a:r>
              <a:rPr lang="en-US" sz="650" dirty="0">
                <a:solidFill>
                  <a:srgbClr val="000000"/>
                </a:solidFill>
                <a:latin typeface="Inter" pitchFamily="34" charset="0"/>
                <a:ea typeface="Inter" pitchFamily="34" charset="-122"/>
                <a:cs typeface="Inter" pitchFamily="34" charset="-120"/>
              </a:rPr>
              <a:t> Résoudre définitivement la fragmentation critique des données online versus offline, créer la vue client 360° unifiée indispensable.</a:t>
            </a:r>
            <a:endParaRPr lang="en-US" sz="650" dirty="0"/>
          </a:p>
        </p:txBody>
      </p:sp>
      <p:sp>
        <p:nvSpPr>
          <p:cNvPr id="23" name="Text 21"/>
          <p:cNvSpPr/>
          <p:nvPr/>
        </p:nvSpPr>
        <p:spPr>
          <a:xfrm>
            <a:off x="3354110" y="5074206"/>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Inspiration validée :</a:t>
            </a:r>
            <a:r>
              <a:rPr lang="en-US" sz="650" dirty="0">
                <a:solidFill>
                  <a:srgbClr val="000000"/>
                </a:solidFill>
                <a:latin typeface="Inter" pitchFamily="34" charset="0"/>
                <a:ea typeface="Inter" pitchFamily="34" charset="-122"/>
                <a:cs typeface="Inter" pitchFamily="34" charset="-120"/>
              </a:rPr>
              <a:t> Cas Saks Fifth Avenue (temps d'intégration réduit de mois → heures, productivité data team ×5).</a:t>
            </a:r>
            <a:endParaRPr lang="en-US" sz="650" dirty="0"/>
          </a:p>
        </p:txBody>
      </p:sp>
      <p:sp>
        <p:nvSpPr>
          <p:cNvPr id="24" name="Text 22"/>
          <p:cNvSpPr/>
          <p:nvPr/>
        </p:nvSpPr>
        <p:spPr>
          <a:xfrm>
            <a:off x="3354110" y="5264706"/>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Livrable concret :</a:t>
            </a:r>
            <a:r>
              <a:rPr lang="en-US" sz="650" dirty="0">
                <a:solidFill>
                  <a:srgbClr val="000000"/>
                </a:solidFill>
                <a:latin typeface="Inter" pitchFamily="34" charset="0"/>
                <a:ea typeface="Inter" pitchFamily="34" charset="-122"/>
                <a:cs typeface="Inter" pitchFamily="34" charset="-120"/>
              </a:rPr>
              <a:t> Vue client unifiée opérationnelle = prérequis technique absolument non négociable pour toute personnalisation N=1 crédible.</a:t>
            </a:r>
            <a:endParaRPr lang="en-US" sz="650" dirty="0"/>
          </a:p>
        </p:txBody>
      </p:sp>
      <p:sp>
        <p:nvSpPr>
          <p:cNvPr id="25" name="Text 23"/>
          <p:cNvSpPr/>
          <p:nvPr/>
        </p:nvSpPr>
        <p:spPr>
          <a:xfrm>
            <a:off x="3354110" y="5593794"/>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Déploiement géographique :</a:t>
            </a:r>
            <a:r>
              <a:rPr lang="en-US" sz="650" dirty="0">
                <a:solidFill>
                  <a:srgbClr val="000000"/>
                </a:solidFill>
                <a:latin typeface="Inter" pitchFamily="34" charset="0"/>
                <a:ea typeface="Inter" pitchFamily="34" charset="-122"/>
                <a:cs typeface="Inter" pitchFamily="34" charset="-120"/>
              </a:rPr>
              <a:t> Extension simultanée dans 5 régions stratégiques (USA, Chine, Japon, Moyen-Orient, Europe), Intégration technique complète avec Salesforce Commerce Cloud existant.</a:t>
            </a:r>
            <a:endParaRPr lang="en-US" sz="650" dirty="0"/>
          </a:p>
        </p:txBody>
      </p:sp>
      <p:sp>
        <p:nvSpPr>
          <p:cNvPr id="26" name="Text 24"/>
          <p:cNvSpPr/>
          <p:nvPr/>
        </p:nvSpPr>
        <p:spPr>
          <a:xfrm>
            <a:off x="3354110" y="5922883"/>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ROI estimé cette phase :</a:t>
            </a:r>
            <a:r>
              <a:rPr lang="en-US" sz="650" dirty="0">
                <a:solidFill>
                  <a:srgbClr val="000000"/>
                </a:solidFill>
                <a:latin typeface="Inter" pitchFamily="34" charset="0"/>
                <a:ea typeface="Inter" pitchFamily="34" charset="-122"/>
                <a:cs typeface="Inter" pitchFamily="34" charset="-120"/>
              </a:rPr>
              <a:t> +5,000,000 CHF de revenu incrémental annuel.</a:t>
            </a:r>
            <a:endParaRPr lang="en-US" sz="650" dirty="0"/>
          </a:p>
        </p:txBody>
      </p:sp>
      <p:sp>
        <p:nvSpPr>
          <p:cNvPr id="27" name="Shape 25"/>
          <p:cNvSpPr/>
          <p:nvPr/>
        </p:nvSpPr>
        <p:spPr>
          <a:xfrm>
            <a:off x="8678466" y="3570625"/>
            <a:ext cx="7620" cy="259794"/>
          </a:xfrm>
          <a:prstGeom prst="roundRect">
            <a:avLst>
              <a:gd name="adj" fmla="val 477503"/>
            </a:avLst>
          </a:prstGeom>
          <a:solidFill>
            <a:srgbClr val="199A69"/>
          </a:solidFill>
          <a:ln/>
        </p:spPr>
        <p:txBody>
          <a:bodyPr/>
          <a:lstStyle/>
          <a:p>
            <a:endParaRPr lang="fr-CH"/>
          </a:p>
        </p:txBody>
      </p:sp>
      <p:sp>
        <p:nvSpPr>
          <p:cNvPr id="28" name="Shape 26"/>
          <p:cNvSpPr/>
          <p:nvPr/>
        </p:nvSpPr>
        <p:spPr>
          <a:xfrm>
            <a:off x="8584883" y="3732907"/>
            <a:ext cx="194905" cy="194905"/>
          </a:xfrm>
          <a:prstGeom prst="roundRect">
            <a:avLst>
              <a:gd name="adj" fmla="val 18668"/>
            </a:avLst>
          </a:prstGeom>
          <a:solidFill>
            <a:srgbClr val="008150"/>
          </a:solidFill>
          <a:ln w="7620">
            <a:solidFill>
              <a:srgbClr val="199A69"/>
            </a:solidFill>
            <a:prstDash val="solid"/>
          </a:ln>
        </p:spPr>
        <p:txBody>
          <a:bodyPr/>
          <a:lstStyle/>
          <a:p>
            <a:endParaRPr lang="fr-CH"/>
          </a:p>
        </p:txBody>
      </p:sp>
      <p:sp>
        <p:nvSpPr>
          <p:cNvPr id="29" name="Text 27"/>
          <p:cNvSpPr/>
          <p:nvPr/>
        </p:nvSpPr>
        <p:spPr>
          <a:xfrm>
            <a:off x="8617327" y="3749100"/>
            <a:ext cx="129897" cy="162401"/>
          </a:xfrm>
          <a:prstGeom prst="rect">
            <a:avLst/>
          </a:prstGeom>
          <a:noFill/>
          <a:ln/>
        </p:spPr>
        <p:txBody>
          <a:bodyPr wrap="none" lIns="0" tIns="0" rIns="0" bIns="0" rtlCol="0" anchor="t"/>
          <a:lstStyle/>
          <a:p>
            <a:pPr marL="0" indent="0" algn="ctr">
              <a:lnSpc>
                <a:spcPts val="1000"/>
              </a:lnSpc>
              <a:buNone/>
            </a:pPr>
            <a:r>
              <a:rPr lang="en-US" sz="1000" b="1" dirty="0">
                <a:solidFill>
                  <a:srgbClr val="FFFFFF"/>
                </a:solidFill>
                <a:latin typeface="Inter Bold" pitchFamily="34" charset="0"/>
                <a:ea typeface="Inter Bold" pitchFamily="34" charset="-122"/>
                <a:cs typeface="Inter Bold" pitchFamily="34" charset="-120"/>
              </a:rPr>
              <a:t>3</a:t>
            </a:r>
            <a:endParaRPr lang="en-US" sz="1000" dirty="0"/>
          </a:p>
        </p:txBody>
      </p:sp>
      <p:sp>
        <p:nvSpPr>
          <p:cNvPr id="30" name="Text 28"/>
          <p:cNvSpPr/>
          <p:nvPr/>
        </p:nvSpPr>
        <p:spPr>
          <a:xfrm>
            <a:off x="7525703" y="1183481"/>
            <a:ext cx="2313384" cy="135374"/>
          </a:xfrm>
          <a:prstGeom prst="rect">
            <a:avLst/>
          </a:prstGeom>
          <a:noFill/>
          <a:ln/>
        </p:spPr>
        <p:txBody>
          <a:bodyPr wrap="none" lIns="0" tIns="0" rIns="0" bIns="0" rtlCol="0" anchor="t"/>
          <a:lstStyle/>
          <a:p>
            <a:pPr marL="0" indent="0" algn="ctr">
              <a:lnSpc>
                <a:spcPts val="1050"/>
              </a:lnSpc>
              <a:buNone/>
            </a:pPr>
            <a:r>
              <a:rPr lang="en-US" sz="850" b="1" dirty="0">
                <a:solidFill>
                  <a:srgbClr val="000000"/>
                </a:solidFill>
                <a:latin typeface="Inter Bold" pitchFamily="34" charset="0"/>
                <a:ea typeface="Inter Bold" pitchFamily="34" charset="-122"/>
                <a:cs typeface="Inter Bold" pitchFamily="34" charset="-120"/>
              </a:rPr>
              <a:t>Phase 3 : PERSONNALISER N=1 (12-18 mois)</a:t>
            </a:r>
            <a:endParaRPr lang="en-US" sz="850" dirty="0"/>
          </a:p>
        </p:txBody>
      </p:sp>
      <p:sp>
        <p:nvSpPr>
          <p:cNvPr id="31" name="Text 29"/>
          <p:cNvSpPr/>
          <p:nvPr/>
        </p:nvSpPr>
        <p:spPr>
          <a:xfrm>
            <a:off x="6088618" y="137076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Budget alloué :</a:t>
            </a:r>
            <a:r>
              <a:rPr lang="en-US" sz="650" dirty="0">
                <a:solidFill>
                  <a:srgbClr val="000000"/>
                </a:solidFill>
                <a:latin typeface="Inter" pitchFamily="34" charset="0"/>
                <a:ea typeface="Inter" pitchFamily="34" charset="-122"/>
                <a:cs typeface="Inter" pitchFamily="34" charset="-120"/>
              </a:rPr>
              <a:t> 400,000 CHF</a:t>
            </a:r>
            <a:endParaRPr lang="en-US" sz="650" dirty="0"/>
          </a:p>
        </p:txBody>
      </p:sp>
      <p:sp>
        <p:nvSpPr>
          <p:cNvPr id="32" name="Text 30"/>
          <p:cNvSpPr/>
          <p:nvPr/>
        </p:nvSpPr>
        <p:spPr>
          <a:xfrm>
            <a:off x="6088618" y="156126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Action centrale :</a:t>
            </a:r>
            <a:r>
              <a:rPr lang="en-US" sz="650" dirty="0">
                <a:solidFill>
                  <a:srgbClr val="000000"/>
                </a:solidFill>
                <a:latin typeface="Inter" pitchFamily="34" charset="0"/>
                <a:ea typeface="Inter" pitchFamily="34" charset="-122"/>
                <a:cs typeface="Inter" pitchFamily="34" charset="-120"/>
              </a:rPr>
              <a:t> Déploiement opérationnel de la personnalisation individuelle couplée au Care Agent augmenté par IA.</a:t>
            </a:r>
            <a:endParaRPr lang="en-US" sz="650" dirty="0"/>
          </a:p>
        </p:txBody>
      </p:sp>
      <p:sp>
        <p:nvSpPr>
          <p:cNvPr id="33" name="Text 31"/>
          <p:cNvSpPr/>
          <p:nvPr/>
        </p:nvSpPr>
        <p:spPr>
          <a:xfrm>
            <a:off x="6088618" y="1751767"/>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Technologie déployée :</a:t>
            </a:r>
            <a:r>
              <a:rPr lang="en-US" sz="650" dirty="0">
                <a:solidFill>
                  <a:srgbClr val="000000"/>
                </a:solidFill>
                <a:latin typeface="Inter" pitchFamily="34" charset="0"/>
                <a:ea typeface="Inter" pitchFamily="34" charset="-122"/>
                <a:cs typeface="Inter" pitchFamily="34" charset="-120"/>
              </a:rPr>
              <a:t> MaIA comme Copilote IA en temps réel pour les Care Agents, Vertex AI (Google Cloud) pour les recommandations temps réel contextuelles.</a:t>
            </a:r>
            <a:endParaRPr lang="en-US" sz="650" dirty="0"/>
          </a:p>
        </p:txBody>
      </p:sp>
      <p:sp>
        <p:nvSpPr>
          <p:cNvPr id="34" name="Text 32"/>
          <p:cNvSpPr/>
          <p:nvPr/>
        </p:nvSpPr>
        <p:spPr>
          <a:xfrm>
            <a:off x="6088618" y="2080855"/>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Style d'expérience :</a:t>
            </a:r>
            <a:r>
              <a:rPr lang="en-US" sz="650" dirty="0">
                <a:solidFill>
                  <a:srgbClr val="000000"/>
                </a:solidFill>
                <a:latin typeface="Inter" pitchFamily="34" charset="0"/>
                <a:ea typeface="Inter" pitchFamily="34" charset="-122"/>
                <a:cs typeface="Inter" pitchFamily="34" charset="-120"/>
              </a:rPr>
              <a:t> Modèle Four Seasons (anticipation proactive basée sur l'historique intégralement consenti et documenté).</a:t>
            </a:r>
            <a:endParaRPr lang="en-US" sz="650" dirty="0"/>
          </a:p>
        </p:txBody>
      </p:sp>
      <p:sp>
        <p:nvSpPr>
          <p:cNvPr id="35" name="Text 33"/>
          <p:cNvSpPr/>
          <p:nvPr/>
        </p:nvSpPr>
        <p:spPr>
          <a:xfrm>
            <a:off x="6088618" y="2409944"/>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Livrable concret :</a:t>
            </a:r>
            <a:r>
              <a:rPr lang="en-US" sz="650" dirty="0">
                <a:solidFill>
                  <a:srgbClr val="000000"/>
                </a:solidFill>
                <a:latin typeface="Inter" pitchFamily="34" charset="0"/>
                <a:ea typeface="Inter" pitchFamily="34" charset="-122"/>
                <a:cs typeface="Inter" pitchFamily="34" charset="-120"/>
              </a:rPr>
              <a:t> Care Agent équipé d'une "mémoire parfaite" du client (historique complet unifié, préférences documentées, interactions passées).</a:t>
            </a:r>
            <a:endParaRPr lang="en-US" sz="650" dirty="0"/>
          </a:p>
        </p:txBody>
      </p:sp>
      <p:sp>
        <p:nvSpPr>
          <p:cNvPr id="36" name="Text 34"/>
          <p:cNvSpPr/>
          <p:nvPr/>
        </p:nvSpPr>
        <p:spPr>
          <a:xfrm>
            <a:off x="6088618" y="2739033"/>
            <a:ext cx="5187672" cy="277178"/>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Déploiement pilote :</a:t>
            </a:r>
            <a:r>
              <a:rPr lang="en-US" sz="650" dirty="0">
                <a:solidFill>
                  <a:srgbClr val="000000"/>
                </a:solidFill>
                <a:latin typeface="Inter" pitchFamily="34" charset="0"/>
                <a:ea typeface="Inter" pitchFamily="34" charset="-122"/>
                <a:cs typeface="Inter" pitchFamily="34" charset="-120"/>
              </a:rPr>
              <a:t> Formation intensive et déploiement dans 10 boutiques stratégiquement sélectionnées (mix géographique et profils clientèle). Mesure rigoureuse du ROI réel + ajustements continus des algorithmes basés sur feedback terrain.</a:t>
            </a:r>
            <a:endParaRPr lang="en-US" sz="650" dirty="0"/>
          </a:p>
        </p:txBody>
      </p:sp>
      <p:sp>
        <p:nvSpPr>
          <p:cNvPr id="37" name="Shape 35"/>
          <p:cNvSpPr/>
          <p:nvPr/>
        </p:nvSpPr>
        <p:spPr>
          <a:xfrm>
            <a:off x="11412974" y="3830300"/>
            <a:ext cx="7620" cy="259794"/>
          </a:xfrm>
          <a:prstGeom prst="roundRect">
            <a:avLst>
              <a:gd name="adj" fmla="val 477503"/>
            </a:avLst>
          </a:prstGeom>
          <a:solidFill>
            <a:srgbClr val="FC1936"/>
          </a:solidFill>
          <a:ln/>
        </p:spPr>
        <p:txBody>
          <a:bodyPr/>
          <a:lstStyle/>
          <a:p>
            <a:endParaRPr lang="fr-CH"/>
          </a:p>
        </p:txBody>
      </p:sp>
      <p:sp>
        <p:nvSpPr>
          <p:cNvPr id="38" name="Shape 36"/>
          <p:cNvSpPr/>
          <p:nvPr/>
        </p:nvSpPr>
        <p:spPr>
          <a:xfrm>
            <a:off x="11319391" y="3732907"/>
            <a:ext cx="194905" cy="194905"/>
          </a:xfrm>
          <a:prstGeom prst="roundRect">
            <a:avLst>
              <a:gd name="adj" fmla="val 18668"/>
            </a:avLst>
          </a:prstGeom>
          <a:solidFill>
            <a:srgbClr val="E3001D"/>
          </a:solidFill>
          <a:ln w="7620">
            <a:solidFill>
              <a:srgbClr val="FC1936"/>
            </a:solidFill>
            <a:prstDash val="solid"/>
          </a:ln>
        </p:spPr>
        <p:txBody>
          <a:bodyPr/>
          <a:lstStyle/>
          <a:p>
            <a:endParaRPr lang="fr-CH"/>
          </a:p>
        </p:txBody>
      </p:sp>
      <p:sp>
        <p:nvSpPr>
          <p:cNvPr id="39" name="Text 37"/>
          <p:cNvSpPr/>
          <p:nvPr/>
        </p:nvSpPr>
        <p:spPr>
          <a:xfrm>
            <a:off x="11351835" y="3749100"/>
            <a:ext cx="129897" cy="162401"/>
          </a:xfrm>
          <a:prstGeom prst="rect">
            <a:avLst/>
          </a:prstGeom>
          <a:noFill/>
          <a:ln/>
        </p:spPr>
        <p:txBody>
          <a:bodyPr wrap="none" lIns="0" tIns="0" rIns="0" bIns="0" rtlCol="0" anchor="t"/>
          <a:lstStyle/>
          <a:p>
            <a:pPr marL="0" indent="0" algn="ctr">
              <a:lnSpc>
                <a:spcPts val="1000"/>
              </a:lnSpc>
              <a:buNone/>
            </a:pPr>
            <a:r>
              <a:rPr lang="en-US" sz="1000" b="1" dirty="0">
                <a:solidFill>
                  <a:srgbClr val="FFFFFF"/>
                </a:solidFill>
                <a:latin typeface="Inter Bold" pitchFamily="34" charset="0"/>
                <a:ea typeface="Inter Bold" pitchFamily="34" charset="-122"/>
                <a:cs typeface="Inter Bold" pitchFamily="34" charset="-120"/>
              </a:rPr>
              <a:t>4</a:t>
            </a:r>
            <a:endParaRPr lang="en-US" sz="1000" dirty="0"/>
          </a:p>
        </p:txBody>
      </p:sp>
      <p:sp>
        <p:nvSpPr>
          <p:cNvPr id="40" name="Text 38"/>
          <p:cNvSpPr/>
          <p:nvPr/>
        </p:nvSpPr>
        <p:spPr>
          <a:xfrm>
            <a:off x="10394037" y="4176832"/>
            <a:ext cx="2045851" cy="135374"/>
          </a:xfrm>
          <a:prstGeom prst="rect">
            <a:avLst/>
          </a:prstGeom>
          <a:noFill/>
          <a:ln/>
        </p:spPr>
        <p:txBody>
          <a:bodyPr wrap="none" lIns="0" tIns="0" rIns="0" bIns="0" rtlCol="0" anchor="t"/>
          <a:lstStyle/>
          <a:p>
            <a:pPr marL="0" indent="0" algn="ctr">
              <a:lnSpc>
                <a:spcPts val="1050"/>
              </a:lnSpc>
              <a:buNone/>
            </a:pPr>
            <a:r>
              <a:rPr lang="en-US" sz="850" b="1" dirty="0">
                <a:solidFill>
                  <a:srgbClr val="000000"/>
                </a:solidFill>
                <a:latin typeface="Inter Bold" pitchFamily="34" charset="0"/>
                <a:ea typeface="Inter Bold" pitchFamily="34" charset="-122"/>
                <a:cs typeface="Inter Bold" pitchFamily="34" charset="-120"/>
              </a:rPr>
              <a:t>Phase 4 : EXPÉRIMENTER (18-24 mois)</a:t>
            </a:r>
            <a:endParaRPr lang="en-US" sz="850" dirty="0"/>
          </a:p>
        </p:txBody>
      </p:sp>
      <p:sp>
        <p:nvSpPr>
          <p:cNvPr id="41" name="Text 39"/>
          <p:cNvSpPr/>
          <p:nvPr/>
        </p:nvSpPr>
        <p:spPr>
          <a:xfrm>
            <a:off x="8823127" y="436411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Budget alloué :</a:t>
            </a:r>
            <a:r>
              <a:rPr lang="en-US" sz="650" dirty="0">
                <a:solidFill>
                  <a:srgbClr val="000000"/>
                </a:solidFill>
                <a:latin typeface="Inter" pitchFamily="34" charset="0"/>
                <a:ea typeface="Inter" pitchFamily="34" charset="-122"/>
                <a:cs typeface="Inter" pitchFamily="34" charset="-120"/>
              </a:rPr>
              <a:t> 400,000 CHF</a:t>
            </a:r>
            <a:endParaRPr lang="en-US" sz="650" dirty="0"/>
          </a:p>
        </p:txBody>
      </p:sp>
      <p:sp>
        <p:nvSpPr>
          <p:cNvPr id="42" name="Text 40"/>
          <p:cNvSpPr/>
          <p:nvPr/>
        </p:nvSpPr>
        <p:spPr>
          <a:xfrm>
            <a:off x="8823127" y="4554617"/>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Action centrale :</a:t>
            </a:r>
            <a:r>
              <a:rPr lang="en-US" sz="650" dirty="0">
                <a:solidFill>
                  <a:srgbClr val="000000"/>
                </a:solidFill>
                <a:latin typeface="Inter" pitchFamily="34" charset="0"/>
                <a:ea typeface="Inter" pitchFamily="34" charset="-122"/>
                <a:cs typeface="Inter" pitchFamily="34" charset="-120"/>
              </a:rPr>
              <a:t> Lancement de tests A/B rigoureux des patterns comportementaux sur les nouveaux visiteurs sans historique.</a:t>
            </a:r>
            <a:endParaRPr lang="en-US" sz="650" dirty="0"/>
          </a:p>
        </p:txBody>
      </p:sp>
      <p:sp>
        <p:nvSpPr>
          <p:cNvPr id="43" name="Text 41"/>
          <p:cNvSpPr/>
          <p:nvPr/>
        </p:nvSpPr>
        <p:spPr>
          <a:xfrm>
            <a:off x="8823127" y="4745117"/>
            <a:ext cx="5187672" cy="554355"/>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Approche méthodologique :</a:t>
            </a:r>
            <a:r>
              <a:rPr lang="en-US" sz="650" dirty="0">
                <a:solidFill>
                  <a:srgbClr val="000000"/>
                </a:solidFill>
                <a:latin typeface="Inter" pitchFamily="34" charset="0"/>
                <a:ea typeface="Inter" pitchFamily="34" charset="-122"/>
                <a:cs typeface="Inter" pitchFamily="34" charset="-120"/>
              </a:rPr>
              <a:t> Les patterns identifiés en Phase 1 sont traités comme des </a:t>
            </a:r>
            <a:r>
              <a:rPr lang="en-US" sz="650" b="1" dirty="0">
                <a:solidFill>
                  <a:srgbClr val="000000"/>
                </a:solidFill>
                <a:latin typeface="Inter" pitchFamily="34" charset="0"/>
                <a:ea typeface="Inter" pitchFamily="34" charset="-122"/>
                <a:cs typeface="Inter" pitchFamily="34" charset="-120"/>
              </a:rPr>
              <a:t>hypothèses probabilistes</a:t>
            </a:r>
            <a:r>
              <a:rPr lang="en-US" sz="650" dirty="0">
                <a:solidFill>
                  <a:srgbClr val="000000"/>
                </a:solidFill>
                <a:latin typeface="Inter" pitchFamily="34" charset="0"/>
                <a:ea typeface="Inter" pitchFamily="34" charset="-122"/>
                <a:cs typeface="Inter" pitchFamily="34" charset="-120"/>
              </a:rPr>
              <a:t> (jamais comme des profils déterministes ou stéréotypes). Apprentissage continu : confrontation systématique du comportement réel observé versus l'hypothèse régionale initiale. Solution technique au problème "cold start" (nouveaux clients) sans violer le GDPR.</a:t>
            </a:r>
            <a:endParaRPr lang="en-US" sz="650" dirty="0"/>
          </a:p>
        </p:txBody>
      </p:sp>
      <p:sp>
        <p:nvSpPr>
          <p:cNvPr id="44" name="Text 42"/>
          <p:cNvSpPr/>
          <p:nvPr/>
        </p:nvSpPr>
        <p:spPr>
          <a:xfrm>
            <a:off x="8823127" y="5351383"/>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Livrable concret :</a:t>
            </a:r>
            <a:r>
              <a:rPr lang="en-US" sz="650" dirty="0">
                <a:solidFill>
                  <a:srgbClr val="000000"/>
                </a:solidFill>
                <a:latin typeface="Inter" pitchFamily="34" charset="0"/>
                <a:ea typeface="Inter" pitchFamily="34" charset="-122"/>
                <a:cs typeface="Inter" pitchFamily="34" charset="-120"/>
              </a:rPr>
              <a:t> Système d'optimisation du "cold start" sans recourir au profilage automatisé interdit par GDPR Article 22.</a:t>
            </a:r>
            <a:endParaRPr lang="en-US" sz="650" dirty="0"/>
          </a:p>
        </p:txBody>
      </p:sp>
      <p:sp>
        <p:nvSpPr>
          <p:cNvPr id="45" name="Text 43"/>
          <p:cNvSpPr/>
          <p:nvPr/>
        </p:nvSpPr>
        <p:spPr>
          <a:xfrm>
            <a:off x="8823127" y="5541883"/>
            <a:ext cx="5187672" cy="415766"/>
          </a:xfrm>
          <a:prstGeom prst="rect">
            <a:avLst/>
          </a:prstGeom>
          <a:noFill/>
          <a:ln/>
        </p:spPr>
        <p:txBody>
          <a:bodyPr wrap="squar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Déploiement global :</a:t>
            </a:r>
            <a:r>
              <a:rPr lang="en-US" sz="650" dirty="0">
                <a:solidFill>
                  <a:srgbClr val="000000"/>
                </a:solidFill>
                <a:latin typeface="Inter" pitchFamily="34" charset="0"/>
                <a:ea typeface="Inter" pitchFamily="34" charset="-122"/>
                <a:cs typeface="Inter" pitchFamily="34" charset="-120"/>
              </a:rPr>
              <a:t> Extension à toutes les régions géographiques TAG Heuer + Support de toutes les langues principales, Formation de 100% du réseau de boutiques (boutiques owned + réseau wholesale), Potentiel d'extension aux autres maisons horlogères LVMH (Hublot, Zenith).</a:t>
            </a:r>
            <a:endParaRPr lang="en-US" sz="650" dirty="0"/>
          </a:p>
        </p:txBody>
      </p:sp>
      <p:sp>
        <p:nvSpPr>
          <p:cNvPr id="46" name="Text 44"/>
          <p:cNvSpPr/>
          <p:nvPr/>
        </p:nvSpPr>
        <p:spPr>
          <a:xfrm>
            <a:off x="8823127" y="6009561"/>
            <a:ext cx="5187672" cy="138589"/>
          </a:xfrm>
          <a:prstGeom prst="rect">
            <a:avLst/>
          </a:prstGeom>
          <a:noFill/>
          <a:ln/>
        </p:spPr>
        <p:txBody>
          <a:bodyPr wrap="none" lIns="0" tIns="0" rIns="0" bIns="0" rtlCol="0" anchor="t"/>
          <a:lstStyle/>
          <a:p>
            <a:pPr marL="0" indent="0" algn="ctr">
              <a:lnSpc>
                <a:spcPts val="1050"/>
              </a:lnSpc>
              <a:buNone/>
            </a:pPr>
            <a:r>
              <a:rPr lang="en-US" sz="650" b="1" dirty="0">
                <a:solidFill>
                  <a:srgbClr val="000000"/>
                </a:solidFill>
                <a:latin typeface="Inter" pitchFamily="34" charset="0"/>
                <a:ea typeface="Inter" pitchFamily="34" charset="-122"/>
                <a:cs typeface="Inter" pitchFamily="34" charset="-120"/>
              </a:rPr>
              <a:t>ROI cumulé attendu :</a:t>
            </a:r>
            <a:r>
              <a:rPr lang="en-US" sz="650" dirty="0">
                <a:solidFill>
                  <a:srgbClr val="000000"/>
                </a:solidFill>
                <a:latin typeface="Inter" pitchFamily="34" charset="0"/>
                <a:ea typeface="Inter" pitchFamily="34" charset="-122"/>
                <a:cs typeface="Inter" pitchFamily="34" charset="-120"/>
              </a:rPr>
              <a:t> Entre +15,000,000 et +25,000,000 CHF de revenu incrémental annuel récurrent.</a:t>
            </a:r>
            <a:endParaRPr lang="en-US" sz="650" dirty="0"/>
          </a:p>
        </p:txBody>
      </p:sp>
      <p:sp>
        <p:nvSpPr>
          <p:cNvPr id="47" name="Shape 45"/>
          <p:cNvSpPr/>
          <p:nvPr/>
        </p:nvSpPr>
        <p:spPr>
          <a:xfrm>
            <a:off x="533043" y="6288751"/>
            <a:ext cx="13564314" cy="18336"/>
          </a:xfrm>
          <a:prstGeom prst="rect">
            <a:avLst/>
          </a:prstGeom>
          <a:solidFill>
            <a:srgbClr val="000000">
              <a:alpha val="50000"/>
            </a:srgbClr>
          </a:solidFill>
          <a:ln/>
        </p:spPr>
        <p:txBody>
          <a:bodyPr/>
          <a:lstStyle/>
          <a:p>
            <a:endParaRPr lang="fr-CH"/>
          </a:p>
        </p:txBody>
      </p:sp>
      <p:sp>
        <p:nvSpPr>
          <p:cNvPr id="48" name="Text 46"/>
          <p:cNvSpPr/>
          <p:nvPr/>
        </p:nvSpPr>
        <p:spPr>
          <a:xfrm>
            <a:off x="533043" y="6490930"/>
            <a:ext cx="2070735" cy="135374"/>
          </a:xfrm>
          <a:prstGeom prst="rect">
            <a:avLst/>
          </a:prstGeom>
          <a:noFill/>
          <a:ln/>
        </p:spPr>
        <p:txBody>
          <a:bodyPr wrap="none" lIns="0" tIns="0" rIns="0" bIns="0" rtlCol="0" anchor="t"/>
          <a:lstStyle/>
          <a:p>
            <a:pPr marL="0" indent="0" algn="l">
              <a:lnSpc>
                <a:spcPts val="1050"/>
              </a:lnSpc>
              <a:buNone/>
            </a:pPr>
            <a:r>
              <a:rPr lang="en-US" sz="850" b="1" dirty="0">
                <a:solidFill>
                  <a:srgbClr val="000000"/>
                </a:solidFill>
                <a:latin typeface="Inter Bold" pitchFamily="34" charset="0"/>
                <a:ea typeface="Inter Bold" pitchFamily="34" charset="-122"/>
                <a:cs typeface="Inter Bold" pitchFamily="34" charset="-120"/>
              </a:rPr>
              <a:t>Facteurs Critiques de Succès Identifiés</a:t>
            </a:r>
            <a:endParaRPr lang="en-US" sz="850" dirty="0"/>
          </a:p>
        </p:txBody>
      </p:sp>
      <p:sp>
        <p:nvSpPr>
          <p:cNvPr id="49" name="Text 47"/>
          <p:cNvSpPr/>
          <p:nvPr/>
        </p:nvSpPr>
        <p:spPr>
          <a:xfrm>
            <a:off x="533043" y="6712863"/>
            <a:ext cx="8054102" cy="138589"/>
          </a:xfrm>
          <a:prstGeom prst="rect">
            <a:avLst/>
          </a:prstGeom>
          <a:noFill/>
          <a:ln/>
        </p:spPr>
        <p:txBody>
          <a:bodyPr wrap="none" lIns="0" tIns="0" rIns="0" bIns="0" rtlCol="0" anchor="t"/>
          <a:lstStyle/>
          <a:p>
            <a:pPr marL="342900" indent="-342900" algn="l">
              <a:lnSpc>
                <a:spcPts val="1050"/>
              </a:lnSpc>
              <a:buSzPct val="100000"/>
              <a:buChar char="•"/>
            </a:pPr>
            <a:r>
              <a:rPr lang="en-US" sz="650" dirty="0">
                <a:solidFill>
                  <a:srgbClr val="000000"/>
                </a:solidFill>
                <a:latin typeface="Inter" pitchFamily="34" charset="0"/>
                <a:ea typeface="Inter" pitchFamily="34" charset="-122"/>
                <a:cs typeface="Inter" pitchFamily="34" charset="-120"/>
              </a:rPr>
              <a:t>Sponsorship explicite et visible de la direction générale LVMH</a:t>
            </a:r>
            <a:endParaRPr lang="en-US" sz="650" dirty="0"/>
          </a:p>
        </p:txBody>
      </p:sp>
      <p:sp>
        <p:nvSpPr>
          <p:cNvPr id="50" name="Text 48"/>
          <p:cNvSpPr/>
          <p:nvPr/>
        </p:nvSpPr>
        <p:spPr>
          <a:xfrm>
            <a:off x="533043" y="6881693"/>
            <a:ext cx="8054102" cy="138589"/>
          </a:xfrm>
          <a:prstGeom prst="rect">
            <a:avLst/>
          </a:prstGeom>
          <a:noFill/>
          <a:ln/>
        </p:spPr>
        <p:txBody>
          <a:bodyPr wrap="none" lIns="0" tIns="0" rIns="0" bIns="0" rtlCol="0" anchor="t"/>
          <a:lstStyle/>
          <a:p>
            <a:pPr marL="342900" indent="-342900" algn="l">
              <a:lnSpc>
                <a:spcPts val="1050"/>
              </a:lnSpc>
              <a:buSzPct val="100000"/>
              <a:buChar char="•"/>
            </a:pPr>
            <a:r>
              <a:rPr lang="en-US" sz="650" dirty="0">
                <a:solidFill>
                  <a:srgbClr val="000000"/>
                </a:solidFill>
                <a:latin typeface="Inter" pitchFamily="34" charset="0"/>
                <a:ea typeface="Inter" pitchFamily="34" charset="-122"/>
                <a:cs typeface="Inter" pitchFamily="34" charset="-120"/>
              </a:rPr>
              <a:t>Budget infrastructure data (CDP) sécurisé et protégé</a:t>
            </a:r>
            <a:endParaRPr lang="en-US" sz="650" dirty="0"/>
          </a:p>
        </p:txBody>
      </p:sp>
      <p:sp>
        <p:nvSpPr>
          <p:cNvPr id="51" name="Text 49"/>
          <p:cNvSpPr/>
          <p:nvPr/>
        </p:nvSpPr>
        <p:spPr>
          <a:xfrm>
            <a:off x="533043" y="7050524"/>
            <a:ext cx="8054102" cy="138589"/>
          </a:xfrm>
          <a:prstGeom prst="rect">
            <a:avLst/>
          </a:prstGeom>
          <a:noFill/>
          <a:ln/>
        </p:spPr>
        <p:txBody>
          <a:bodyPr wrap="none" lIns="0" tIns="0" rIns="0" bIns="0" rtlCol="0" anchor="t"/>
          <a:lstStyle/>
          <a:p>
            <a:pPr marL="342900" indent="-342900" algn="l">
              <a:lnSpc>
                <a:spcPts val="1050"/>
              </a:lnSpc>
              <a:buSzPct val="100000"/>
              <a:buChar char="•"/>
            </a:pPr>
            <a:r>
              <a:rPr lang="en-US" sz="650" dirty="0">
                <a:solidFill>
                  <a:srgbClr val="000000"/>
                </a:solidFill>
                <a:latin typeface="Inter" pitchFamily="34" charset="0"/>
                <a:ea typeface="Inter" pitchFamily="34" charset="-122"/>
                <a:cs typeface="Inter" pitchFamily="34" charset="-120"/>
              </a:rPr>
              <a:t>Programme de formation et change management des équipes retail</a:t>
            </a:r>
            <a:endParaRPr lang="en-US" sz="650" dirty="0"/>
          </a:p>
        </p:txBody>
      </p:sp>
      <p:sp>
        <p:nvSpPr>
          <p:cNvPr id="52" name="Text 50"/>
          <p:cNvSpPr/>
          <p:nvPr/>
        </p:nvSpPr>
        <p:spPr>
          <a:xfrm>
            <a:off x="533043" y="7219355"/>
            <a:ext cx="8054102" cy="138589"/>
          </a:xfrm>
          <a:prstGeom prst="rect">
            <a:avLst/>
          </a:prstGeom>
          <a:noFill/>
          <a:ln/>
        </p:spPr>
        <p:txBody>
          <a:bodyPr wrap="none" lIns="0" tIns="0" rIns="0" bIns="0" rtlCol="0" anchor="t"/>
          <a:lstStyle/>
          <a:p>
            <a:pPr marL="342900" indent="-342900" algn="l">
              <a:lnSpc>
                <a:spcPts val="1050"/>
              </a:lnSpc>
              <a:buSzPct val="100000"/>
              <a:buChar char="•"/>
            </a:pPr>
            <a:r>
              <a:rPr lang="en-US" sz="650" dirty="0">
                <a:solidFill>
                  <a:srgbClr val="000000"/>
                </a:solidFill>
                <a:latin typeface="Inter" pitchFamily="34" charset="0"/>
                <a:ea typeface="Inter" pitchFamily="34" charset="-122"/>
                <a:cs typeface="Inter" pitchFamily="34" charset="-120"/>
              </a:rPr>
              <a:t>Conformité GDPR/PIPL stricte garantie by design</a:t>
            </a:r>
            <a:endParaRPr lang="en-US" sz="650" dirty="0"/>
          </a:p>
        </p:txBody>
      </p:sp>
      <p:sp>
        <p:nvSpPr>
          <p:cNvPr id="53" name="Text 51"/>
          <p:cNvSpPr/>
          <p:nvPr/>
        </p:nvSpPr>
        <p:spPr>
          <a:xfrm>
            <a:off x="533043" y="7388185"/>
            <a:ext cx="8054102" cy="138589"/>
          </a:xfrm>
          <a:prstGeom prst="rect">
            <a:avLst/>
          </a:prstGeom>
          <a:noFill/>
          <a:ln/>
        </p:spPr>
        <p:txBody>
          <a:bodyPr wrap="none" lIns="0" tIns="0" rIns="0" bIns="0" rtlCol="0" anchor="t"/>
          <a:lstStyle/>
          <a:p>
            <a:pPr marL="342900" indent="-342900" algn="l">
              <a:lnSpc>
                <a:spcPts val="1050"/>
              </a:lnSpc>
              <a:buSzPct val="100000"/>
              <a:buChar char="•"/>
            </a:pPr>
            <a:r>
              <a:rPr lang="en-US" sz="650" dirty="0">
                <a:solidFill>
                  <a:srgbClr val="000000"/>
                </a:solidFill>
                <a:latin typeface="Inter" pitchFamily="34" charset="0"/>
                <a:ea typeface="Inter" pitchFamily="34" charset="-122"/>
                <a:cs typeface="Inter" pitchFamily="34" charset="-120"/>
              </a:rPr>
              <a:t>Système de mesure du ROI continu et transparent</a:t>
            </a:r>
            <a:endParaRPr lang="en-US" sz="650" dirty="0"/>
          </a:p>
        </p:txBody>
      </p:sp>
      <p:sp>
        <p:nvSpPr>
          <p:cNvPr id="54" name="Text 52"/>
          <p:cNvSpPr/>
          <p:nvPr/>
        </p:nvSpPr>
        <p:spPr>
          <a:xfrm>
            <a:off x="533043" y="7557016"/>
            <a:ext cx="8054102" cy="138589"/>
          </a:xfrm>
          <a:prstGeom prst="rect">
            <a:avLst/>
          </a:prstGeom>
          <a:noFill/>
          <a:ln/>
        </p:spPr>
        <p:txBody>
          <a:bodyPr wrap="none" lIns="0" tIns="0" rIns="0" bIns="0" rtlCol="0" anchor="t"/>
          <a:lstStyle/>
          <a:p>
            <a:pPr marL="342900" indent="-342900" algn="l">
              <a:lnSpc>
                <a:spcPts val="1050"/>
              </a:lnSpc>
              <a:buSzPct val="100000"/>
              <a:buChar char="•"/>
            </a:pPr>
            <a:r>
              <a:rPr lang="en-US" sz="650" dirty="0">
                <a:solidFill>
                  <a:srgbClr val="000000"/>
                </a:solidFill>
                <a:latin typeface="Inter" pitchFamily="34" charset="0"/>
                <a:ea typeface="Inter" pitchFamily="34" charset="-122"/>
                <a:cs typeface="Inter" pitchFamily="34" charset="-120"/>
              </a:rPr>
              <a:t>Respect rigoureux de la philosophie "Quiet Tech" LVMH</a:t>
            </a:r>
            <a:endParaRPr lang="en-US" sz="650" dirty="0"/>
          </a:p>
        </p:txBody>
      </p:sp>
      <p:sp>
        <p:nvSpPr>
          <p:cNvPr id="55" name="Shape 53"/>
          <p:cNvSpPr/>
          <p:nvPr/>
        </p:nvSpPr>
        <p:spPr>
          <a:xfrm>
            <a:off x="8805982" y="6501765"/>
            <a:ext cx="5298996" cy="866894"/>
          </a:xfrm>
          <a:prstGeom prst="roundRect">
            <a:avLst>
              <a:gd name="adj" fmla="val 4197"/>
            </a:avLst>
          </a:prstGeom>
          <a:solidFill>
            <a:srgbClr val="B3FFE2"/>
          </a:solidFill>
          <a:ln/>
        </p:spPr>
        <p:txBody>
          <a:bodyPr/>
          <a:lstStyle/>
          <a:p>
            <a:endParaRPr lang="fr-CH"/>
          </a:p>
        </p:txBody>
      </p:sp>
      <p:pic>
        <p:nvPicPr>
          <p:cNvPr id="56" name="Image 0" descr="preencoded.png"/>
          <p:cNvPicPr>
            <a:picLocks noChangeAspect="1"/>
          </p:cNvPicPr>
          <p:nvPr/>
        </p:nvPicPr>
        <p:blipFill>
          <a:blip r:embed="rId3"/>
          <a:stretch>
            <a:fillRect/>
          </a:stretch>
        </p:blipFill>
        <p:spPr>
          <a:xfrm>
            <a:off x="8892540" y="6621780"/>
            <a:ext cx="135255" cy="108228"/>
          </a:xfrm>
          <a:prstGeom prst="rect">
            <a:avLst/>
          </a:prstGeom>
        </p:spPr>
      </p:pic>
      <p:sp>
        <p:nvSpPr>
          <p:cNvPr id="57" name="Text 54"/>
          <p:cNvSpPr/>
          <p:nvPr/>
        </p:nvSpPr>
        <p:spPr>
          <a:xfrm>
            <a:off x="9114353" y="6609874"/>
            <a:ext cx="1812250" cy="135374"/>
          </a:xfrm>
          <a:prstGeom prst="rect">
            <a:avLst/>
          </a:prstGeom>
          <a:noFill/>
          <a:ln/>
        </p:spPr>
        <p:txBody>
          <a:bodyPr wrap="none" lIns="0" tIns="0" rIns="0" bIns="0" rtlCol="0" anchor="t"/>
          <a:lstStyle/>
          <a:p>
            <a:pPr marL="0" indent="0" algn="l">
              <a:lnSpc>
                <a:spcPts val="1050"/>
              </a:lnSpc>
              <a:buNone/>
            </a:pPr>
            <a:r>
              <a:rPr lang="en-US" sz="850" b="1" dirty="0">
                <a:solidFill>
                  <a:srgbClr val="000000"/>
                </a:solidFill>
                <a:latin typeface="Inter Bold" pitchFamily="34" charset="0"/>
                <a:ea typeface="Inter Bold" pitchFamily="34" charset="-122"/>
                <a:cs typeface="Inter Bold" pitchFamily="34" charset="-120"/>
              </a:rPr>
              <a:t>Recommandation Finale Exécutive</a:t>
            </a:r>
            <a:endParaRPr lang="en-US" sz="850" dirty="0"/>
          </a:p>
        </p:txBody>
      </p:sp>
      <p:sp>
        <p:nvSpPr>
          <p:cNvPr id="58" name="Text 55"/>
          <p:cNvSpPr/>
          <p:nvPr/>
        </p:nvSpPr>
        <p:spPr>
          <a:xfrm>
            <a:off x="9114353" y="6831806"/>
            <a:ext cx="4904065" cy="415766"/>
          </a:xfrm>
          <a:prstGeom prst="rect">
            <a:avLst/>
          </a:prstGeom>
          <a:noFill/>
          <a:ln/>
        </p:spPr>
        <p:txBody>
          <a:bodyPr wrap="square" lIns="0" tIns="0" rIns="0" bIns="0" rtlCol="0" anchor="t"/>
          <a:lstStyle/>
          <a:p>
            <a:pPr marL="0" indent="0" algn="l">
              <a:lnSpc>
                <a:spcPts val="1050"/>
              </a:lnSpc>
              <a:buNone/>
            </a:pPr>
            <a:r>
              <a:rPr lang="en-US" sz="650" dirty="0">
                <a:solidFill>
                  <a:srgbClr val="000000"/>
                </a:solidFill>
                <a:latin typeface="Inter" pitchFamily="34" charset="0"/>
                <a:ea typeface="Inter" pitchFamily="34" charset="-122"/>
                <a:cs typeface="Inter" pitchFamily="34" charset="-120"/>
              </a:rPr>
              <a:t>Lancer immédiatement la </a:t>
            </a:r>
            <a:r>
              <a:rPr lang="en-US" sz="650" b="1" dirty="0">
                <a:solidFill>
                  <a:srgbClr val="000000"/>
                </a:solidFill>
                <a:latin typeface="Inter" pitchFamily="34" charset="0"/>
                <a:ea typeface="Inter" pitchFamily="34" charset="-122"/>
                <a:cs typeface="Inter" pitchFamily="34" charset="-120"/>
              </a:rPr>
              <a:t>Phase 1 POC (6 mois)</a:t>
            </a:r>
            <a:r>
              <a:rPr lang="en-US" sz="650" dirty="0">
                <a:solidFill>
                  <a:srgbClr val="000000"/>
                </a:solidFill>
                <a:latin typeface="Inter" pitchFamily="34" charset="0"/>
                <a:ea typeface="Inter" pitchFamily="34" charset="-122"/>
                <a:cs typeface="Inter" pitchFamily="34" charset="-120"/>
              </a:rPr>
              <a:t> avec un investissement limité et maîtrisé de 150,000 CHF pour valider empiriquement toutes les hypothèses critiques et sécuriser le buy-in complet de la direction avant tout engagement de scale global.</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8158" y="541972"/>
            <a:ext cx="4745355" cy="253008"/>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Gouvernance &amp; Gestion Rigoureuse des Risques</a:t>
            </a:r>
            <a:endParaRPr lang="en-US" sz="1550" dirty="0"/>
          </a:p>
        </p:txBody>
      </p:sp>
      <p:sp>
        <p:nvSpPr>
          <p:cNvPr id="3" name="Text 1"/>
          <p:cNvSpPr/>
          <p:nvPr/>
        </p:nvSpPr>
        <p:spPr>
          <a:xfrm>
            <a:off x="498158" y="956786"/>
            <a:ext cx="13634085" cy="129540"/>
          </a:xfrm>
          <a:prstGeom prst="rect">
            <a:avLst/>
          </a:prstGeom>
          <a:noFill/>
          <a:ln/>
        </p:spPr>
        <p:txBody>
          <a:bodyPr wrap="none" lIns="0" tIns="0" rIns="0" bIns="0" rtlCol="0" anchor="t"/>
          <a:lstStyle/>
          <a:p>
            <a:pPr marL="0" indent="0" algn="l">
              <a:lnSpc>
                <a:spcPts val="1000"/>
              </a:lnSpc>
              <a:buNone/>
            </a:pPr>
            <a:r>
              <a:rPr lang="en-US" sz="600" dirty="0">
                <a:solidFill>
                  <a:srgbClr val="000000"/>
                </a:solidFill>
                <a:latin typeface="Inter" pitchFamily="34" charset="0"/>
                <a:ea typeface="Inter" pitchFamily="34" charset="-122"/>
                <a:cs typeface="Inter" pitchFamily="34" charset="-120"/>
              </a:rPr>
              <a:t>Une analyse exhaustive a identifié trois catégories majeures de risques (légaux, éthiques, stratégiques) nécessitant des mesures de mitigation spécifiques et vérifiables. L'approche proposée intègre ces mitigations dès la conception ("by design") plutôt que comme correctifs a posteriori.</a:t>
            </a:r>
            <a:endParaRPr lang="en-US" sz="600" dirty="0"/>
          </a:p>
        </p:txBody>
      </p:sp>
      <p:sp>
        <p:nvSpPr>
          <p:cNvPr id="4" name="Text 2"/>
          <p:cNvSpPr/>
          <p:nvPr/>
        </p:nvSpPr>
        <p:spPr>
          <a:xfrm>
            <a:off x="498158" y="1207651"/>
            <a:ext cx="2393633" cy="151805"/>
          </a:xfrm>
          <a:prstGeom prst="rect">
            <a:avLst/>
          </a:prstGeom>
          <a:noFill/>
          <a:ln/>
        </p:spPr>
        <p:txBody>
          <a:bodyPr wrap="none" lIns="0" tIns="0" rIns="0" bIns="0" rtlCol="0" anchor="t"/>
          <a:lstStyle/>
          <a:p>
            <a:pPr marL="0" indent="0" algn="l">
              <a:lnSpc>
                <a:spcPts val="1150"/>
              </a:lnSpc>
              <a:buNone/>
            </a:pPr>
            <a:r>
              <a:rPr lang="en-US" sz="950" b="1" dirty="0">
                <a:solidFill>
                  <a:srgbClr val="E3001D"/>
                </a:solidFill>
                <a:latin typeface="Inter Bold" pitchFamily="34" charset="0"/>
                <a:ea typeface="Inter Bold" pitchFamily="34" charset="-122"/>
                <a:cs typeface="Inter Bold" pitchFamily="34" charset="-120"/>
              </a:rPr>
              <a:t>Risques Légaux &amp; Mesures de Mitigation</a:t>
            </a:r>
            <a:endParaRPr lang="en-US" sz="950" dirty="0"/>
          </a:p>
        </p:txBody>
      </p:sp>
      <p:sp>
        <p:nvSpPr>
          <p:cNvPr id="5" name="Shape 3"/>
          <p:cNvSpPr/>
          <p:nvPr/>
        </p:nvSpPr>
        <p:spPr>
          <a:xfrm>
            <a:off x="498158" y="1480780"/>
            <a:ext cx="4490799" cy="1177528"/>
          </a:xfrm>
          <a:prstGeom prst="roundRect">
            <a:avLst>
              <a:gd name="adj" fmla="val 3106"/>
            </a:avLst>
          </a:prstGeom>
          <a:solidFill>
            <a:srgbClr val="F5F5F5"/>
          </a:solidFill>
          <a:ln w="7620">
            <a:solidFill>
              <a:srgbClr val="008150"/>
            </a:solidFill>
            <a:prstDash val="solid"/>
          </a:ln>
        </p:spPr>
        <p:txBody>
          <a:bodyPr/>
          <a:lstStyle/>
          <a:p>
            <a:endParaRPr lang="fr-CH"/>
          </a:p>
        </p:txBody>
      </p:sp>
      <p:sp>
        <p:nvSpPr>
          <p:cNvPr id="6" name="Shape 4"/>
          <p:cNvSpPr/>
          <p:nvPr/>
        </p:nvSpPr>
        <p:spPr>
          <a:xfrm>
            <a:off x="490538" y="1480780"/>
            <a:ext cx="30480" cy="1177528"/>
          </a:xfrm>
          <a:prstGeom prst="roundRect">
            <a:avLst>
              <a:gd name="adj" fmla="val 111560"/>
            </a:avLst>
          </a:prstGeom>
          <a:solidFill>
            <a:srgbClr val="008150"/>
          </a:solidFill>
          <a:ln/>
        </p:spPr>
        <p:txBody>
          <a:bodyPr/>
          <a:lstStyle/>
          <a:p>
            <a:endParaRPr lang="fr-CH"/>
          </a:p>
        </p:txBody>
      </p:sp>
      <p:sp>
        <p:nvSpPr>
          <p:cNvPr id="7" name="Text 5"/>
          <p:cNvSpPr/>
          <p:nvPr/>
        </p:nvSpPr>
        <p:spPr>
          <a:xfrm>
            <a:off x="609481" y="1569244"/>
            <a:ext cx="2283381"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GDPR Article 22 : Profilage Automatisé Interdit</a:t>
            </a:r>
            <a:endParaRPr lang="en-US" sz="750" dirty="0"/>
          </a:p>
        </p:txBody>
      </p:sp>
      <p:sp>
        <p:nvSpPr>
          <p:cNvPr id="8" name="Text 6"/>
          <p:cNvSpPr/>
          <p:nvPr/>
        </p:nvSpPr>
        <p:spPr>
          <a:xfrm>
            <a:off x="609481" y="1744147"/>
            <a:ext cx="4291013"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Le GDPR interdit explicitement tout profilage automatisé produisant un effet juridique ou significatif sans consentement explicite préalable du sujet.</a:t>
            </a:r>
            <a:endParaRPr lang="en-US" sz="600" dirty="0"/>
          </a:p>
        </p:txBody>
      </p:sp>
      <p:sp>
        <p:nvSpPr>
          <p:cNvPr id="9" name="Text 7"/>
          <p:cNvSpPr/>
          <p:nvPr/>
        </p:nvSpPr>
        <p:spPr>
          <a:xfrm>
            <a:off x="609481" y="2051685"/>
            <a:ext cx="4291013" cy="51816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déployée :</a:t>
            </a:r>
            <a:r>
              <a:rPr lang="en-US" sz="600" dirty="0">
                <a:solidFill>
                  <a:srgbClr val="000000"/>
                </a:solidFill>
                <a:latin typeface="Inter" pitchFamily="34" charset="0"/>
                <a:ea typeface="Inter" pitchFamily="34" charset="-122"/>
                <a:cs typeface="Inter" pitchFamily="34" charset="-120"/>
              </a:rPr>
              <a:t> Implémentation systématique du principe "Human-in-the-loop" (parfaitement aligné avec la philosophie "Quiet Tech" LVMH). L'IA suggère et informe, mais l'humain décide et valide toujours la décision finale client-facing. Aucune décision automatisée affectant le client n'est techniquement possible dans l'architecture proposée.</a:t>
            </a:r>
            <a:endParaRPr lang="en-US" sz="600" dirty="0"/>
          </a:p>
        </p:txBody>
      </p:sp>
      <p:sp>
        <p:nvSpPr>
          <p:cNvPr id="10" name="Shape 8"/>
          <p:cNvSpPr/>
          <p:nvPr/>
        </p:nvSpPr>
        <p:spPr>
          <a:xfrm>
            <a:off x="5069800" y="1480780"/>
            <a:ext cx="4490799" cy="1177528"/>
          </a:xfrm>
          <a:prstGeom prst="roundRect">
            <a:avLst>
              <a:gd name="adj" fmla="val 3106"/>
            </a:avLst>
          </a:prstGeom>
          <a:solidFill>
            <a:srgbClr val="F5F5F5"/>
          </a:solidFill>
          <a:ln w="7620">
            <a:solidFill>
              <a:srgbClr val="E3001D"/>
            </a:solidFill>
            <a:prstDash val="solid"/>
          </a:ln>
        </p:spPr>
        <p:txBody>
          <a:bodyPr/>
          <a:lstStyle/>
          <a:p>
            <a:endParaRPr lang="fr-CH"/>
          </a:p>
        </p:txBody>
      </p:sp>
      <p:sp>
        <p:nvSpPr>
          <p:cNvPr id="11" name="Shape 9"/>
          <p:cNvSpPr/>
          <p:nvPr/>
        </p:nvSpPr>
        <p:spPr>
          <a:xfrm>
            <a:off x="5062180" y="1480780"/>
            <a:ext cx="30480" cy="1177528"/>
          </a:xfrm>
          <a:prstGeom prst="roundRect">
            <a:avLst>
              <a:gd name="adj" fmla="val 111560"/>
            </a:avLst>
          </a:prstGeom>
          <a:solidFill>
            <a:srgbClr val="E3001D"/>
          </a:solidFill>
          <a:ln/>
        </p:spPr>
        <p:txBody>
          <a:bodyPr/>
          <a:lstStyle/>
          <a:p>
            <a:endParaRPr lang="fr-CH"/>
          </a:p>
        </p:txBody>
      </p:sp>
      <p:sp>
        <p:nvSpPr>
          <p:cNvPr id="12" name="Text 10"/>
          <p:cNvSpPr/>
          <p:nvPr/>
        </p:nvSpPr>
        <p:spPr>
          <a:xfrm>
            <a:off x="5181124" y="1569244"/>
            <a:ext cx="1756291"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EU AI Act : Systèmes "Haut Risque"</a:t>
            </a:r>
            <a:endParaRPr lang="en-US" sz="750" dirty="0"/>
          </a:p>
        </p:txBody>
      </p:sp>
      <p:sp>
        <p:nvSpPr>
          <p:cNvPr id="13" name="Text 11"/>
          <p:cNvSpPr/>
          <p:nvPr/>
        </p:nvSpPr>
        <p:spPr>
          <a:xfrm>
            <a:off x="5181124" y="1744147"/>
            <a:ext cx="4291013"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Le profilage comportemental est explicitement classifié comme système "à haut risque" dans le nouvel EU AI Act, entraînant des contraintes de conformité opérationnelles lourdes.</a:t>
            </a:r>
            <a:endParaRPr lang="en-US" sz="600" dirty="0"/>
          </a:p>
        </p:txBody>
      </p:sp>
      <p:sp>
        <p:nvSpPr>
          <p:cNvPr id="14" name="Text 12"/>
          <p:cNvSpPr/>
          <p:nvPr/>
        </p:nvSpPr>
        <p:spPr>
          <a:xfrm>
            <a:off x="5181124" y="2051685"/>
            <a:ext cx="4291013" cy="38862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déployée :</a:t>
            </a:r>
            <a:r>
              <a:rPr lang="en-US" sz="600" dirty="0">
                <a:solidFill>
                  <a:srgbClr val="000000"/>
                </a:solidFill>
                <a:latin typeface="Inter" pitchFamily="34" charset="0"/>
                <a:ea typeface="Inter" pitchFamily="34" charset="-122"/>
                <a:cs typeface="Inter" pitchFamily="34" charset="-120"/>
              </a:rPr>
              <a:t> Architecture fédérée garantissant la conformité locale by design (données et traitements restent dans leur juridiction d'origine). Absence totale de système automatisé de décision client-facing (l'IA reste un outil d'aide à la décision pour l'employé, jamais un système décisionnel autonome).</a:t>
            </a:r>
            <a:endParaRPr lang="en-US" sz="600" dirty="0"/>
          </a:p>
        </p:txBody>
      </p:sp>
      <p:sp>
        <p:nvSpPr>
          <p:cNvPr id="15" name="Shape 13"/>
          <p:cNvSpPr/>
          <p:nvPr/>
        </p:nvSpPr>
        <p:spPr>
          <a:xfrm>
            <a:off x="9641443" y="1480780"/>
            <a:ext cx="4490799" cy="1177528"/>
          </a:xfrm>
          <a:prstGeom prst="roundRect">
            <a:avLst>
              <a:gd name="adj" fmla="val 3106"/>
            </a:avLst>
          </a:prstGeom>
          <a:solidFill>
            <a:srgbClr val="F5F5F5"/>
          </a:solidFill>
          <a:ln w="7620">
            <a:solidFill>
              <a:srgbClr val="008150"/>
            </a:solidFill>
            <a:prstDash val="solid"/>
          </a:ln>
        </p:spPr>
        <p:txBody>
          <a:bodyPr/>
          <a:lstStyle/>
          <a:p>
            <a:endParaRPr lang="fr-CH"/>
          </a:p>
        </p:txBody>
      </p:sp>
      <p:sp>
        <p:nvSpPr>
          <p:cNvPr id="16" name="Shape 14"/>
          <p:cNvSpPr/>
          <p:nvPr/>
        </p:nvSpPr>
        <p:spPr>
          <a:xfrm>
            <a:off x="9633823" y="1480780"/>
            <a:ext cx="30480" cy="1177528"/>
          </a:xfrm>
          <a:prstGeom prst="roundRect">
            <a:avLst>
              <a:gd name="adj" fmla="val 111560"/>
            </a:avLst>
          </a:prstGeom>
          <a:solidFill>
            <a:srgbClr val="008150"/>
          </a:solidFill>
          <a:ln/>
        </p:spPr>
        <p:txBody>
          <a:bodyPr/>
          <a:lstStyle/>
          <a:p>
            <a:endParaRPr lang="fr-CH"/>
          </a:p>
        </p:txBody>
      </p:sp>
      <p:sp>
        <p:nvSpPr>
          <p:cNvPr id="17" name="Text 15"/>
          <p:cNvSpPr/>
          <p:nvPr/>
        </p:nvSpPr>
        <p:spPr>
          <a:xfrm>
            <a:off x="9752767" y="1569244"/>
            <a:ext cx="1553528"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PIPL Chine : Données Sensibles</a:t>
            </a:r>
            <a:endParaRPr lang="en-US" sz="750" dirty="0"/>
          </a:p>
        </p:txBody>
      </p:sp>
      <p:sp>
        <p:nvSpPr>
          <p:cNvPr id="18" name="Text 16"/>
          <p:cNvSpPr/>
          <p:nvPr/>
        </p:nvSpPr>
        <p:spPr>
          <a:xfrm>
            <a:off x="9752767" y="1744147"/>
            <a:ext cx="4291013"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La loi chinoise PIPL (Personal Information Protection Law) classifie les données financières et de géolocalisation comme "sensibles", nécessitant un consentement séparé et des contrôles renforcés.</a:t>
            </a:r>
            <a:endParaRPr lang="en-US" sz="600" dirty="0"/>
          </a:p>
        </p:txBody>
      </p:sp>
      <p:sp>
        <p:nvSpPr>
          <p:cNvPr id="19" name="Text 17"/>
          <p:cNvSpPr/>
          <p:nvPr/>
        </p:nvSpPr>
        <p:spPr>
          <a:xfrm>
            <a:off x="9752767" y="2051685"/>
            <a:ext cx="4291013" cy="38862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déployée :</a:t>
            </a:r>
            <a:r>
              <a:rPr lang="en-US" sz="600" dirty="0">
                <a:solidFill>
                  <a:srgbClr val="000000"/>
                </a:solidFill>
                <a:latin typeface="Inter" pitchFamily="34" charset="0"/>
                <a:ea typeface="Inter" pitchFamily="34" charset="-122"/>
                <a:cs typeface="Inter" pitchFamily="34" charset="-120"/>
              </a:rPr>
              <a:t> Les modèles régionaux spécifiques APAC traitent les données financières avec des contrôles "données sensibles" totalement distincts et plus stricts que le modèle européen. Aucun transfert transfrontalier de données sensibles (architecture fédérée respecte la souveraineté des données).</a:t>
            </a:r>
            <a:endParaRPr lang="en-US" sz="600" dirty="0"/>
          </a:p>
        </p:txBody>
      </p:sp>
      <p:sp>
        <p:nvSpPr>
          <p:cNvPr id="20" name="Shape 18"/>
          <p:cNvSpPr/>
          <p:nvPr/>
        </p:nvSpPr>
        <p:spPr>
          <a:xfrm>
            <a:off x="498158" y="2789634"/>
            <a:ext cx="13634085" cy="17621"/>
          </a:xfrm>
          <a:prstGeom prst="rect">
            <a:avLst/>
          </a:prstGeom>
          <a:solidFill>
            <a:srgbClr val="000000">
              <a:alpha val="50000"/>
            </a:srgbClr>
          </a:solidFill>
          <a:ln/>
        </p:spPr>
        <p:txBody>
          <a:bodyPr/>
          <a:lstStyle/>
          <a:p>
            <a:endParaRPr lang="fr-CH"/>
          </a:p>
        </p:txBody>
      </p:sp>
      <p:sp>
        <p:nvSpPr>
          <p:cNvPr id="21" name="Text 19"/>
          <p:cNvSpPr/>
          <p:nvPr/>
        </p:nvSpPr>
        <p:spPr>
          <a:xfrm>
            <a:off x="498158" y="2928461"/>
            <a:ext cx="2478762" cy="151805"/>
          </a:xfrm>
          <a:prstGeom prst="rect">
            <a:avLst/>
          </a:prstGeom>
          <a:noFill/>
          <a:ln/>
        </p:spPr>
        <p:txBody>
          <a:bodyPr wrap="none" lIns="0" tIns="0" rIns="0" bIns="0" rtlCol="0" anchor="t"/>
          <a:lstStyle/>
          <a:p>
            <a:pPr marL="0" indent="0" algn="l">
              <a:lnSpc>
                <a:spcPts val="1150"/>
              </a:lnSpc>
              <a:buNone/>
            </a:pPr>
            <a:r>
              <a:rPr lang="en-US" sz="950" b="1" dirty="0">
                <a:solidFill>
                  <a:srgbClr val="E3001D"/>
                </a:solidFill>
                <a:latin typeface="Inter Bold" pitchFamily="34" charset="0"/>
                <a:ea typeface="Inter Bold" pitchFamily="34" charset="-122"/>
                <a:cs typeface="Inter Bold" pitchFamily="34" charset="-120"/>
              </a:rPr>
              <a:t>Risques Éthiques &amp; Mesures de Mitigation</a:t>
            </a:r>
            <a:endParaRPr lang="en-US" sz="950" dirty="0"/>
          </a:p>
        </p:txBody>
      </p:sp>
      <p:sp>
        <p:nvSpPr>
          <p:cNvPr id="22" name="Shape 20"/>
          <p:cNvSpPr/>
          <p:nvPr/>
        </p:nvSpPr>
        <p:spPr>
          <a:xfrm>
            <a:off x="498158" y="3244632"/>
            <a:ext cx="40362" cy="40362"/>
          </a:xfrm>
          <a:prstGeom prst="roundRect">
            <a:avLst>
              <a:gd name="adj" fmla="val 1132749"/>
            </a:avLst>
          </a:prstGeom>
          <a:solidFill>
            <a:srgbClr val="008150"/>
          </a:solidFill>
          <a:ln/>
        </p:spPr>
        <p:txBody>
          <a:bodyPr/>
          <a:lstStyle/>
          <a:p>
            <a:endParaRPr lang="fr-CH"/>
          </a:p>
        </p:txBody>
      </p:sp>
      <p:sp>
        <p:nvSpPr>
          <p:cNvPr id="23" name="Text 21"/>
          <p:cNvSpPr/>
          <p:nvPr/>
        </p:nvSpPr>
        <p:spPr>
          <a:xfrm>
            <a:off x="619363" y="3201591"/>
            <a:ext cx="1575792"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Biais Algorithmique Systémique</a:t>
            </a:r>
            <a:endParaRPr lang="en-US" sz="750" dirty="0"/>
          </a:p>
        </p:txBody>
      </p:sp>
      <p:sp>
        <p:nvSpPr>
          <p:cNvPr id="24" name="Text 22"/>
          <p:cNvSpPr/>
          <p:nvPr/>
        </p:nvSpPr>
        <p:spPr>
          <a:xfrm>
            <a:off x="619363" y="3376493"/>
            <a:ext cx="4356021"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L'IA reflète inévitablement les biais culturels de ses développeurs (le biais occidental des modèles d'IA est largement documenté dans la littérature académique).</a:t>
            </a:r>
            <a:endParaRPr lang="en-US" sz="600" dirty="0"/>
          </a:p>
        </p:txBody>
      </p:sp>
      <p:sp>
        <p:nvSpPr>
          <p:cNvPr id="25" name="Text 23"/>
          <p:cNvSpPr/>
          <p:nvPr/>
        </p:nvSpPr>
        <p:spPr>
          <a:xfrm>
            <a:off x="619363" y="3684032"/>
            <a:ext cx="4356021" cy="38862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a:t>
            </a:r>
            <a:r>
              <a:rPr lang="en-US" sz="600" dirty="0">
                <a:solidFill>
                  <a:srgbClr val="000000"/>
                </a:solidFill>
                <a:latin typeface="Inter" pitchFamily="34" charset="0"/>
                <a:ea typeface="Inter" pitchFamily="34" charset="-122"/>
                <a:cs typeface="Inter" pitchFamily="34" charset="-120"/>
              </a:rPr>
              <a:t> Utilisation de datasets volontairement diversifiés géographiquement et culturellement, Audit de biais algorithmique régulier et systématique par équipe indépendante, Formation spécialisée de modèles NLP sur des corpus régionaux authentiques (pas un modèle global occidental unique).</a:t>
            </a:r>
            <a:endParaRPr lang="en-US" sz="600" dirty="0"/>
          </a:p>
        </p:txBody>
      </p:sp>
      <p:sp>
        <p:nvSpPr>
          <p:cNvPr id="26" name="Shape 24"/>
          <p:cNvSpPr/>
          <p:nvPr/>
        </p:nvSpPr>
        <p:spPr>
          <a:xfrm>
            <a:off x="5076468" y="3244632"/>
            <a:ext cx="40362" cy="40362"/>
          </a:xfrm>
          <a:prstGeom prst="roundRect">
            <a:avLst>
              <a:gd name="adj" fmla="val 1132749"/>
            </a:avLst>
          </a:prstGeom>
          <a:solidFill>
            <a:srgbClr val="E3001D"/>
          </a:solidFill>
          <a:ln/>
        </p:spPr>
        <p:txBody>
          <a:bodyPr/>
          <a:lstStyle/>
          <a:p>
            <a:endParaRPr lang="fr-CH"/>
          </a:p>
        </p:txBody>
      </p:sp>
      <p:sp>
        <p:nvSpPr>
          <p:cNvPr id="27" name="Text 25"/>
          <p:cNvSpPr/>
          <p:nvPr/>
        </p:nvSpPr>
        <p:spPr>
          <a:xfrm>
            <a:off x="5197673" y="3201591"/>
            <a:ext cx="1087755"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Stéréotypage Culturel</a:t>
            </a:r>
            <a:endParaRPr lang="en-US" sz="750" dirty="0"/>
          </a:p>
        </p:txBody>
      </p:sp>
      <p:sp>
        <p:nvSpPr>
          <p:cNvPr id="28" name="Text 26"/>
          <p:cNvSpPr/>
          <p:nvPr/>
        </p:nvSpPr>
        <p:spPr>
          <a:xfrm>
            <a:off x="5197673" y="3376493"/>
            <a:ext cx="4356140"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Risque critique de caricature culturelle = dommage de marque potentiellement existentiel pour une maison de luxe.</a:t>
            </a:r>
            <a:endParaRPr lang="en-US" sz="600" dirty="0"/>
          </a:p>
        </p:txBody>
      </p:sp>
      <p:sp>
        <p:nvSpPr>
          <p:cNvPr id="29" name="Text 27"/>
          <p:cNvSpPr/>
          <p:nvPr/>
        </p:nvSpPr>
        <p:spPr>
          <a:xfrm>
            <a:off x="5197673" y="3684032"/>
            <a:ext cx="4356140" cy="38862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a:t>
            </a:r>
            <a:r>
              <a:rPr lang="en-US" sz="600" dirty="0">
                <a:solidFill>
                  <a:srgbClr val="000000"/>
                </a:solidFill>
                <a:latin typeface="Inter" pitchFamily="34" charset="0"/>
                <a:ea typeface="Inter" pitchFamily="34" charset="-122"/>
                <a:cs typeface="Inter" pitchFamily="34" charset="-120"/>
              </a:rPr>
              <a:t> Utilisation exclusive de patterns comportementaux observés (jamais de profils culturels a priori), Validation humaine systématique obligatoire avant toute action client-facing, Tests A/B rigoureux permettant apprentissage du comportement réel (pas validation d'hypothèse déterministe).</a:t>
            </a:r>
            <a:endParaRPr lang="en-US" sz="600" dirty="0"/>
          </a:p>
        </p:txBody>
      </p:sp>
      <p:sp>
        <p:nvSpPr>
          <p:cNvPr id="30" name="Shape 28"/>
          <p:cNvSpPr/>
          <p:nvPr/>
        </p:nvSpPr>
        <p:spPr>
          <a:xfrm>
            <a:off x="9654897" y="3244632"/>
            <a:ext cx="40362" cy="40362"/>
          </a:xfrm>
          <a:prstGeom prst="roundRect">
            <a:avLst>
              <a:gd name="adj" fmla="val 1132749"/>
            </a:avLst>
          </a:prstGeom>
          <a:solidFill>
            <a:srgbClr val="008150"/>
          </a:solidFill>
          <a:ln/>
        </p:spPr>
        <p:txBody>
          <a:bodyPr/>
          <a:lstStyle/>
          <a:p>
            <a:endParaRPr lang="fr-CH"/>
          </a:p>
        </p:txBody>
      </p:sp>
      <p:sp>
        <p:nvSpPr>
          <p:cNvPr id="31" name="Text 29"/>
          <p:cNvSpPr/>
          <p:nvPr/>
        </p:nvSpPr>
        <p:spPr>
          <a:xfrm>
            <a:off x="9776103" y="3201591"/>
            <a:ext cx="1437680"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"AI Booing" : Backlash Public</a:t>
            </a:r>
            <a:endParaRPr lang="en-US" sz="750" dirty="0"/>
          </a:p>
        </p:txBody>
      </p:sp>
      <p:sp>
        <p:nvSpPr>
          <p:cNvPr id="32" name="Text 30"/>
          <p:cNvSpPr/>
          <p:nvPr/>
        </p:nvSpPr>
        <p:spPr>
          <a:xfrm>
            <a:off x="9776103" y="3376493"/>
            <a:ext cx="4356021"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Backlash médiatique et réputationnel majeur si la personnalisation IA est perçue publiquement comme discriminatoire ou intrusive.</a:t>
            </a:r>
            <a:endParaRPr lang="en-US" sz="600" dirty="0"/>
          </a:p>
        </p:txBody>
      </p:sp>
      <p:sp>
        <p:nvSpPr>
          <p:cNvPr id="33" name="Text 31"/>
          <p:cNvSpPr/>
          <p:nvPr/>
        </p:nvSpPr>
        <p:spPr>
          <a:xfrm>
            <a:off x="9776103" y="3684032"/>
            <a:ext cx="4356021" cy="38862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a:t>
            </a:r>
            <a:r>
              <a:rPr lang="en-US" sz="600" dirty="0">
                <a:solidFill>
                  <a:srgbClr val="000000"/>
                </a:solidFill>
                <a:latin typeface="Inter" pitchFamily="34" charset="0"/>
                <a:ea typeface="Inter" pitchFamily="34" charset="-122"/>
                <a:cs typeface="Inter" pitchFamily="34" charset="-120"/>
              </a:rPr>
              <a:t> Déploiement d'XAI (Explainable AI) sur les marchés USA/Europe particulièrement sensibles, Transparence totale des décisions algorithmiques et de leur justification, Mécanismes d'opt-in et opt-out clairs, visibles et sans friction.</a:t>
            </a:r>
            <a:endParaRPr lang="en-US" sz="600" dirty="0"/>
          </a:p>
        </p:txBody>
      </p:sp>
      <p:sp>
        <p:nvSpPr>
          <p:cNvPr id="34" name="Shape 32"/>
          <p:cNvSpPr/>
          <p:nvPr/>
        </p:nvSpPr>
        <p:spPr>
          <a:xfrm>
            <a:off x="498158" y="4203977"/>
            <a:ext cx="13634085" cy="17621"/>
          </a:xfrm>
          <a:prstGeom prst="rect">
            <a:avLst/>
          </a:prstGeom>
          <a:solidFill>
            <a:srgbClr val="000000">
              <a:alpha val="50000"/>
            </a:srgbClr>
          </a:solidFill>
          <a:ln/>
        </p:spPr>
        <p:txBody>
          <a:bodyPr/>
          <a:lstStyle/>
          <a:p>
            <a:endParaRPr lang="fr-CH"/>
          </a:p>
        </p:txBody>
      </p:sp>
      <p:sp>
        <p:nvSpPr>
          <p:cNvPr id="35" name="Text 33"/>
          <p:cNvSpPr/>
          <p:nvPr/>
        </p:nvSpPr>
        <p:spPr>
          <a:xfrm>
            <a:off x="498158" y="4342805"/>
            <a:ext cx="2719030" cy="151805"/>
          </a:xfrm>
          <a:prstGeom prst="rect">
            <a:avLst/>
          </a:prstGeom>
          <a:noFill/>
          <a:ln/>
        </p:spPr>
        <p:txBody>
          <a:bodyPr wrap="none" lIns="0" tIns="0" rIns="0" bIns="0" rtlCol="0" anchor="t"/>
          <a:lstStyle/>
          <a:p>
            <a:pPr marL="0" indent="0" algn="l">
              <a:lnSpc>
                <a:spcPts val="1150"/>
              </a:lnSpc>
              <a:buNone/>
            </a:pPr>
            <a:r>
              <a:rPr lang="en-US" sz="950" b="1" dirty="0">
                <a:solidFill>
                  <a:srgbClr val="E3001D"/>
                </a:solidFill>
                <a:latin typeface="Inter Bold" pitchFamily="34" charset="0"/>
                <a:ea typeface="Inter Bold" pitchFamily="34" charset="-122"/>
                <a:cs typeface="Inter Bold" pitchFamily="34" charset="-120"/>
              </a:rPr>
              <a:t>Risques Stratégiques &amp; Mesures de Mitigation</a:t>
            </a:r>
            <a:endParaRPr lang="en-US" sz="950" dirty="0"/>
          </a:p>
        </p:txBody>
      </p:sp>
      <p:sp>
        <p:nvSpPr>
          <p:cNvPr id="36" name="Text 34"/>
          <p:cNvSpPr/>
          <p:nvPr/>
        </p:nvSpPr>
        <p:spPr>
          <a:xfrm>
            <a:off x="498158" y="4696778"/>
            <a:ext cx="1572578"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Sur-Optimisation Algorithmique</a:t>
            </a:r>
            <a:endParaRPr lang="en-US" sz="750" dirty="0"/>
          </a:p>
        </p:txBody>
      </p:sp>
      <p:sp>
        <p:nvSpPr>
          <p:cNvPr id="37" name="Text 35"/>
          <p:cNvSpPr/>
          <p:nvPr/>
        </p:nvSpPr>
        <p:spPr>
          <a:xfrm>
            <a:off x="498158" y="4904065"/>
            <a:ext cx="6718340" cy="259080"/>
          </a:xfrm>
          <a:prstGeom prst="rect">
            <a:avLst/>
          </a:prstGeom>
          <a:noFill/>
          <a:ln/>
        </p:spPr>
        <p:txBody>
          <a:bodyPr wrap="squar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validé LVMH :</a:t>
            </a:r>
            <a:r>
              <a:rPr lang="en-US" sz="600" dirty="0">
                <a:solidFill>
                  <a:srgbClr val="000000"/>
                </a:solidFill>
                <a:latin typeface="Inter" pitchFamily="34" charset="0"/>
                <a:ea typeface="Inter" pitchFamily="34" charset="-122"/>
                <a:cs typeface="Inter" pitchFamily="34" charset="-120"/>
              </a:rPr>
              <a:t> Destruction de la sérendipité = baisse paradoxale de conversion (cas interne LVMH : IA trop précise → stagnation, puis +23% après introduction de "déséquilibres stratégiques").</a:t>
            </a:r>
            <a:endParaRPr lang="en-US" sz="600" dirty="0"/>
          </a:p>
        </p:txBody>
      </p:sp>
      <p:sp>
        <p:nvSpPr>
          <p:cNvPr id="38" name="Text 36"/>
          <p:cNvSpPr/>
          <p:nvPr/>
        </p:nvSpPr>
        <p:spPr>
          <a:xfrm>
            <a:off x="498158" y="5235892"/>
            <a:ext cx="6718340" cy="25908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a:t>
            </a:r>
            <a:r>
              <a:rPr lang="en-US" sz="600" dirty="0">
                <a:solidFill>
                  <a:srgbClr val="000000"/>
                </a:solidFill>
                <a:latin typeface="Inter" pitchFamily="34" charset="0"/>
                <a:ea typeface="Inter" pitchFamily="34" charset="-122"/>
                <a:cs typeface="Inter" pitchFamily="34" charset="-120"/>
              </a:rPr>
              <a:t> L'IA doit impérativement laisser de l'espace intentionnel pour la découverte et la surprise (éléments constitutifs de l'expérience luxe), Suggestions volontairement placées parfois hors de la zone de confort prédite.</a:t>
            </a:r>
            <a:endParaRPr lang="en-US" sz="600" dirty="0"/>
          </a:p>
        </p:txBody>
      </p:sp>
      <p:sp>
        <p:nvSpPr>
          <p:cNvPr id="39" name="Text 37"/>
          <p:cNvSpPr/>
          <p:nvPr/>
        </p:nvSpPr>
        <p:spPr>
          <a:xfrm>
            <a:off x="7421523" y="4696778"/>
            <a:ext cx="1011912"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Bulle de Filtres</a:t>
            </a:r>
            <a:endParaRPr lang="en-US" sz="750" dirty="0"/>
          </a:p>
        </p:txBody>
      </p:sp>
      <p:sp>
        <p:nvSpPr>
          <p:cNvPr id="40" name="Text 38"/>
          <p:cNvSpPr/>
          <p:nvPr/>
        </p:nvSpPr>
        <p:spPr>
          <a:xfrm>
            <a:off x="7421523" y="4904065"/>
            <a:ext cx="6718340" cy="129540"/>
          </a:xfrm>
          <a:prstGeom prst="rect">
            <a:avLst/>
          </a:prstGeom>
          <a:noFill/>
          <a:ln/>
        </p:spPr>
        <p:txBody>
          <a:bodyPr wrap="non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Risque :</a:t>
            </a:r>
            <a:r>
              <a:rPr lang="en-US" sz="600" dirty="0">
                <a:solidFill>
                  <a:srgbClr val="000000"/>
                </a:solidFill>
                <a:latin typeface="Inter" pitchFamily="34" charset="0"/>
                <a:ea typeface="Inter" pitchFamily="34" charset="-122"/>
                <a:cs typeface="Inter" pitchFamily="34" charset="-120"/>
              </a:rPr>
              <a:t> Client progressivement enfermé dans ses préférences connues = impossibilité de découvrir de nouveaux produits hors profil établi.</a:t>
            </a:r>
            <a:endParaRPr lang="en-US" sz="600" dirty="0"/>
          </a:p>
        </p:txBody>
      </p:sp>
      <p:sp>
        <p:nvSpPr>
          <p:cNvPr id="41" name="Text 39"/>
          <p:cNvSpPr/>
          <p:nvPr/>
        </p:nvSpPr>
        <p:spPr>
          <a:xfrm>
            <a:off x="7421523" y="5106353"/>
            <a:ext cx="6718340" cy="259080"/>
          </a:xfrm>
          <a:prstGeom prst="rect">
            <a:avLst/>
          </a:prstGeom>
          <a:noFill/>
          <a:ln/>
        </p:spPr>
        <p:txBody>
          <a:bodyPr wrap="square" lIns="0" tIns="0" rIns="0" bIns="0" rtlCol="0" anchor="t"/>
          <a:lstStyle/>
          <a:p>
            <a:pPr marL="0" indent="0" algn="l">
              <a:lnSpc>
                <a:spcPts val="1000"/>
              </a:lnSpc>
              <a:buNone/>
            </a:pPr>
            <a:r>
              <a:rPr lang="en-US" sz="600" b="1" dirty="0">
                <a:solidFill>
                  <a:srgbClr val="008150"/>
                </a:solidFill>
                <a:latin typeface="Inter" pitchFamily="34" charset="0"/>
                <a:ea typeface="Inter" pitchFamily="34" charset="-122"/>
                <a:cs typeface="Inter" pitchFamily="34" charset="-120"/>
              </a:rPr>
              <a:t>Mitigation :</a:t>
            </a:r>
            <a:r>
              <a:rPr lang="en-US" sz="600" dirty="0">
                <a:solidFill>
                  <a:srgbClr val="000000"/>
                </a:solidFill>
                <a:latin typeface="Inter" pitchFamily="34" charset="0"/>
                <a:ea typeface="Inter" pitchFamily="34" charset="-122"/>
                <a:cs typeface="Inter" pitchFamily="34" charset="-120"/>
              </a:rPr>
              <a:t> Les algorithmes intègrent explicitement une dimension "exploration" (pas seulement "exploitation" des préférences connues), Rotation systématique des suggestions pour éviter l'enfermement algorithmique.</a:t>
            </a:r>
            <a:endParaRPr lang="en-US" sz="600" dirty="0"/>
          </a:p>
        </p:txBody>
      </p:sp>
      <p:sp>
        <p:nvSpPr>
          <p:cNvPr id="42" name="Shape 40"/>
          <p:cNvSpPr/>
          <p:nvPr/>
        </p:nvSpPr>
        <p:spPr>
          <a:xfrm>
            <a:off x="498158" y="5699045"/>
            <a:ext cx="13634085" cy="17621"/>
          </a:xfrm>
          <a:prstGeom prst="rect">
            <a:avLst/>
          </a:prstGeom>
          <a:solidFill>
            <a:srgbClr val="000000">
              <a:alpha val="50000"/>
            </a:srgbClr>
          </a:solidFill>
          <a:ln/>
        </p:spPr>
        <p:txBody>
          <a:bodyPr/>
          <a:lstStyle/>
          <a:p>
            <a:endParaRPr lang="fr-CH"/>
          </a:p>
        </p:txBody>
      </p:sp>
      <p:sp>
        <p:nvSpPr>
          <p:cNvPr id="43" name="Text 41"/>
          <p:cNvSpPr/>
          <p:nvPr/>
        </p:nvSpPr>
        <p:spPr>
          <a:xfrm>
            <a:off x="498158" y="5837873"/>
            <a:ext cx="2971205"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Propriété Intellectuelle : Protection du Patrimoine TAG Heuer</a:t>
            </a:r>
            <a:endParaRPr lang="en-US" sz="750" dirty="0"/>
          </a:p>
        </p:txBody>
      </p:sp>
      <p:sp>
        <p:nvSpPr>
          <p:cNvPr id="44" name="Text 42"/>
          <p:cNvSpPr/>
          <p:nvPr/>
        </p:nvSpPr>
        <p:spPr>
          <a:xfrm>
            <a:off x="498158" y="6085642"/>
            <a:ext cx="13634085" cy="259080"/>
          </a:xfrm>
          <a:prstGeom prst="rect">
            <a:avLst/>
          </a:prstGeom>
          <a:noFill/>
          <a:ln/>
        </p:spPr>
        <p:txBody>
          <a:bodyPr wrap="square" lIns="0" tIns="0" rIns="0" bIns="0" rtlCol="0" anchor="t"/>
          <a:lstStyle/>
          <a:p>
            <a:pPr marL="0" indent="0" algn="l">
              <a:lnSpc>
                <a:spcPts val="1000"/>
              </a:lnSpc>
              <a:buNone/>
            </a:pPr>
            <a:r>
              <a:rPr lang="en-US" sz="600" dirty="0">
                <a:solidFill>
                  <a:srgbClr val="000000"/>
                </a:solidFill>
                <a:latin typeface="Inter" pitchFamily="34" charset="0"/>
                <a:ea typeface="Inter" pitchFamily="34" charset="-122"/>
                <a:cs typeface="Inter" pitchFamily="34" charset="-120"/>
              </a:rPr>
              <a:t>Le patrimoine immatériel TAG Heuer (designs historiques, archives techniques, savoir-faire artisanal codifié) constitue l'actif stratégique le plus précieux de la Maison. </a:t>
            </a:r>
            <a:r>
              <a:rPr lang="en-US" sz="600" b="1" dirty="0">
                <a:solidFill>
                  <a:srgbClr val="000000"/>
                </a:solidFill>
                <a:latin typeface="Inter" pitchFamily="34" charset="0"/>
                <a:ea typeface="Inter" pitchFamily="34" charset="-122"/>
                <a:cs typeface="Inter" pitchFamily="34" charset="-120"/>
              </a:rPr>
              <a:t>Politique stricte recommandée :</a:t>
            </a:r>
            <a:r>
              <a:rPr lang="en-US" sz="600" dirty="0">
                <a:solidFill>
                  <a:srgbClr val="000000"/>
                </a:solidFill>
                <a:latin typeface="Inter" pitchFamily="34" charset="0"/>
                <a:ea typeface="Inter" pitchFamily="34" charset="-122"/>
                <a:cs typeface="Inter" pitchFamily="34" charset="-120"/>
              </a:rPr>
              <a:t> Priorité absolue aux modèles privés ("private AI" sur infrastructure contrôlée) ou aux modèles open-source "fine-tunés" sur serveurs sécurisés TAG Heuer/LVMH (éviter toute fuite de propriété intellectuelle vers des plateformes publiques tierces type OpenAI).</a:t>
            </a:r>
            <a:endParaRPr lang="en-US" sz="600" dirty="0"/>
          </a:p>
        </p:txBody>
      </p:sp>
      <p:sp>
        <p:nvSpPr>
          <p:cNvPr id="45" name="Shape 43"/>
          <p:cNvSpPr/>
          <p:nvPr/>
        </p:nvSpPr>
        <p:spPr>
          <a:xfrm>
            <a:off x="498158" y="6435685"/>
            <a:ext cx="13634085" cy="753189"/>
          </a:xfrm>
          <a:prstGeom prst="roundRect">
            <a:avLst>
              <a:gd name="adj" fmla="val 4515"/>
            </a:avLst>
          </a:prstGeom>
          <a:solidFill>
            <a:srgbClr val="B3FFE2"/>
          </a:solidFill>
          <a:ln/>
        </p:spPr>
        <p:txBody>
          <a:bodyPr/>
          <a:lstStyle/>
          <a:p>
            <a:endParaRPr lang="fr-CH"/>
          </a:p>
        </p:txBody>
      </p:sp>
      <p:pic>
        <p:nvPicPr>
          <p:cNvPr id="46" name="Image 0" descr="preencoded.png"/>
          <p:cNvPicPr>
            <a:picLocks noChangeAspect="1"/>
          </p:cNvPicPr>
          <p:nvPr/>
        </p:nvPicPr>
        <p:blipFill>
          <a:blip r:embed="rId3"/>
          <a:stretch>
            <a:fillRect/>
          </a:stretch>
        </p:blipFill>
        <p:spPr>
          <a:xfrm>
            <a:off x="579001" y="6547247"/>
            <a:ext cx="126444" cy="101084"/>
          </a:xfrm>
          <a:prstGeom prst="rect">
            <a:avLst/>
          </a:prstGeom>
        </p:spPr>
      </p:pic>
      <p:sp>
        <p:nvSpPr>
          <p:cNvPr id="47" name="Text 44"/>
          <p:cNvSpPr/>
          <p:nvPr/>
        </p:nvSpPr>
        <p:spPr>
          <a:xfrm>
            <a:off x="786289" y="6536650"/>
            <a:ext cx="2315289"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VERDICT FINAL de l'Analyse Risques Complète</a:t>
            </a:r>
            <a:endParaRPr lang="en-US" sz="750" dirty="0"/>
          </a:p>
        </p:txBody>
      </p:sp>
      <p:sp>
        <p:nvSpPr>
          <p:cNvPr id="48" name="Text 45"/>
          <p:cNvSpPr/>
          <p:nvPr/>
        </p:nvSpPr>
        <p:spPr>
          <a:xfrm>
            <a:off x="786289" y="6743938"/>
            <a:ext cx="13265110" cy="129540"/>
          </a:xfrm>
          <a:prstGeom prst="rect">
            <a:avLst/>
          </a:prstGeom>
          <a:noFill/>
          <a:ln/>
        </p:spPr>
        <p:txBody>
          <a:bodyPr wrap="non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a:t>
            </a:r>
            <a:r>
              <a:rPr lang="en-US" sz="600" dirty="0">
                <a:solidFill>
                  <a:srgbClr val="000000"/>
                </a:solidFill>
                <a:latin typeface="Inter" pitchFamily="34" charset="0"/>
                <a:ea typeface="Inter" pitchFamily="34" charset="-122"/>
                <a:cs typeface="Inter" pitchFamily="34" charset="-120"/>
              </a:rPr>
              <a:t> NO-GO ABSOLU : Jumeau Numérique Culturel automatisé et client-facing (les risques légaux + éthiques + stratégiques cumulés sont absolument intenables).</a:t>
            </a:r>
            <a:endParaRPr lang="en-US" sz="600" dirty="0"/>
          </a:p>
        </p:txBody>
      </p:sp>
      <p:sp>
        <p:nvSpPr>
          <p:cNvPr id="49" name="Text 46"/>
          <p:cNvSpPr/>
          <p:nvPr/>
        </p:nvSpPr>
        <p:spPr>
          <a:xfrm>
            <a:off x="786289" y="6946225"/>
            <a:ext cx="13265110" cy="129540"/>
          </a:xfrm>
          <a:prstGeom prst="rect">
            <a:avLst/>
          </a:prstGeom>
          <a:noFill/>
          <a:ln/>
        </p:spPr>
        <p:txBody>
          <a:bodyPr wrap="non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a:t>
            </a:r>
            <a:r>
              <a:rPr lang="en-US" sz="600" dirty="0">
                <a:solidFill>
                  <a:srgbClr val="000000"/>
                </a:solidFill>
                <a:latin typeface="Inter" pitchFamily="34" charset="0"/>
                <a:ea typeface="Inter" pitchFamily="34" charset="-122"/>
                <a:cs typeface="Inter" pitchFamily="34" charset="-120"/>
              </a:rPr>
              <a:t> STRONG GO VALIDÉ : Simulateur interne Phase 1 + Personnalisation N=1 Phase 3 + Architecture fédérée conformité locale garantie.</a:t>
            </a:r>
            <a:endParaRPr lang="en-US" sz="600" dirty="0"/>
          </a:p>
        </p:txBody>
      </p:sp>
      <p:sp>
        <p:nvSpPr>
          <p:cNvPr id="50" name="Text 47"/>
          <p:cNvSpPr/>
          <p:nvPr/>
        </p:nvSpPr>
        <p:spPr>
          <a:xfrm>
            <a:off x="498158" y="7310199"/>
            <a:ext cx="3137059" cy="126444"/>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Création Recommandée : Comité de Gouvernance IA TAG Heuer</a:t>
            </a:r>
            <a:endParaRPr lang="en-US" sz="750" dirty="0"/>
          </a:p>
        </p:txBody>
      </p:sp>
      <p:sp>
        <p:nvSpPr>
          <p:cNvPr id="51" name="Text 48"/>
          <p:cNvSpPr/>
          <p:nvPr/>
        </p:nvSpPr>
        <p:spPr>
          <a:xfrm>
            <a:off x="498158" y="7557968"/>
            <a:ext cx="13634085" cy="129540"/>
          </a:xfrm>
          <a:prstGeom prst="rect">
            <a:avLst/>
          </a:prstGeom>
          <a:noFill/>
          <a:ln/>
        </p:spPr>
        <p:txBody>
          <a:bodyPr wrap="none" lIns="0" tIns="0" rIns="0" bIns="0" rtlCol="0" anchor="t"/>
          <a:lstStyle/>
          <a:p>
            <a:pPr marL="0" indent="0" algn="l">
              <a:lnSpc>
                <a:spcPts val="1000"/>
              </a:lnSpc>
              <a:buNone/>
            </a:pPr>
            <a:r>
              <a:rPr lang="en-US" sz="600" b="1" dirty="0">
                <a:solidFill>
                  <a:srgbClr val="000000"/>
                </a:solidFill>
                <a:latin typeface="Inter" pitchFamily="34" charset="0"/>
                <a:ea typeface="Inter" pitchFamily="34" charset="-122"/>
                <a:cs typeface="Inter" pitchFamily="34" charset="-120"/>
              </a:rPr>
              <a:t>Missions du Comité :</a:t>
            </a:r>
            <a:r>
              <a:rPr lang="en-US" sz="600" dirty="0">
                <a:solidFill>
                  <a:srgbClr val="000000"/>
                </a:solidFill>
                <a:latin typeface="Inter" pitchFamily="34" charset="0"/>
                <a:ea typeface="Inter" pitchFamily="34" charset="-122"/>
                <a:cs typeface="Inter" pitchFamily="34" charset="-120"/>
              </a:rPr>
              <a:t> Garantir la conformité GDPR/PIPL stricte à chaque phase, Auditer régulièrement les algorithmes pour détecter et corriger les biais émergents, Définir et faire respecter la politique de transparence client sur l'utilisation des données, Valider obligatoirement tous les projets IA avant tout déploiement externe.</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97669" y="373261"/>
            <a:ext cx="2393990" cy="201930"/>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Impact Business &amp; ROI Détaillé</a:t>
            </a:r>
            <a:endParaRPr lang="en-US" sz="1250" dirty="0"/>
          </a:p>
        </p:txBody>
      </p:sp>
      <p:sp>
        <p:nvSpPr>
          <p:cNvPr id="3" name="Text 1"/>
          <p:cNvSpPr/>
          <p:nvPr/>
        </p:nvSpPr>
        <p:spPr>
          <a:xfrm>
            <a:off x="397669" y="704374"/>
            <a:ext cx="13835062" cy="103346"/>
          </a:xfrm>
          <a:prstGeom prst="rect">
            <a:avLst/>
          </a:prstGeom>
          <a:noFill/>
          <a:ln/>
        </p:spPr>
        <p:txBody>
          <a:bodyPr wrap="none" lIns="0" tIns="0" rIns="0" bIns="0" rtlCol="0" anchor="t"/>
          <a:lstStyle/>
          <a:p>
            <a:pPr marL="0" indent="0" algn="l">
              <a:lnSpc>
                <a:spcPts val="800"/>
              </a:lnSpc>
              <a:buNone/>
            </a:pPr>
            <a:r>
              <a:rPr lang="en-US" sz="500" dirty="0">
                <a:solidFill>
                  <a:srgbClr val="000000"/>
                </a:solidFill>
                <a:latin typeface="Inter" pitchFamily="34" charset="0"/>
                <a:ea typeface="Inter" pitchFamily="34" charset="-122"/>
                <a:cs typeface="Inter" pitchFamily="34" charset="-120"/>
              </a:rPr>
              <a:t>L'analyse financière démontre un retour sur investissement significatif et mesurable à travers cinq dimensions : conversion, satisfaction client, efficacité opérationnelle, positionnement concurrentiel, et maîtrise des risques. Les projections s'appuient sur des benchmarks cross-industrie validés et des résultats documentés de déploiements similaires.</a:t>
            </a:r>
            <a:endParaRPr lang="en-US" sz="500" dirty="0"/>
          </a:p>
        </p:txBody>
      </p:sp>
      <p:sp>
        <p:nvSpPr>
          <p:cNvPr id="4" name="Text 2"/>
          <p:cNvSpPr/>
          <p:nvPr/>
        </p:nvSpPr>
        <p:spPr>
          <a:xfrm>
            <a:off x="397669" y="944880"/>
            <a:ext cx="930235"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Budget Total &amp; Timeline</a:t>
            </a:r>
            <a:endParaRPr lang="en-US" sz="600" dirty="0"/>
          </a:p>
        </p:txBody>
      </p:sp>
      <p:sp>
        <p:nvSpPr>
          <p:cNvPr id="5" name="Text 3"/>
          <p:cNvSpPr/>
          <p:nvPr/>
        </p:nvSpPr>
        <p:spPr>
          <a:xfrm>
            <a:off x="397669" y="1150739"/>
            <a:ext cx="4739759" cy="213241"/>
          </a:xfrm>
          <a:prstGeom prst="rect">
            <a:avLst/>
          </a:prstGeom>
          <a:noFill/>
          <a:ln/>
        </p:spPr>
        <p:txBody>
          <a:bodyPr wrap="none" lIns="0" tIns="0" rIns="0" bIns="0" rtlCol="0" anchor="t"/>
          <a:lstStyle/>
          <a:p>
            <a:pPr marL="0" indent="0" algn="ctr">
              <a:lnSpc>
                <a:spcPts val="1650"/>
              </a:lnSpc>
              <a:buNone/>
            </a:pPr>
            <a:r>
              <a:rPr lang="en-US" sz="1650" b="1" dirty="0">
                <a:solidFill>
                  <a:srgbClr val="000000"/>
                </a:solidFill>
                <a:latin typeface="Inter Bold" pitchFamily="34" charset="0"/>
                <a:ea typeface="Inter Bold" pitchFamily="34" charset="-122"/>
                <a:cs typeface="Inter Bold" pitchFamily="34" charset="-120"/>
              </a:rPr>
              <a:t>1.35M</a:t>
            </a:r>
            <a:endParaRPr lang="en-US" sz="1650" dirty="0"/>
          </a:p>
        </p:txBody>
      </p:sp>
      <p:sp>
        <p:nvSpPr>
          <p:cNvPr id="6" name="Text 4"/>
          <p:cNvSpPr/>
          <p:nvPr/>
        </p:nvSpPr>
        <p:spPr>
          <a:xfrm>
            <a:off x="2358390" y="1444704"/>
            <a:ext cx="818198" cy="100965"/>
          </a:xfrm>
          <a:prstGeom prst="rect">
            <a:avLst/>
          </a:prstGeom>
          <a:noFill/>
          <a:ln/>
        </p:spPr>
        <p:txBody>
          <a:bodyPr wrap="none" lIns="0" tIns="0" rIns="0" bIns="0" rtlCol="0" anchor="t"/>
          <a:lstStyle/>
          <a:p>
            <a:pPr marL="0" indent="0" algn="ctr">
              <a:lnSpc>
                <a:spcPts val="750"/>
              </a:lnSpc>
              <a:buNone/>
            </a:pPr>
            <a:r>
              <a:rPr lang="en-US" sz="600" b="1" dirty="0">
                <a:solidFill>
                  <a:srgbClr val="000000"/>
                </a:solidFill>
                <a:latin typeface="Inter Bold" pitchFamily="34" charset="0"/>
                <a:ea typeface="Inter Bold" pitchFamily="34" charset="-122"/>
                <a:cs typeface="Inter Bold" pitchFamily="34" charset="-120"/>
              </a:rPr>
              <a:t>Investissement Total</a:t>
            </a:r>
            <a:endParaRPr lang="en-US" sz="600" dirty="0"/>
          </a:p>
        </p:txBody>
      </p:sp>
      <p:sp>
        <p:nvSpPr>
          <p:cNvPr id="7" name="Text 5"/>
          <p:cNvSpPr/>
          <p:nvPr/>
        </p:nvSpPr>
        <p:spPr>
          <a:xfrm>
            <a:off x="397669" y="1610201"/>
            <a:ext cx="4739759" cy="103346"/>
          </a:xfrm>
          <a:prstGeom prst="rect">
            <a:avLst/>
          </a:prstGeom>
          <a:noFill/>
          <a:ln/>
        </p:spPr>
        <p:txBody>
          <a:bodyPr wrap="none" lIns="0" tIns="0" rIns="0" bIns="0" rtlCol="0" anchor="t"/>
          <a:lstStyle/>
          <a:p>
            <a:pPr marL="0" indent="0" algn="ctr">
              <a:lnSpc>
                <a:spcPts val="800"/>
              </a:lnSpc>
              <a:buNone/>
            </a:pPr>
            <a:r>
              <a:rPr lang="en-US" sz="500" dirty="0">
                <a:solidFill>
                  <a:srgbClr val="000000"/>
                </a:solidFill>
                <a:latin typeface="Inter" pitchFamily="34" charset="0"/>
                <a:ea typeface="Inter" pitchFamily="34" charset="-122"/>
                <a:cs typeface="Inter" pitchFamily="34" charset="-120"/>
              </a:rPr>
              <a:t>CHF sur 24 mois (4 phases)</a:t>
            </a:r>
            <a:endParaRPr lang="en-US" sz="500" dirty="0"/>
          </a:p>
        </p:txBody>
      </p:sp>
      <p:sp>
        <p:nvSpPr>
          <p:cNvPr id="8" name="Text 6"/>
          <p:cNvSpPr/>
          <p:nvPr/>
        </p:nvSpPr>
        <p:spPr>
          <a:xfrm>
            <a:off x="397669" y="1874996"/>
            <a:ext cx="4739759" cy="213241"/>
          </a:xfrm>
          <a:prstGeom prst="rect">
            <a:avLst/>
          </a:prstGeom>
          <a:noFill/>
          <a:ln/>
        </p:spPr>
        <p:txBody>
          <a:bodyPr wrap="none" lIns="0" tIns="0" rIns="0" bIns="0" rtlCol="0" anchor="t"/>
          <a:lstStyle/>
          <a:p>
            <a:pPr marL="0" indent="0" algn="ctr">
              <a:lnSpc>
                <a:spcPts val="1650"/>
              </a:lnSpc>
              <a:buNone/>
            </a:pPr>
            <a:r>
              <a:rPr lang="en-US" sz="1650" b="1" dirty="0">
                <a:solidFill>
                  <a:srgbClr val="000000"/>
                </a:solidFill>
                <a:latin typeface="Inter Bold" pitchFamily="34" charset="0"/>
                <a:ea typeface="Inter Bold" pitchFamily="34" charset="-122"/>
                <a:cs typeface="Inter Bold" pitchFamily="34" charset="-120"/>
              </a:rPr>
              <a:t>6</a:t>
            </a:r>
            <a:endParaRPr lang="en-US" sz="1650" dirty="0"/>
          </a:p>
        </p:txBody>
      </p:sp>
      <p:sp>
        <p:nvSpPr>
          <p:cNvPr id="9" name="Text 7"/>
          <p:cNvSpPr/>
          <p:nvPr/>
        </p:nvSpPr>
        <p:spPr>
          <a:xfrm>
            <a:off x="2363510" y="2168962"/>
            <a:ext cx="807958" cy="100965"/>
          </a:xfrm>
          <a:prstGeom prst="rect">
            <a:avLst/>
          </a:prstGeom>
          <a:noFill/>
          <a:ln/>
        </p:spPr>
        <p:txBody>
          <a:bodyPr wrap="none" lIns="0" tIns="0" rIns="0" bIns="0" rtlCol="0" anchor="t"/>
          <a:lstStyle/>
          <a:p>
            <a:pPr marL="0" indent="0" algn="ctr">
              <a:lnSpc>
                <a:spcPts val="750"/>
              </a:lnSpc>
              <a:buNone/>
            </a:pPr>
            <a:r>
              <a:rPr lang="en-US" sz="600" b="1" dirty="0">
                <a:solidFill>
                  <a:srgbClr val="000000"/>
                </a:solidFill>
                <a:latin typeface="Inter Bold" pitchFamily="34" charset="0"/>
                <a:ea typeface="Inter Bold" pitchFamily="34" charset="-122"/>
                <a:cs typeface="Inter Bold" pitchFamily="34" charset="-120"/>
              </a:rPr>
              <a:t>Break-Even</a:t>
            </a:r>
            <a:endParaRPr lang="en-US" sz="600" dirty="0"/>
          </a:p>
        </p:txBody>
      </p:sp>
      <p:sp>
        <p:nvSpPr>
          <p:cNvPr id="10" name="Text 8"/>
          <p:cNvSpPr/>
          <p:nvPr/>
        </p:nvSpPr>
        <p:spPr>
          <a:xfrm>
            <a:off x="397669" y="2334458"/>
            <a:ext cx="4739759" cy="103346"/>
          </a:xfrm>
          <a:prstGeom prst="rect">
            <a:avLst/>
          </a:prstGeom>
          <a:noFill/>
          <a:ln/>
        </p:spPr>
        <p:txBody>
          <a:bodyPr wrap="none" lIns="0" tIns="0" rIns="0" bIns="0" rtlCol="0" anchor="t"/>
          <a:lstStyle/>
          <a:p>
            <a:pPr marL="0" indent="0" algn="ctr">
              <a:lnSpc>
                <a:spcPts val="800"/>
              </a:lnSpc>
              <a:buNone/>
            </a:pPr>
            <a:r>
              <a:rPr lang="en-US" sz="500" dirty="0">
                <a:solidFill>
                  <a:srgbClr val="000000"/>
                </a:solidFill>
                <a:latin typeface="Inter" pitchFamily="34" charset="0"/>
                <a:ea typeface="Inter" pitchFamily="34" charset="-122"/>
                <a:cs typeface="Inter" pitchFamily="34" charset="-120"/>
              </a:rPr>
              <a:t>Mois après Phase 1 POC</a:t>
            </a:r>
            <a:endParaRPr lang="en-US" sz="500" dirty="0"/>
          </a:p>
        </p:txBody>
      </p:sp>
      <p:sp>
        <p:nvSpPr>
          <p:cNvPr id="11" name="Text 9"/>
          <p:cNvSpPr/>
          <p:nvPr/>
        </p:nvSpPr>
        <p:spPr>
          <a:xfrm>
            <a:off x="397669" y="2599253"/>
            <a:ext cx="4739759" cy="213241"/>
          </a:xfrm>
          <a:prstGeom prst="rect">
            <a:avLst/>
          </a:prstGeom>
          <a:noFill/>
          <a:ln/>
        </p:spPr>
        <p:txBody>
          <a:bodyPr wrap="none" lIns="0" tIns="0" rIns="0" bIns="0" rtlCol="0" anchor="t"/>
          <a:lstStyle/>
          <a:p>
            <a:pPr marL="0" indent="0" algn="ctr">
              <a:lnSpc>
                <a:spcPts val="1650"/>
              </a:lnSpc>
              <a:buNone/>
            </a:pPr>
            <a:r>
              <a:rPr lang="en-US" sz="1650" b="1" dirty="0">
                <a:solidFill>
                  <a:srgbClr val="000000"/>
                </a:solidFill>
                <a:latin typeface="Inter Bold" pitchFamily="34" charset="0"/>
                <a:ea typeface="Inter Bold" pitchFamily="34" charset="-122"/>
                <a:cs typeface="Inter Bold" pitchFamily="34" charset="-120"/>
              </a:rPr>
              <a:t>+20M</a:t>
            </a:r>
            <a:endParaRPr lang="en-US" sz="1650" dirty="0"/>
          </a:p>
        </p:txBody>
      </p:sp>
      <p:sp>
        <p:nvSpPr>
          <p:cNvPr id="12" name="Text 10"/>
          <p:cNvSpPr/>
          <p:nvPr/>
        </p:nvSpPr>
        <p:spPr>
          <a:xfrm>
            <a:off x="2363510" y="2893219"/>
            <a:ext cx="807958" cy="100965"/>
          </a:xfrm>
          <a:prstGeom prst="rect">
            <a:avLst/>
          </a:prstGeom>
          <a:noFill/>
          <a:ln/>
        </p:spPr>
        <p:txBody>
          <a:bodyPr wrap="none" lIns="0" tIns="0" rIns="0" bIns="0" rtlCol="0" anchor="t"/>
          <a:lstStyle/>
          <a:p>
            <a:pPr marL="0" indent="0" algn="ctr">
              <a:lnSpc>
                <a:spcPts val="750"/>
              </a:lnSpc>
              <a:buNone/>
            </a:pPr>
            <a:r>
              <a:rPr lang="en-US" sz="600" b="1" dirty="0">
                <a:solidFill>
                  <a:srgbClr val="000000"/>
                </a:solidFill>
                <a:latin typeface="Inter Bold" pitchFamily="34" charset="0"/>
                <a:ea typeface="Inter Bold" pitchFamily="34" charset="-122"/>
                <a:cs typeface="Inter Bold" pitchFamily="34" charset="-120"/>
              </a:rPr>
              <a:t>ROI Annuel Cumulé</a:t>
            </a:r>
            <a:endParaRPr lang="en-US" sz="600" dirty="0"/>
          </a:p>
        </p:txBody>
      </p:sp>
      <p:sp>
        <p:nvSpPr>
          <p:cNvPr id="13" name="Text 11"/>
          <p:cNvSpPr/>
          <p:nvPr/>
        </p:nvSpPr>
        <p:spPr>
          <a:xfrm>
            <a:off x="397669" y="3058716"/>
            <a:ext cx="4739759" cy="103346"/>
          </a:xfrm>
          <a:prstGeom prst="rect">
            <a:avLst/>
          </a:prstGeom>
          <a:noFill/>
          <a:ln/>
        </p:spPr>
        <p:txBody>
          <a:bodyPr wrap="none" lIns="0" tIns="0" rIns="0" bIns="0" rtlCol="0" anchor="t"/>
          <a:lstStyle/>
          <a:p>
            <a:pPr marL="0" indent="0" algn="ctr">
              <a:lnSpc>
                <a:spcPts val="800"/>
              </a:lnSpc>
              <a:buNone/>
            </a:pPr>
            <a:r>
              <a:rPr lang="en-US" sz="500" dirty="0">
                <a:solidFill>
                  <a:srgbClr val="000000"/>
                </a:solidFill>
                <a:latin typeface="Inter" pitchFamily="34" charset="0"/>
                <a:ea typeface="Inter" pitchFamily="34" charset="-122"/>
                <a:cs typeface="Inter" pitchFamily="34" charset="-120"/>
              </a:rPr>
              <a:t>CHF/an post-Phase 4</a:t>
            </a:r>
            <a:endParaRPr lang="en-US" sz="500" dirty="0"/>
          </a:p>
        </p:txBody>
      </p:sp>
      <p:sp>
        <p:nvSpPr>
          <p:cNvPr id="14" name="Text 12"/>
          <p:cNvSpPr/>
          <p:nvPr/>
        </p:nvSpPr>
        <p:spPr>
          <a:xfrm>
            <a:off x="397669" y="3234690"/>
            <a:ext cx="4739759" cy="103346"/>
          </a:xfrm>
          <a:prstGeom prst="rect">
            <a:avLst/>
          </a:prstGeom>
          <a:noFill/>
          <a:ln/>
        </p:spPr>
        <p:txBody>
          <a:bodyPr wrap="none" lIns="0" tIns="0" rIns="0" bIns="0" rtlCol="0" anchor="t"/>
          <a:lstStyle/>
          <a:p>
            <a:pPr marL="0" indent="0" algn="l">
              <a:lnSpc>
                <a:spcPts val="800"/>
              </a:lnSpc>
              <a:buNone/>
            </a:pPr>
            <a:r>
              <a:rPr lang="en-US" sz="500" b="1" dirty="0">
                <a:solidFill>
                  <a:srgbClr val="000000"/>
                </a:solidFill>
                <a:latin typeface="Inter" pitchFamily="34" charset="0"/>
                <a:ea typeface="Inter" pitchFamily="34" charset="-122"/>
                <a:cs typeface="Inter" pitchFamily="34" charset="-120"/>
              </a:rPr>
              <a:t>Répartition budgétaire :</a:t>
            </a:r>
            <a:endParaRPr lang="en-US" sz="500" dirty="0"/>
          </a:p>
        </p:txBody>
      </p:sp>
      <p:sp>
        <p:nvSpPr>
          <p:cNvPr id="15" name="Text 13"/>
          <p:cNvSpPr/>
          <p:nvPr/>
        </p:nvSpPr>
        <p:spPr>
          <a:xfrm>
            <a:off x="397669" y="3396139"/>
            <a:ext cx="4739759" cy="103346"/>
          </a:xfrm>
          <a:prstGeom prst="rect">
            <a:avLst/>
          </a:prstGeom>
          <a:noFill/>
          <a:ln/>
        </p:spPr>
        <p:txBody>
          <a:bodyPr wrap="none" lIns="0" tIns="0" rIns="0" bIns="0" rtlCol="0" anchor="t"/>
          <a:lstStyle/>
          <a:p>
            <a:pPr marL="342900" indent="-342900" algn="l">
              <a:lnSpc>
                <a:spcPts val="800"/>
              </a:lnSpc>
              <a:buSzPct val="100000"/>
              <a:buChar char="•"/>
            </a:pPr>
            <a:r>
              <a:rPr lang="en-US" sz="500" dirty="0">
                <a:solidFill>
                  <a:srgbClr val="000000"/>
                </a:solidFill>
                <a:latin typeface="Inter" pitchFamily="34" charset="0"/>
                <a:ea typeface="Inter" pitchFamily="34" charset="-122"/>
                <a:cs typeface="Inter" pitchFamily="34" charset="-120"/>
              </a:rPr>
              <a:t>Phase 1 Codifier : 150K CHF</a:t>
            </a:r>
            <a:endParaRPr lang="en-US" sz="500" dirty="0"/>
          </a:p>
        </p:txBody>
      </p:sp>
      <p:sp>
        <p:nvSpPr>
          <p:cNvPr id="16" name="Text 14"/>
          <p:cNvSpPr/>
          <p:nvPr/>
        </p:nvSpPr>
        <p:spPr>
          <a:xfrm>
            <a:off x="397669" y="3522107"/>
            <a:ext cx="4739759" cy="103346"/>
          </a:xfrm>
          <a:prstGeom prst="rect">
            <a:avLst/>
          </a:prstGeom>
          <a:noFill/>
          <a:ln/>
        </p:spPr>
        <p:txBody>
          <a:bodyPr wrap="none" lIns="0" tIns="0" rIns="0" bIns="0" rtlCol="0" anchor="t"/>
          <a:lstStyle/>
          <a:p>
            <a:pPr marL="342900" indent="-342900" algn="l">
              <a:lnSpc>
                <a:spcPts val="800"/>
              </a:lnSpc>
              <a:buSzPct val="100000"/>
              <a:buChar char="•"/>
            </a:pPr>
            <a:r>
              <a:rPr lang="en-US" sz="500" dirty="0">
                <a:solidFill>
                  <a:srgbClr val="000000"/>
                </a:solidFill>
                <a:latin typeface="Inter" pitchFamily="34" charset="0"/>
                <a:ea typeface="Inter" pitchFamily="34" charset="-122"/>
                <a:cs typeface="Inter" pitchFamily="34" charset="-120"/>
              </a:rPr>
              <a:t>Phase 2 Unifier : 400K CHF</a:t>
            </a:r>
            <a:endParaRPr lang="en-US" sz="500" dirty="0"/>
          </a:p>
        </p:txBody>
      </p:sp>
      <p:sp>
        <p:nvSpPr>
          <p:cNvPr id="17" name="Text 15"/>
          <p:cNvSpPr/>
          <p:nvPr/>
        </p:nvSpPr>
        <p:spPr>
          <a:xfrm>
            <a:off x="397669" y="3648075"/>
            <a:ext cx="4739759" cy="103346"/>
          </a:xfrm>
          <a:prstGeom prst="rect">
            <a:avLst/>
          </a:prstGeom>
          <a:noFill/>
          <a:ln/>
        </p:spPr>
        <p:txBody>
          <a:bodyPr wrap="none" lIns="0" tIns="0" rIns="0" bIns="0" rtlCol="0" anchor="t"/>
          <a:lstStyle/>
          <a:p>
            <a:pPr marL="342900" indent="-342900" algn="l">
              <a:lnSpc>
                <a:spcPts val="800"/>
              </a:lnSpc>
              <a:buSzPct val="100000"/>
              <a:buChar char="•"/>
            </a:pPr>
            <a:r>
              <a:rPr lang="en-US" sz="500" dirty="0">
                <a:solidFill>
                  <a:srgbClr val="000000"/>
                </a:solidFill>
                <a:latin typeface="Inter" pitchFamily="34" charset="0"/>
                <a:ea typeface="Inter" pitchFamily="34" charset="-122"/>
                <a:cs typeface="Inter" pitchFamily="34" charset="-120"/>
              </a:rPr>
              <a:t>Phase 3 Personnaliser : 400K CHF</a:t>
            </a:r>
            <a:endParaRPr lang="en-US" sz="500" dirty="0"/>
          </a:p>
        </p:txBody>
      </p:sp>
      <p:sp>
        <p:nvSpPr>
          <p:cNvPr id="18" name="Text 16"/>
          <p:cNvSpPr/>
          <p:nvPr/>
        </p:nvSpPr>
        <p:spPr>
          <a:xfrm>
            <a:off x="397669" y="3774043"/>
            <a:ext cx="4739759" cy="103346"/>
          </a:xfrm>
          <a:prstGeom prst="rect">
            <a:avLst/>
          </a:prstGeom>
          <a:noFill/>
          <a:ln/>
        </p:spPr>
        <p:txBody>
          <a:bodyPr wrap="none" lIns="0" tIns="0" rIns="0" bIns="0" rtlCol="0" anchor="t"/>
          <a:lstStyle/>
          <a:p>
            <a:pPr marL="342900" indent="-342900" algn="l">
              <a:lnSpc>
                <a:spcPts val="800"/>
              </a:lnSpc>
              <a:buSzPct val="100000"/>
              <a:buChar char="•"/>
            </a:pPr>
            <a:r>
              <a:rPr lang="en-US" sz="500" dirty="0">
                <a:solidFill>
                  <a:srgbClr val="000000"/>
                </a:solidFill>
                <a:latin typeface="Inter" pitchFamily="34" charset="0"/>
                <a:ea typeface="Inter" pitchFamily="34" charset="-122"/>
                <a:cs typeface="Inter" pitchFamily="34" charset="-120"/>
              </a:rPr>
              <a:t>Phase 4 Expérimenter : 400K CHF</a:t>
            </a:r>
            <a:endParaRPr lang="en-US" sz="500" dirty="0"/>
          </a:p>
        </p:txBody>
      </p:sp>
      <p:sp>
        <p:nvSpPr>
          <p:cNvPr id="19" name="Text 17"/>
          <p:cNvSpPr/>
          <p:nvPr/>
        </p:nvSpPr>
        <p:spPr>
          <a:xfrm>
            <a:off x="5302687" y="944880"/>
            <a:ext cx="1475780"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Impact Conversion &amp; Revenus Directs</a:t>
            </a:r>
            <a:endParaRPr lang="en-US" sz="600" dirty="0"/>
          </a:p>
        </p:txBody>
      </p:sp>
      <p:sp>
        <p:nvSpPr>
          <p:cNvPr id="20" name="Text 18"/>
          <p:cNvSpPr/>
          <p:nvPr/>
        </p:nvSpPr>
        <p:spPr>
          <a:xfrm>
            <a:off x="5302687" y="1110377"/>
            <a:ext cx="8937546" cy="103346"/>
          </a:xfrm>
          <a:prstGeom prst="rect">
            <a:avLst/>
          </a:prstGeom>
          <a:noFill/>
          <a:ln/>
        </p:spPr>
        <p:txBody>
          <a:bodyPr wrap="none" lIns="0" tIns="0" rIns="0" bIns="0" rtlCol="0" anchor="t"/>
          <a:lstStyle/>
          <a:p>
            <a:pPr marL="0" indent="0" algn="l">
              <a:lnSpc>
                <a:spcPts val="800"/>
              </a:lnSpc>
              <a:buNone/>
            </a:pPr>
            <a:r>
              <a:rPr lang="en-US" sz="500" b="1" dirty="0">
                <a:solidFill>
                  <a:srgbClr val="000000"/>
                </a:solidFill>
                <a:latin typeface="Inter" pitchFamily="34" charset="0"/>
                <a:ea typeface="Inter" pitchFamily="34" charset="-122"/>
                <a:cs typeface="Inter" pitchFamily="34" charset="-120"/>
              </a:rPr>
              <a:t>Conversion online :</a:t>
            </a:r>
            <a:r>
              <a:rPr lang="en-US" sz="500" dirty="0">
                <a:solidFill>
                  <a:srgbClr val="000000"/>
                </a:solidFill>
                <a:latin typeface="Inter" pitchFamily="34" charset="0"/>
                <a:ea typeface="Inter" pitchFamily="34" charset="-122"/>
                <a:cs typeface="Inter" pitchFamily="34" charset="-120"/>
              </a:rPr>
              <a:t> Amélioration attendue de </a:t>
            </a:r>
            <a:r>
              <a:rPr lang="en-US" sz="500" dirty="0">
                <a:solidFill>
                  <a:srgbClr val="FFFFFF"/>
                </a:solidFill>
                <a:highlight>
                  <a:srgbClr val="008150"/>
                </a:highlight>
                <a:latin typeface="Inter" pitchFamily="34" charset="0"/>
                <a:ea typeface="Inter" pitchFamily="34" charset="-122"/>
                <a:cs typeface="Inter" pitchFamily="34" charset="-120"/>
              </a:rPr>
              <a:t>+15% à +25%</a:t>
            </a:r>
            <a:r>
              <a:rPr lang="en-US" sz="500" dirty="0">
                <a:solidFill>
                  <a:srgbClr val="000000"/>
                </a:solidFill>
                <a:latin typeface="Inter" pitchFamily="34" charset="0"/>
                <a:ea typeface="Inter" pitchFamily="34" charset="-122"/>
                <a:cs typeface="Inter" pitchFamily="34" charset="-120"/>
              </a:rPr>
              <a:t> via le routage qualifié des 69% de trafic online vers le canal Care Agent à 10% de conversion (versus stagnation actuelle à 0.7%).</a:t>
            </a:r>
            <a:endParaRPr lang="en-US" sz="500" dirty="0"/>
          </a:p>
        </p:txBody>
      </p:sp>
      <p:sp>
        <p:nvSpPr>
          <p:cNvPr id="21" name="Text 19"/>
          <p:cNvSpPr/>
          <p:nvPr/>
        </p:nvSpPr>
        <p:spPr>
          <a:xfrm>
            <a:off x="5302687" y="1271826"/>
            <a:ext cx="8937546" cy="103346"/>
          </a:xfrm>
          <a:prstGeom prst="rect">
            <a:avLst/>
          </a:prstGeom>
          <a:noFill/>
          <a:ln/>
        </p:spPr>
        <p:txBody>
          <a:bodyPr wrap="none" lIns="0" tIns="0" rIns="0" bIns="0" rtlCol="0" anchor="t"/>
          <a:lstStyle/>
          <a:p>
            <a:pPr marL="0" indent="0" algn="l">
              <a:lnSpc>
                <a:spcPts val="800"/>
              </a:lnSpc>
              <a:buNone/>
            </a:pPr>
            <a:r>
              <a:rPr lang="en-US" sz="500" b="1" dirty="0">
                <a:solidFill>
                  <a:srgbClr val="000000"/>
                </a:solidFill>
                <a:latin typeface="Inter" pitchFamily="34" charset="0"/>
                <a:ea typeface="Inter" pitchFamily="34" charset="-122"/>
                <a:cs typeface="Inter" pitchFamily="34" charset="-120"/>
              </a:rPr>
              <a:t>Drive-to-store :</a:t>
            </a:r>
            <a:r>
              <a:rPr lang="en-US" sz="500" dirty="0">
                <a:solidFill>
                  <a:srgbClr val="000000"/>
                </a:solidFill>
                <a:latin typeface="Inter" pitchFamily="34" charset="0"/>
                <a:ea typeface="Inter" pitchFamily="34" charset="-122"/>
                <a:cs typeface="Inter" pitchFamily="34" charset="-120"/>
              </a:rPr>
              <a:t> Augmentation de </a:t>
            </a:r>
            <a:r>
              <a:rPr lang="en-US" sz="500" b="1" dirty="0">
                <a:solidFill>
                  <a:srgbClr val="000000"/>
                </a:solidFill>
                <a:latin typeface="Inter" pitchFamily="34" charset="0"/>
                <a:ea typeface="Inter" pitchFamily="34" charset="-122"/>
                <a:cs typeface="Inter" pitchFamily="34" charset="-120"/>
              </a:rPr>
              <a:t>+20% des visites physiques qualifiées</a:t>
            </a:r>
            <a:r>
              <a:rPr lang="en-US" sz="500" dirty="0">
                <a:solidFill>
                  <a:srgbClr val="000000"/>
                </a:solidFill>
                <a:latin typeface="Inter" pitchFamily="34" charset="0"/>
                <a:ea typeface="Inter" pitchFamily="34" charset="-122"/>
                <a:cs typeface="Inter" pitchFamily="34" charset="-120"/>
              </a:rPr>
              <a:t> (l'IA détecte la haute intention d'achat en temps réel et déclenche une invitation personnalisée en boutique au moment optimal).</a:t>
            </a:r>
            <a:endParaRPr lang="en-US" sz="500" dirty="0"/>
          </a:p>
        </p:txBody>
      </p:sp>
      <p:sp>
        <p:nvSpPr>
          <p:cNvPr id="22" name="Text 20"/>
          <p:cNvSpPr/>
          <p:nvPr/>
        </p:nvSpPr>
        <p:spPr>
          <a:xfrm>
            <a:off x="5302687" y="1433274"/>
            <a:ext cx="8937546" cy="103346"/>
          </a:xfrm>
          <a:prstGeom prst="rect">
            <a:avLst/>
          </a:prstGeom>
          <a:noFill/>
          <a:ln/>
        </p:spPr>
        <p:txBody>
          <a:bodyPr wrap="none" lIns="0" tIns="0" rIns="0" bIns="0" rtlCol="0" anchor="t"/>
          <a:lstStyle/>
          <a:p>
            <a:pPr marL="0" indent="0" algn="l">
              <a:lnSpc>
                <a:spcPts val="800"/>
              </a:lnSpc>
              <a:buNone/>
            </a:pPr>
            <a:r>
              <a:rPr lang="en-US" sz="500" b="1" dirty="0">
                <a:solidFill>
                  <a:srgbClr val="000000"/>
                </a:solidFill>
                <a:latin typeface="Inter" pitchFamily="34" charset="0"/>
                <a:ea typeface="Inter" pitchFamily="34" charset="-122"/>
                <a:cs typeface="Inter" pitchFamily="34" charset="-120"/>
              </a:rPr>
              <a:t>Panier moyen :</a:t>
            </a:r>
            <a:r>
              <a:rPr lang="en-US" sz="500" dirty="0">
                <a:solidFill>
                  <a:srgbClr val="000000"/>
                </a:solidFill>
                <a:latin typeface="Inter" pitchFamily="34" charset="0"/>
                <a:ea typeface="Inter" pitchFamily="34" charset="-122"/>
                <a:cs typeface="Inter" pitchFamily="34" charset="-120"/>
              </a:rPr>
              <a:t> Augmentation via personnalisation N=1 précise (suggestions de produits complémentaires parfaitement alignées sur le profil réel et les préférences documentées).</a:t>
            </a:r>
            <a:endParaRPr lang="en-US" sz="500" dirty="0"/>
          </a:p>
        </p:txBody>
      </p:sp>
      <p:sp>
        <p:nvSpPr>
          <p:cNvPr id="23" name="Text 21"/>
          <p:cNvSpPr/>
          <p:nvPr/>
        </p:nvSpPr>
        <p:spPr>
          <a:xfrm>
            <a:off x="5302687" y="1594723"/>
            <a:ext cx="8937546" cy="206693"/>
          </a:xfrm>
          <a:prstGeom prst="rect">
            <a:avLst/>
          </a:prstGeom>
          <a:noFill/>
          <a:ln/>
        </p:spPr>
        <p:txBody>
          <a:bodyPr wrap="square" lIns="0" tIns="0" rIns="0" bIns="0" rtlCol="0" anchor="t"/>
          <a:lstStyle/>
          <a:p>
            <a:pPr marL="0" indent="0" algn="l">
              <a:lnSpc>
                <a:spcPts val="800"/>
              </a:lnSpc>
              <a:buNone/>
            </a:pPr>
            <a:r>
              <a:rPr lang="en-US" sz="500" b="1" dirty="0">
                <a:solidFill>
                  <a:srgbClr val="000000"/>
                </a:solidFill>
                <a:latin typeface="Inter" pitchFamily="34" charset="0"/>
                <a:ea typeface="Inter" pitchFamily="34" charset="-122"/>
                <a:cs typeface="Inter" pitchFamily="34" charset="-120"/>
              </a:rPr>
              <a:t>Exemple de référence Cartier :</a:t>
            </a:r>
            <a:r>
              <a:rPr lang="en-US" sz="500" dirty="0">
                <a:solidFill>
                  <a:srgbClr val="000000"/>
                </a:solidFill>
                <a:latin typeface="Inter" pitchFamily="34" charset="0"/>
                <a:ea typeface="Inter" pitchFamily="34" charset="-122"/>
                <a:cs typeface="Inter" pitchFamily="34" charset="-120"/>
              </a:rPr>
              <a:t> Leur moteur de recommandation IA a généré +35% d'engagement online mesurable et +40% d'achats répétés documentés. </a:t>
            </a:r>
            <a:r>
              <a:rPr lang="en-US" sz="500" b="1" dirty="0">
                <a:solidFill>
                  <a:srgbClr val="008150"/>
                </a:solidFill>
                <a:latin typeface="Inter" pitchFamily="34" charset="0"/>
                <a:ea typeface="Inter" pitchFamily="34" charset="-122"/>
                <a:cs typeface="Inter" pitchFamily="34" charset="-120"/>
              </a:rPr>
              <a:t>Projection TAG Heuer :</a:t>
            </a:r>
            <a:r>
              <a:rPr lang="en-US" sz="500" dirty="0">
                <a:solidFill>
                  <a:srgbClr val="000000"/>
                </a:solidFill>
                <a:latin typeface="Inter" pitchFamily="34" charset="0"/>
                <a:ea typeface="Inter" pitchFamily="34" charset="-122"/>
                <a:cs typeface="Inter" pitchFamily="34" charset="-120"/>
              </a:rPr>
              <a:t> Impact similaire voire légèrement supérieur car l'intelligence culturelle crée une différenciation additionnelle versus l'approche purement comportementale de Cartier.</a:t>
            </a:r>
            <a:endParaRPr lang="en-US" sz="500" dirty="0"/>
          </a:p>
        </p:txBody>
      </p:sp>
      <p:sp>
        <p:nvSpPr>
          <p:cNvPr id="24" name="Shape 22"/>
          <p:cNvSpPr/>
          <p:nvPr/>
        </p:nvSpPr>
        <p:spPr>
          <a:xfrm>
            <a:off x="397669" y="4004873"/>
            <a:ext cx="13835062" cy="15597"/>
          </a:xfrm>
          <a:prstGeom prst="rect">
            <a:avLst/>
          </a:prstGeom>
          <a:solidFill>
            <a:srgbClr val="000000">
              <a:alpha val="50000"/>
            </a:srgbClr>
          </a:solidFill>
          <a:ln/>
        </p:spPr>
        <p:txBody>
          <a:bodyPr/>
          <a:lstStyle/>
          <a:p>
            <a:endParaRPr lang="fr-CH"/>
          </a:p>
        </p:txBody>
      </p:sp>
      <p:sp>
        <p:nvSpPr>
          <p:cNvPr id="25" name="Text 23"/>
          <p:cNvSpPr/>
          <p:nvPr/>
        </p:nvSpPr>
        <p:spPr>
          <a:xfrm>
            <a:off x="397669" y="4157543"/>
            <a:ext cx="1451491"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Impact Satisfaction Client Mesurable</a:t>
            </a:r>
            <a:endParaRPr lang="en-US" sz="600" dirty="0"/>
          </a:p>
        </p:txBody>
      </p:sp>
      <p:sp>
        <p:nvSpPr>
          <p:cNvPr id="26" name="Shape 24"/>
          <p:cNvSpPr/>
          <p:nvPr/>
        </p:nvSpPr>
        <p:spPr>
          <a:xfrm>
            <a:off x="397669" y="4363403"/>
            <a:ext cx="6683693" cy="80724"/>
          </a:xfrm>
          <a:prstGeom prst="roundRect">
            <a:avLst>
              <a:gd name="adj" fmla="val 33631"/>
            </a:avLst>
          </a:prstGeom>
          <a:solidFill>
            <a:srgbClr val="F5F5F5"/>
          </a:solidFill>
          <a:ln w="7620">
            <a:solidFill>
              <a:srgbClr val="199A69"/>
            </a:solidFill>
            <a:prstDash val="solid"/>
          </a:ln>
        </p:spPr>
        <p:txBody>
          <a:bodyPr/>
          <a:lstStyle/>
          <a:p>
            <a:endParaRPr lang="fr-CH"/>
          </a:p>
        </p:txBody>
      </p:sp>
      <p:sp>
        <p:nvSpPr>
          <p:cNvPr id="27" name="Shape 25"/>
          <p:cNvSpPr/>
          <p:nvPr/>
        </p:nvSpPr>
        <p:spPr>
          <a:xfrm>
            <a:off x="397669" y="4363403"/>
            <a:ext cx="2005013" cy="80724"/>
          </a:xfrm>
          <a:prstGeom prst="roundRect">
            <a:avLst>
              <a:gd name="adj" fmla="val 33631"/>
            </a:avLst>
          </a:prstGeom>
          <a:solidFill>
            <a:srgbClr val="008150"/>
          </a:solidFill>
          <a:ln/>
        </p:spPr>
        <p:txBody>
          <a:bodyPr/>
          <a:lstStyle/>
          <a:p>
            <a:endParaRPr lang="fr-CH"/>
          </a:p>
        </p:txBody>
      </p:sp>
      <p:sp>
        <p:nvSpPr>
          <p:cNvPr id="28" name="Text 26"/>
          <p:cNvSpPr/>
          <p:nvPr/>
        </p:nvSpPr>
        <p:spPr>
          <a:xfrm>
            <a:off x="7129820" y="4363403"/>
            <a:ext cx="106561" cy="80724"/>
          </a:xfrm>
          <a:prstGeom prst="rect">
            <a:avLst/>
          </a:prstGeom>
          <a:noFill/>
          <a:ln/>
        </p:spPr>
        <p:txBody>
          <a:bodyPr wrap="none" lIns="0" tIns="0" rIns="0" bIns="0" rtlCol="0" anchor="t"/>
          <a:lstStyle/>
          <a:p>
            <a:pPr marL="0" indent="0" algn="l">
              <a:lnSpc>
                <a:spcPts val="600"/>
              </a:lnSpc>
              <a:buNone/>
            </a:pPr>
            <a:r>
              <a:rPr lang="en-US" sz="600" b="1" dirty="0">
                <a:solidFill>
                  <a:srgbClr val="000000"/>
                </a:solidFill>
                <a:latin typeface="Inter Bold" pitchFamily="34" charset="0"/>
                <a:ea typeface="Inter Bold" pitchFamily="34" charset="-122"/>
                <a:cs typeface="Inter Bold" pitchFamily="34" charset="-120"/>
              </a:rPr>
              <a:t>30</a:t>
            </a:r>
            <a:endParaRPr lang="en-US" sz="600" dirty="0"/>
          </a:p>
        </p:txBody>
      </p:sp>
      <p:sp>
        <p:nvSpPr>
          <p:cNvPr id="29" name="Text 27"/>
          <p:cNvSpPr/>
          <p:nvPr/>
        </p:nvSpPr>
        <p:spPr>
          <a:xfrm>
            <a:off x="397669" y="4524851"/>
            <a:ext cx="807958"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Net Promoter Score</a:t>
            </a:r>
            <a:endParaRPr lang="en-US" sz="600" dirty="0"/>
          </a:p>
        </p:txBody>
      </p:sp>
      <p:sp>
        <p:nvSpPr>
          <p:cNvPr id="30" name="Text 28"/>
          <p:cNvSpPr/>
          <p:nvPr/>
        </p:nvSpPr>
        <p:spPr>
          <a:xfrm>
            <a:off x="397669" y="4690348"/>
            <a:ext cx="6838712" cy="103346"/>
          </a:xfrm>
          <a:prstGeom prst="rect">
            <a:avLst/>
          </a:prstGeom>
          <a:noFill/>
          <a:ln/>
        </p:spPr>
        <p:txBody>
          <a:bodyPr wrap="none" lIns="0" tIns="0" rIns="0" bIns="0" rtlCol="0" anchor="t"/>
          <a:lstStyle/>
          <a:p>
            <a:pPr marL="0" indent="0" algn="l">
              <a:lnSpc>
                <a:spcPts val="800"/>
              </a:lnSpc>
              <a:buNone/>
            </a:pPr>
            <a:r>
              <a:rPr lang="en-US" sz="500" dirty="0">
                <a:solidFill>
                  <a:srgbClr val="000000"/>
                </a:solidFill>
                <a:latin typeface="Inter" pitchFamily="34" charset="0"/>
                <a:ea typeface="Inter" pitchFamily="34" charset="-122"/>
                <a:cs typeface="Inter" pitchFamily="34" charset="-120"/>
              </a:rPr>
              <a:t>Points d'amélioration attendus</a:t>
            </a:r>
            <a:endParaRPr lang="en-US" sz="500" dirty="0"/>
          </a:p>
        </p:txBody>
      </p:sp>
      <p:sp>
        <p:nvSpPr>
          <p:cNvPr id="31" name="Shape 29"/>
          <p:cNvSpPr/>
          <p:nvPr/>
        </p:nvSpPr>
        <p:spPr>
          <a:xfrm>
            <a:off x="397669" y="4955143"/>
            <a:ext cx="6620828" cy="80724"/>
          </a:xfrm>
          <a:prstGeom prst="roundRect">
            <a:avLst>
              <a:gd name="adj" fmla="val 33631"/>
            </a:avLst>
          </a:prstGeom>
          <a:solidFill>
            <a:srgbClr val="F5F5F5"/>
          </a:solidFill>
          <a:ln w="7620">
            <a:solidFill>
              <a:srgbClr val="FC1936"/>
            </a:solidFill>
            <a:prstDash val="solid"/>
          </a:ln>
        </p:spPr>
        <p:txBody>
          <a:bodyPr/>
          <a:lstStyle/>
          <a:p>
            <a:endParaRPr lang="fr-CH"/>
          </a:p>
        </p:txBody>
      </p:sp>
      <p:sp>
        <p:nvSpPr>
          <p:cNvPr id="32" name="Shape 30"/>
          <p:cNvSpPr/>
          <p:nvPr/>
        </p:nvSpPr>
        <p:spPr>
          <a:xfrm>
            <a:off x="397669" y="4955143"/>
            <a:ext cx="1191697" cy="80724"/>
          </a:xfrm>
          <a:prstGeom prst="roundRect">
            <a:avLst>
              <a:gd name="adj" fmla="val 33631"/>
            </a:avLst>
          </a:prstGeom>
          <a:solidFill>
            <a:srgbClr val="E3001D"/>
          </a:solidFill>
          <a:ln/>
        </p:spPr>
        <p:txBody>
          <a:bodyPr/>
          <a:lstStyle/>
          <a:p>
            <a:endParaRPr lang="fr-CH"/>
          </a:p>
        </p:txBody>
      </p:sp>
      <p:sp>
        <p:nvSpPr>
          <p:cNvPr id="33" name="Text 31"/>
          <p:cNvSpPr/>
          <p:nvPr/>
        </p:nvSpPr>
        <p:spPr>
          <a:xfrm>
            <a:off x="7066955" y="4955143"/>
            <a:ext cx="169426" cy="80724"/>
          </a:xfrm>
          <a:prstGeom prst="rect">
            <a:avLst/>
          </a:prstGeom>
          <a:noFill/>
          <a:ln/>
        </p:spPr>
        <p:txBody>
          <a:bodyPr wrap="none" lIns="0" tIns="0" rIns="0" bIns="0" rtlCol="0" anchor="t"/>
          <a:lstStyle/>
          <a:p>
            <a:pPr marL="0" indent="0" algn="l">
              <a:lnSpc>
                <a:spcPts val="600"/>
              </a:lnSpc>
              <a:buNone/>
            </a:pPr>
            <a:r>
              <a:rPr lang="en-US" sz="600" b="1" dirty="0">
                <a:solidFill>
                  <a:srgbClr val="000000"/>
                </a:solidFill>
                <a:latin typeface="Inter Bold" pitchFamily="34" charset="0"/>
                <a:ea typeface="Inter Bold" pitchFamily="34" charset="-122"/>
                <a:cs typeface="Inter Bold" pitchFamily="34" charset="-120"/>
              </a:rPr>
              <a:t>18%</a:t>
            </a:r>
            <a:endParaRPr lang="en-US" sz="600" dirty="0"/>
          </a:p>
        </p:txBody>
      </p:sp>
      <p:sp>
        <p:nvSpPr>
          <p:cNvPr id="34" name="Text 32"/>
          <p:cNvSpPr/>
          <p:nvPr/>
        </p:nvSpPr>
        <p:spPr>
          <a:xfrm>
            <a:off x="397669" y="5116592"/>
            <a:ext cx="807958"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Taux de Rétention</a:t>
            </a:r>
            <a:endParaRPr lang="en-US" sz="600" dirty="0"/>
          </a:p>
        </p:txBody>
      </p:sp>
      <p:sp>
        <p:nvSpPr>
          <p:cNvPr id="35" name="Text 33"/>
          <p:cNvSpPr/>
          <p:nvPr/>
        </p:nvSpPr>
        <p:spPr>
          <a:xfrm>
            <a:off x="397669" y="5282089"/>
            <a:ext cx="6838712" cy="103346"/>
          </a:xfrm>
          <a:prstGeom prst="rect">
            <a:avLst/>
          </a:prstGeom>
          <a:noFill/>
          <a:ln/>
        </p:spPr>
        <p:txBody>
          <a:bodyPr wrap="none" lIns="0" tIns="0" rIns="0" bIns="0" rtlCol="0" anchor="t"/>
          <a:lstStyle/>
          <a:p>
            <a:pPr marL="0" indent="0" algn="l">
              <a:lnSpc>
                <a:spcPts val="800"/>
              </a:lnSpc>
              <a:buNone/>
            </a:pPr>
            <a:r>
              <a:rPr lang="en-US" sz="500" dirty="0">
                <a:solidFill>
                  <a:srgbClr val="000000"/>
                </a:solidFill>
                <a:latin typeface="Inter" pitchFamily="34" charset="0"/>
                <a:ea typeface="Inter" pitchFamily="34" charset="-122"/>
                <a:cs typeface="Inter" pitchFamily="34" charset="-120"/>
              </a:rPr>
              <a:t>Augmentation fidélité client</a:t>
            </a:r>
            <a:endParaRPr lang="en-US" sz="500" dirty="0"/>
          </a:p>
        </p:txBody>
      </p:sp>
      <p:sp>
        <p:nvSpPr>
          <p:cNvPr id="36" name="Shape 34"/>
          <p:cNvSpPr/>
          <p:nvPr/>
        </p:nvSpPr>
        <p:spPr>
          <a:xfrm>
            <a:off x="397669" y="5546884"/>
            <a:ext cx="6599158" cy="80724"/>
          </a:xfrm>
          <a:prstGeom prst="roundRect">
            <a:avLst>
              <a:gd name="adj" fmla="val 33631"/>
            </a:avLst>
          </a:prstGeom>
          <a:solidFill>
            <a:srgbClr val="F5F5F5"/>
          </a:solidFill>
          <a:ln w="7620">
            <a:solidFill>
              <a:srgbClr val="199A69"/>
            </a:solidFill>
            <a:prstDash val="solid"/>
          </a:ln>
        </p:spPr>
        <p:txBody>
          <a:bodyPr/>
          <a:lstStyle/>
          <a:p>
            <a:endParaRPr lang="fr-CH"/>
          </a:p>
        </p:txBody>
      </p:sp>
      <p:sp>
        <p:nvSpPr>
          <p:cNvPr id="37" name="Shape 35"/>
          <p:cNvSpPr/>
          <p:nvPr/>
        </p:nvSpPr>
        <p:spPr>
          <a:xfrm>
            <a:off x="397669" y="5546884"/>
            <a:ext cx="2639616" cy="80724"/>
          </a:xfrm>
          <a:prstGeom prst="roundRect">
            <a:avLst>
              <a:gd name="adj" fmla="val 33631"/>
            </a:avLst>
          </a:prstGeom>
          <a:solidFill>
            <a:srgbClr val="008150"/>
          </a:solidFill>
          <a:ln/>
        </p:spPr>
        <p:txBody>
          <a:bodyPr/>
          <a:lstStyle/>
          <a:p>
            <a:endParaRPr lang="fr-CH"/>
          </a:p>
        </p:txBody>
      </p:sp>
      <p:sp>
        <p:nvSpPr>
          <p:cNvPr id="38" name="Text 36"/>
          <p:cNvSpPr/>
          <p:nvPr/>
        </p:nvSpPr>
        <p:spPr>
          <a:xfrm>
            <a:off x="7045285" y="5546884"/>
            <a:ext cx="191095" cy="80724"/>
          </a:xfrm>
          <a:prstGeom prst="rect">
            <a:avLst/>
          </a:prstGeom>
          <a:noFill/>
          <a:ln/>
        </p:spPr>
        <p:txBody>
          <a:bodyPr wrap="none" lIns="0" tIns="0" rIns="0" bIns="0" rtlCol="0" anchor="t"/>
          <a:lstStyle/>
          <a:p>
            <a:pPr marL="0" indent="0" algn="l">
              <a:lnSpc>
                <a:spcPts val="600"/>
              </a:lnSpc>
              <a:buNone/>
            </a:pPr>
            <a:r>
              <a:rPr lang="en-US" sz="600" b="1" dirty="0">
                <a:solidFill>
                  <a:srgbClr val="000000"/>
                </a:solidFill>
                <a:latin typeface="Inter Bold" pitchFamily="34" charset="0"/>
                <a:ea typeface="Inter Bold" pitchFamily="34" charset="-122"/>
                <a:cs typeface="Inter Bold" pitchFamily="34" charset="-120"/>
              </a:rPr>
              <a:t>40%</a:t>
            </a:r>
            <a:endParaRPr lang="en-US" sz="600" dirty="0"/>
          </a:p>
        </p:txBody>
      </p:sp>
      <p:sp>
        <p:nvSpPr>
          <p:cNvPr id="39" name="Text 37"/>
          <p:cNvSpPr/>
          <p:nvPr/>
        </p:nvSpPr>
        <p:spPr>
          <a:xfrm>
            <a:off x="397669" y="5708333"/>
            <a:ext cx="959406"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Recommandations WoM</a:t>
            </a:r>
            <a:endParaRPr lang="en-US" sz="600" dirty="0"/>
          </a:p>
        </p:txBody>
      </p:sp>
      <p:sp>
        <p:nvSpPr>
          <p:cNvPr id="40" name="Text 38"/>
          <p:cNvSpPr/>
          <p:nvPr/>
        </p:nvSpPr>
        <p:spPr>
          <a:xfrm>
            <a:off x="397669" y="5873829"/>
            <a:ext cx="6838712" cy="103346"/>
          </a:xfrm>
          <a:prstGeom prst="rect">
            <a:avLst/>
          </a:prstGeom>
          <a:noFill/>
          <a:ln/>
        </p:spPr>
        <p:txBody>
          <a:bodyPr wrap="none" lIns="0" tIns="0" rIns="0" bIns="0" rtlCol="0" anchor="t"/>
          <a:lstStyle/>
          <a:p>
            <a:pPr marL="0" indent="0" algn="l">
              <a:lnSpc>
                <a:spcPts val="800"/>
              </a:lnSpc>
              <a:buNone/>
            </a:pPr>
            <a:r>
              <a:rPr lang="en-US" sz="500" dirty="0">
                <a:solidFill>
                  <a:srgbClr val="000000"/>
                </a:solidFill>
                <a:latin typeface="Inter" pitchFamily="34" charset="0"/>
                <a:ea typeface="Inter" pitchFamily="34" charset="-122"/>
                <a:cs typeface="Inter" pitchFamily="34" charset="-120"/>
              </a:rPr>
              <a:t>Croissance bouche-à-oreille</a:t>
            </a:r>
            <a:endParaRPr lang="en-US" sz="500" dirty="0"/>
          </a:p>
        </p:txBody>
      </p:sp>
      <p:sp>
        <p:nvSpPr>
          <p:cNvPr id="41" name="Text 39"/>
          <p:cNvSpPr/>
          <p:nvPr/>
        </p:nvSpPr>
        <p:spPr>
          <a:xfrm>
            <a:off x="397669" y="6049804"/>
            <a:ext cx="6838712" cy="206693"/>
          </a:xfrm>
          <a:prstGeom prst="rect">
            <a:avLst/>
          </a:prstGeom>
          <a:noFill/>
          <a:ln/>
        </p:spPr>
        <p:txBody>
          <a:bodyPr wrap="square" lIns="0" tIns="0" rIns="0" bIns="0" rtlCol="0" anchor="t"/>
          <a:lstStyle/>
          <a:p>
            <a:pPr marL="0" indent="0" algn="l">
              <a:lnSpc>
                <a:spcPts val="800"/>
              </a:lnSpc>
              <a:buNone/>
            </a:pPr>
            <a:r>
              <a:rPr lang="en-US" sz="500" dirty="0">
                <a:solidFill>
                  <a:srgbClr val="000000"/>
                </a:solidFill>
                <a:latin typeface="Inter" pitchFamily="34" charset="0"/>
                <a:ea typeface="Inter" pitchFamily="34" charset="-122"/>
                <a:cs typeface="Inter" pitchFamily="34" charset="-120"/>
              </a:rPr>
              <a:t>Le service anticipatif est systématiquement perçu comme premium par les clients UHNW (validation Four Seasons). La reconnaissance individuelle renforce significativement la fidélité émotionnelle à la marque. Les clients hautement satisfaits deviennent des ambassadeurs naturels et authentiques, particulièrement sur les marchés Chine et CCG où le Word-of-Mouth constitue le facteur d'influence #1 absolu.</a:t>
            </a:r>
            <a:endParaRPr lang="en-US" sz="500" dirty="0"/>
          </a:p>
        </p:txBody>
      </p:sp>
      <p:sp>
        <p:nvSpPr>
          <p:cNvPr id="42" name="Text 40"/>
          <p:cNvSpPr/>
          <p:nvPr/>
        </p:nvSpPr>
        <p:spPr>
          <a:xfrm>
            <a:off x="7401639" y="4157543"/>
            <a:ext cx="1265277"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Impact Efficacité Opérationnelle</a:t>
            </a:r>
            <a:endParaRPr lang="en-US" sz="600" dirty="0"/>
          </a:p>
        </p:txBody>
      </p:sp>
      <p:sp>
        <p:nvSpPr>
          <p:cNvPr id="43" name="Text 41"/>
          <p:cNvSpPr/>
          <p:nvPr/>
        </p:nvSpPr>
        <p:spPr>
          <a:xfrm>
            <a:off x="7401639" y="4323040"/>
            <a:ext cx="6838712" cy="206693"/>
          </a:xfrm>
          <a:prstGeom prst="rect">
            <a:avLst/>
          </a:prstGeom>
          <a:noFill/>
          <a:ln/>
        </p:spPr>
        <p:txBody>
          <a:bodyPr wrap="square" lIns="0" tIns="0" rIns="0" bIns="0" rtlCol="0" anchor="t"/>
          <a:lstStyle/>
          <a:p>
            <a:pPr marL="342900" indent="-342900" algn="l">
              <a:lnSpc>
                <a:spcPts val="800"/>
              </a:lnSpc>
              <a:buSzPct val="100000"/>
              <a:buChar char="•"/>
            </a:pPr>
            <a:r>
              <a:rPr lang="en-US" sz="500" b="1" dirty="0">
                <a:solidFill>
                  <a:srgbClr val="000000"/>
                </a:solidFill>
                <a:latin typeface="Inter" pitchFamily="34" charset="0"/>
                <a:ea typeface="Inter" pitchFamily="34" charset="-122"/>
                <a:cs typeface="Inter" pitchFamily="34" charset="-120"/>
              </a:rPr>
              <a:t>Temps de formation vendeurs :</a:t>
            </a:r>
            <a:r>
              <a:rPr lang="en-US" sz="500" dirty="0">
                <a:solidFill>
                  <a:srgbClr val="000000"/>
                </a:solidFill>
                <a:latin typeface="Inter" pitchFamily="34" charset="0"/>
                <a:ea typeface="Inter" pitchFamily="34" charset="-122"/>
                <a:cs typeface="Inter" pitchFamily="34" charset="-120"/>
              </a:rPr>
              <a:t> Réduction de </a:t>
            </a:r>
            <a:r>
              <a:rPr lang="en-US" sz="500" dirty="0">
                <a:solidFill>
                  <a:srgbClr val="FFFFFF"/>
                </a:solidFill>
                <a:highlight>
                  <a:srgbClr val="008150"/>
                </a:highlight>
                <a:latin typeface="Inter" pitchFamily="34" charset="0"/>
                <a:ea typeface="Inter" pitchFamily="34" charset="-122"/>
                <a:cs typeface="Inter" pitchFamily="34" charset="-120"/>
              </a:rPr>
              <a:t>-40%</a:t>
            </a:r>
            <a:r>
              <a:rPr lang="en-US" sz="500" dirty="0">
                <a:solidFill>
                  <a:srgbClr val="000000"/>
                </a:solidFill>
                <a:latin typeface="Inter" pitchFamily="34" charset="0"/>
                <a:ea typeface="Inter" pitchFamily="34" charset="-122"/>
                <a:cs typeface="Inter" pitchFamily="34" charset="-120"/>
              </a:rPr>
              <a:t> (le simulateur Phase 1 codifie le savoir-faire tacite, les nouvelles recrues s'entraînent efficacement avec des personae virtuels réalistes, montée en compétence drastiquement accélérée)</a:t>
            </a:r>
            <a:endParaRPr lang="en-US" sz="500" dirty="0"/>
          </a:p>
        </p:txBody>
      </p:sp>
      <p:sp>
        <p:nvSpPr>
          <p:cNvPr id="44" name="Text 42"/>
          <p:cNvSpPr/>
          <p:nvPr/>
        </p:nvSpPr>
        <p:spPr>
          <a:xfrm>
            <a:off x="7401639" y="4552355"/>
            <a:ext cx="6838712" cy="103346"/>
          </a:xfrm>
          <a:prstGeom prst="rect">
            <a:avLst/>
          </a:prstGeom>
          <a:noFill/>
          <a:ln/>
        </p:spPr>
        <p:txBody>
          <a:bodyPr wrap="none" lIns="0" tIns="0" rIns="0" bIns="0" rtlCol="0" anchor="t"/>
          <a:lstStyle/>
          <a:p>
            <a:pPr marL="342900" indent="-342900" algn="l">
              <a:lnSpc>
                <a:spcPts val="800"/>
              </a:lnSpc>
              <a:buSzPct val="100000"/>
              <a:buChar char="•"/>
            </a:pPr>
            <a:r>
              <a:rPr lang="en-US" sz="500" b="1" dirty="0">
                <a:solidFill>
                  <a:srgbClr val="000000"/>
                </a:solidFill>
                <a:latin typeface="Inter" pitchFamily="34" charset="0"/>
                <a:ea typeface="Inter" pitchFamily="34" charset="-122"/>
                <a:cs typeface="Inter" pitchFamily="34" charset="-120"/>
              </a:rPr>
              <a:t>Productivité retail :</a:t>
            </a:r>
            <a:r>
              <a:rPr lang="en-US" sz="500" dirty="0">
                <a:solidFill>
                  <a:srgbClr val="000000"/>
                </a:solidFill>
                <a:latin typeface="Inter" pitchFamily="34" charset="0"/>
                <a:ea typeface="Inter" pitchFamily="34" charset="-122"/>
                <a:cs typeface="Inter" pitchFamily="34" charset="-120"/>
              </a:rPr>
              <a:t> Amélioration de </a:t>
            </a:r>
            <a:r>
              <a:rPr lang="en-US" sz="500" b="1" dirty="0">
                <a:solidFill>
                  <a:srgbClr val="000000"/>
                </a:solidFill>
                <a:latin typeface="Inter" pitchFamily="34" charset="0"/>
                <a:ea typeface="Inter" pitchFamily="34" charset="-122"/>
                <a:cs typeface="Inter" pitchFamily="34" charset="-120"/>
              </a:rPr>
              <a:t>+25%</a:t>
            </a:r>
            <a:r>
              <a:rPr lang="en-US" sz="500" dirty="0">
                <a:solidFill>
                  <a:srgbClr val="000000"/>
                </a:solidFill>
                <a:latin typeface="Inter" pitchFamily="34" charset="0"/>
                <a:ea typeface="Inter" pitchFamily="34" charset="-122"/>
                <a:cs typeface="Inter" pitchFamily="34" charset="-120"/>
              </a:rPr>
              <a:t> (Care Agent augmenté via MaIA est libéré des tâches administratives chronophages, concentration à 100% sur la relation client à haute valeur ajoutée)</a:t>
            </a:r>
            <a:endParaRPr lang="en-US" sz="500" dirty="0"/>
          </a:p>
        </p:txBody>
      </p:sp>
      <p:sp>
        <p:nvSpPr>
          <p:cNvPr id="45" name="Text 43"/>
          <p:cNvSpPr/>
          <p:nvPr/>
        </p:nvSpPr>
        <p:spPr>
          <a:xfrm>
            <a:off x="7401639" y="4678323"/>
            <a:ext cx="6838712" cy="206693"/>
          </a:xfrm>
          <a:prstGeom prst="rect">
            <a:avLst/>
          </a:prstGeom>
          <a:noFill/>
          <a:ln/>
        </p:spPr>
        <p:txBody>
          <a:bodyPr wrap="square" lIns="0" tIns="0" rIns="0" bIns="0" rtlCol="0" anchor="t"/>
          <a:lstStyle/>
          <a:p>
            <a:pPr marL="342900" indent="-342900" algn="l">
              <a:lnSpc>
                <a:spcPts val="800"/>
              </a:lnSpc>
              <a:buSzPct val="100000"/>
              <a:buChar char="•"/>
            </a:pPr>
            <a:r>
              <a:rPr lang="en-US" sz="500" b="1" dirty="0">
                <a:solidFill>
                  <a:srgbClr val="000000"/>
                </a:solidFill>
                <a:latin typeface="Inter" pitchFamily="34" charset="0"/>
                <a:ea typeface="Inter" pitchFamily="34" charset="-122"/>
                <a:cs typeface="Inter" pitchFamily="34" charset="-120"/>
              </a:rPr>
              <a:t>Coûts customer care :</a:t>
            </a:r>
            <a:r>
              <a:rPr lang="en-US" sz="500" dirty="0">
                <a:solidFill>
                  <a:srgbClr val="000000"/>
                </a:solidFill>
                <a:latin typeface="Inter" pitchFamily="34" charset="0"/>
                <a:ea typeface="Inter" pitchFamily="34" charset="-122"/>
                <a:cs typeface="Inter" pitchFamily="34" charset="-120"/>
              </a:rPr>
              <a:t> Réduction de </a:t>
            </a:r>
            <a:r>
              <a:rPr lang="en-US" sz="500" b="1" dirty="0">
                <a:solidFill>
                  <a:srgbClr val="000000"/>
                </a:solidFill>
                <a:latin typeface="Inter" pitchFamily="34" charset="0"/>
                <a:ea typeface="Inter" pitchFamily="34" charset="-122"/>
                <a:cs typeface="Inter" pitchFamily="34" charset="-120"/>
              </a:rPr>
              <a:t>-30%</a:t>
            </a:r>
            <a:r>
              <a:rPr lang="en-US" sz="500" dirty="0">
                <a:solidFill>
                  <a:srgbClr val="000000"/>
                </a:solidFill>
                <a:latin typeface="Inter" pitchFamily="34" charset="0"/>
                <a:ea typeface="Inter" pitchFamily="34" charset="-122"/>
                <a:cs typeface="Inter" pitchFamily="34" charset="-120"/>
              </a:rPr>
              <a:t> (le routage intelligent IA en amont qualifie rigoureusement les visiteurs, les Care Agents traitent uniquement les profils à haute valeur ajoutée et forte probabilité de conversion, réduction massive du volume d'appels à faible potentiel commercial)</a:t>
            </a:r>
            <a:endParaRPr lang="en-US" sz="500" dirty="0"/>
          </a:p>
        </p:txBody>
      </p:sp>
      <p:sp>
        <p:nvSpPr>
          <p:cNvPr id="46" name="Shape 44"/>
          <p:cNvSpPr/>
          <p:nvPr/>
        </p:nvSpPr>
        <p:spPr>
          <a:xfrm>
            <a:off x="397669" y="6419460"/>
            <a:ext cx="13835062" cy="15597"/>
          </a:xfrm>
          <a:prstGeom prst="rect">
            <a:avLst/>
          </a:prstGeom>
          <a:solidFill>
            <a:srgbClr val="000000">
              <a:alpha val="50000"/>
            </a:srgbClr>
          </a:solidFill>
          <a:ln/>
        </p:spPr>
        <p:txBody>
          <a:bodyPr/>
          <a:lstStyle/>
          <a:p>
            <a:endParaRPr lang="fr-CH"/>
          </a:p>
        </p:txBody>
      </p:sp>
      <p:sp>
        <p:nvSpPr>
          <p:cNvPr id="47" name="Text 45"/>
          <p:cNvSpPr/>
          <p:nvPr/>
        </p:nvSpPr>
        <p:spPr>
          <a:xfrm>
            <a:off x="397669" y="6531888"/>
            <a:ext cx="1867733" cy="121087"/>
          </a:xfrm>
          <a:prstGeom prst="rect">
            <a:avLst/>
          </a:prstGeom>
          <a:noFill/>
          <a:ln/>
        </p:spPr>
        <p:txBody>
          <a:bodyPr wrap="none" lIns="0" tIns="0" rIns="0" bIns="0" rtlCol="0" anchor="t"/>
          <a:lstStyle/>
          <a:p>
            <a:pPr marL="0" indent="0" algn="l">
              <a:lnSpc>
                <a:spcPts val="950"/>
              </a:lnSpc>
              <a:buNone/>
            </a:pPr>
            <a:r>
              <a:rPr lang="en-US" sz="750" b="1" dirty="0">
                <a:solidFill>
                  <a:srgbClr val="000000"/>
                </a:solidFill>
                <a:latin typeface="Inter Bold" pitchFamily="34" charset="0"/>
                <a:ea typeface="Inter Bold" pitchFamily="34" charset="-122"/>
                <a:cs typeface="Inter Bold" pitchFamily="34" charset="-120"/>
              </a:rPr>
              <a:t>Positionnement Concurrentiel Renforcé</a:t>
            </a:r>
            <a:endParaRPr lang="en-US" sz="750" dirty="0"/>
          </a:p>
        </p:txBody>
      </p:sp>
      <p:sp>
        <p:nvSpPr>
          <p:cNvPr id="48" name="Shape 46"/>
          <p:cNvSpPr/>
          <p:nvPr/>
        </p:nvSpPr>
        <p:spPr>
          <a:xfrm>
            <a:off x="397669" y="6749891"/>
            <a:ext cx="4568666" cy="490657"/>
          </a:xfrm>
          <a:prstGeom prst="roundRect">
            <a:avLst>
              <a:gd name="adj" fmla="val 5533"/>
            </a:avLst>
          </a:prstGeom>
          <a:solidFill>
            <a:srgbClr val="008150"/>
          </a:solidFill>
          <a:ln w="7620">
            <a:solidFill>
              <a:srgbClr val="199A69"/>
            </a:solidFill>
            <a:prstDash val="solid"/>
          </a:ln>
        </p:spPr>
        <p:txBody>
          <a:bodyPr/>
          <a:lstStyle/>
          <a:p>
            <a:endParaRPr lang="fr-CH"/>
          </a:p>
        </p:txBody>
      </p:sp>
      <p:sp>
        <p:nvSpPr>
          <p:cNvPr id="49" name="Text 47"/>
          <p:cNvSpPr/>
          <p:nvPr/>
        </p:nvSpPr>
        <p:spPr>
          <a:xfrm>
            <a:off x="469821" y="6822043"/>
            <a:ext cx="914400" cy="100965"/>
          </a:xfrm>
          <a:prstGeom prst="rect">
            <a:avLst/>
          </a:prstGeom>
          <a:noFill/>
          <a:ln/>
        </p:spPr>
        <p:txBody>
          <a:bodyPr wrap="none" lIns="0" tIns="0" rIns="0" bIns="0" rtlCol="0" anchor="t"/>
          <a:lstStyle/>
          <a:p>
            <a:pPr marL="0" indent="0" algn="l">
              <a:lnSpc>
                <a:spcPts val="750"/>
              </a:lnSpc>
              <a:buNone/>
            </a:pPr>
            <a:r>
              <a:rPr lang="en-US" sz="600" b="1" dirty="0">
                <a:solidFill>
                  <a:srgbClr val="FFFFFF"/>
                </a:solidFill>
                <a:latin typeface="Inter Bold" pitchFamily="34" charset="0"/>
                <a:ea typeface="Inter Bold" pitchFamily="34" charset="-122"/>
                <a:cs typeface="Inter Bold" pitchFamily="34" charset="-120"/>
              </a:rPr>
              <a:t>First-Mover Advantage</a:t>
            </a:r>
            <a:endParaRPr lang="en-US" sz="600" dirty="0"/>
          </a:p>
        </p:txBody>
      </p:sp>
      <p:sp>
        <p:nvSpPr>
          <p:cNvPr id="50" name="Text 48"/>
          <p:cNvSpPr/>
          <p:nvPr/>
        </p:nvSpPr>
        <p:spPr>
          <a:xfrm>
            <a:off x="469821" y="6961703"/>
            <a:ext cx="4424363" cy="206693"/>
          </a:xfrm>
          <a:prstGeom prst="rect">
            <a:avLst/>
          </a:prstGeom>
          <a:noFill/>
          <a:ln/>
        </p:spPr>
        <p:txBody>
          <a:bodyPr wrap="square" lIns="0" tIns="0" rIns="0" bIns="0" rtlCol="0" anchor="t"/>
          <a:lstStyle/>
          <a:p>
            <a:pPr marL="0" indent="0" algn="l">
              <a:lnSpc>
                <a:spcPts val="800"/>
              </a:lnSpc>
              <a:buNone/>
            </a:pPr>
            <a:r>
              <a:rPr lang="en-US" sz="500" dirty="0">
                <a:solidFill>
                  <a:srgbClr val="FFFFFF"/>
                </a:solidFill>
                <a:latin typeface="Inter" pitchFamily="34" charset="0"/>
                <a:ea typeface="Inter" pitchFamily="34" charset="-122"/>
                <a:cs typeface="Inter" pitchFamily="34" charset="-120"/>
              </a:rPr>
              <a:t>TAG Heuer devient le </a:t>
            </a:r>
            <a:r>
              <a:rPr lang="en-US" sz="500" b="1" dirty="0">
                <a:solidFill>
                  <a:srgbClr val="FFFFFF"/>
                </a:solidFill>
                <a:latin typeface="Inter" pitchFamily="34" charset="0"/>
                <a:ea typeface="Inter" pitchFamily="34" charset="-122"/>
                <a:cs typeface="Inter" pitchFamily="34" charset="-120"/>
              </a:rPr>
              <a:t>pionnier absolu</a:t>
            </a:r>
            <a:r>
              <a:rPr lang="en-US" sz="500" dirty="0">
                <a:solidFill>
                  <a:srgbClr val="FFFFFF"/>
                </a:solidFill>
                <a:latin typeface="Inter" pitchFamily="34" charset="0"/>
                <a:ea typeface="Inter" pitchFamily="34" charset="-122"/>
                <a:cs typeface="Inter" pitchFamily="34" charset="-120"/>
              </a:rPr>
              <a:t> de l'intelligence culturelle dans l'horlogerie de luxe mondiale. Aucun concurrent direct (Cartier, Omega, Rolex) n'exploite actuellement cette dimension stratégique.</a:t>
            </a:r>
            <a:endParaRPr lang="en-US" sz="500" dirty="0"/>
          </a:p>
        </p:txBody>
      </p:sp>
      <p:sp>
        <p:nvSpPr>
          <p:cNvPr id="51" name="Shape 49"/>
          <p:cNvSpPr/>
          <p:nvPr/>
        </p:nvSpPr>
        <p:spPr>
          <a:xfrm>
            <a:off x="5030867" y="6749891"/>
            <a:ext cx="4568666" cy="490657"/>
          </a:xfrm>
          <a:prstGeom prst="roundRect">
            <a:avLst>
              <a:gd name="adj" fmla="val 5533"/>
            </a:avLst>
          </a:prstGeom>
          <a:solidFill>
            <a:srgbClr val="E3001D"/>
          </a:solidFill>
          <a:ln w="7620">
            <a:solidFill>
              <a:srgbClr val="FC1936"/>
            </a:solidFill>
            <a:prstDash val="solid"/>
          </a:ln>
        </p:spPr>
        <p:txBody>
          <a:bodyPr/>
          <a:lstStyle/>
          <a:p>
            <a:endParaRPr lang="fr-CH"/>
          </a:p>
        </p:txBody>
      </p:sp>
      <p:sp>
        <p:nvSpPr>
          <p:cNvPr id="52" name="Text 50"/>
          <p:cNvSpPr/>
          <p:nvPr/>
        </p:nvSpPr>
        <p:spPr>
          <a:xfrm>
            <a:off x="5103019" y="6822043"/>
            <a:ext cx="1021556" cy="100965"/>
          </a:xfrm>
          <a:prstGeom prst="rect">
            <a:avLst/>
          </a:prstGeom>
          <a:noFill/>
          <a:ln/>
        </p:spPr>
        <p:txBody>
          <a:bodyPr wrap="none" lIns="0" tIns="0" rIns="0" bIns="0" rtlCol="0" anchor="t"/>
          <a:lstStyle/>
          <a:p>
            <a:pPr marL="0" indent="0" algn="l">
              <a:lnSpc>
                <a:spcPts val="750"/>
              </a:lnSpc>
              <a:buNone/>
            </a:pPr>
            <a:r>
              <a:rPr lang="en-US" sz="600" b="1" dirty="0">
                <a:solidFill>
                  <a:srgbClr val="FFFFFF"/>
                </a:solidFill>
                <a:latin typeface="Inter Bold" pitchFamily="34" charset="0"/>
                <a:ea typeface="Inter Bold" pitchFamily="34" charset="-122"/>
                <a:cs typeface="Inter Bold" pitchFamily="34" charset="-120"/>
              </a:rPr>
              <a:t>Différenciation Mesurable</a:t>
            </a:r>
            <a:endParaRPr lang="en-US" sz="600" dirty="0"/>
          </a:p>
        </p:txBody>
      </p:sp>
      <p:sp>
        <p:nvSpPr>
          <p:cNvPr id="53" name="Text 51"/>
          <p:cNvSpPr/>
          <p:nvPr/>
        </p:nvSpPr>
        <p:spPr>
          <a:xfrm>
            <a:off x="5103019" y="6961703"/>
            <a:ext cx="4424363" cy="206693"/>
          </a:xfrm>
          <a:prstGeom prst="rect">
            <a:avLst/>
          </a:prstGeom>
          <a:noFill/>
          <a:ln/>
        </p:spPr>
        <p:txBody>
          <a:bodyPr wrap="square" lIns="0" tIns="0" rIns="0" bIns="0" rtlCol="0" anchor="t"/>
          <a:lstStyle/>
          <a:p>
            <a:pPr marL="0" indent="0" algn="l">
              <a:lnSpc>
                <a:spcPts val="800"/>
              </a:lnSpc>
              <a:buNone/>
            </a:pPr>
            <a:r>
              <a:rPr lang="en-US" sz="500" dirty="0">
                <a:solidFill>
                  <a:srgbClr val="FFFFFF"/>
                </a:solidFill>
                <a:latin typeface="Inter" pitchFamily="34" charset="0"/>
                <a:ea typeface="Inter" pitchFamily="34" charset="-122"/>
                <a:cs typeface="Inter" pitchFamily="34" charset="-120"/>
              </a:rPr>
              <a:t>Cartier excelle en IA comportementale pure, TAG se positionne sur IA culturelle + comportementale combinées. Création d'une différenciation perçue forte et difficilement réplicable rapidement.</a:t>
            </a:r>
            <a:endParaRPr lang="en-US" sz="500" dirty="0"/>
          </a:p>
        </p:txBody>
      </p:sp>
      <p:sp>
        <p:nvSpPr>
          <p:cNvPr id="54" name="Shape 52"/>
          <p:cNvSpPr/>
          <p:nvPr/>
        </p:nvSpPr>
        <p:spPr>
          <a:xfrm>
            <a:off x="9664065" y="6749891"/>
            <a:ext cx="4568666" cy="490657"/>
          </a:xfrm>
          <a:prstGeom prst="roundRect">
            <a:avLst>
              <a:gd name="adj" fmla="val 5533"/>
            </a:avLst>
          </a:prstGeom>
          <a:solidFill>
            <a:srgbClr val="008150"/>
          </a:solidFill>
          <a:ln w="7620">
            <a:solidFill>
              <a:srgbClr val="199A69"/>
            </a:solidFill>
            <a:prstDash val="solid"/>
          </a:ln>
        </p:spPr>
        <p:txBody>
          <a:bodyPr/>
          <a:lstStyle/>
          <a:p>
            <a:endParaRPr lang="fr-CH"/>
          </a:p>
        </p:txBody>
      </p:sp>
      <p:sp>
        <p:nvSpPr>
          <p:cNvPr id="55" name="Text 53"/>
          <p:cNvSpPr/>
          <p:nvPr/>
        </p:nvSpPr>
        <p:spPr>
          <a:xfrm>
            <a:off x="9736217" y="6822043"/>
            <a:ext cx="1255871" cy="100965"/>
          </a:xfrm>
          <a:prstGeom prst="rect">
            <a:avLst/>
          </a:prstGeom>
          <a:noFill/>
          <a:ln/>
        </p:spPr>
        <p:txBody>
          <a:bodyPr wrap="none" lIns="0" tIns="0" rIns="0" bIns="0" rtlCol="0" anchor="t"/>
          <a:lstStyle/>
          <a:p>
            <a:pPr marL="0" indent="0" algn="l">
              <a:lnSpc>
                <a:spcPts val="750"/>
              </a:lnSpc>
              <a:buNone/>
            </a:pPr>
            <a:r>
              <a:rPr lang="en-US" sz="600" b="1" dirty="0">
                <a:solidFill>
                  <a:srgbClr val="FFFFFF"/>
                </a:solidFill>
                <a:latin typeface="Inter Bold" pitchFamily="34" charset="0"/>
                <a:ea typeface="Inter Bold" pitchFamily="34" charset="-122"/>
                <a:cs typeface="Inter Bold" pitchFamily="34" charset="-120"/>
              </a:rPr>
              <a:t>Renforcement Image Innovation</a:t>
            </a:r>
            <a:endParaRPr lang="en-US" sz="600" dirty="0"/>
          </a:p>
        </p:txBody>
      </p:sp>
      <p:sp>
        <p:nvSpPr>
          <p:cNvPr id="56" name="Text 54"/>
          <p:cNvSpPr/>
          <p:nvPr/>
        </p:nvSpPr>
        <p:spPr>
          <a:xfrm>
            <a:off x="9736217" y="6961703"/>
            <a:ext cx="4424363" cy="206693"/>
          </a:xfrm>
          <a:prstGeom prst="rect">
            <a:avLst/>
          </a:prstGeom>
          <a:noFill/>
          <a:ln/>
        </p:spPr>
        <p:txBody>
          <a:bodyPr wrap="square" lIns="0" tIns="0" rIns="0" bIns="0" rtlCol="0" anchor="t"/>
          <a:lstStyle/>
          <a:p>
            <a:pPr marL="0" indent="0" algn="l">
              <a:lnSpc>
                <a:spcPts val="800"/>
              </a:lnSpc>
              <a:buNone/>
            </a:pPr>
            <a:r>
              <a:rPr lang="en-US" sz="500" dirty="0">
                <a:solidFill>
                  <a:srgbClr val="FFFFFF"/>
                </a:solidFill>
                <a:latin typeface="Inter" pitchFamily="34" charset="0"/>
                <a:ea typeface="Inter" pitchFamily="34" charset="-122"/>
                <a:cs typeface="Inter" pitchFamily="34" charset="-120"/>
              </a:rPr>
              <a:t>Continuité parfaite avec TAG Heuer Connected Watch (la légitimité technologique établie est amplifiée et étendue à toute l'expérience client omnicanale).</a:t>
            </a:r>
            <a:endParaRPr lang="en-US" sz="500" dirty="0"/>
          </a:p>
        </p:txBody>
      </p:sp>
      <p:sp>
        <p:nvSpPr>
          <p:cNvPr id="57" name="Shape 55"/>
          <p:cNvSpPr/>
          <p:nvPr/>
        </p:nvSpPr>
        <p:spPr>
          <a:xfrm>
            <a:off x="397669" y="7313176"/>
            <a:ext cx="13835062" cy="543163"/>
          </a:xfrm>
          <a:prstGeom prst="roundRect">
            <a:avLst>
              <a:gd name="adj" fmla="val 4998"/>
            </a:avLst>
          </a:prstGeom>
          <a:solidFill>
            <a:srgbClr val="B3FFE2"/>
          </a:solidFill>
          <a:ln/>
        </p:spPr>
        <p:txBody>
          <a:bodyPr/>
          <a:lstStyle/>
          <a:p>
            <a:endParaRPr lang="fr-CH"/>
          </a:p>
        </p:txBody>
      </p:sp>
      <p:pic>
        <p:nvPicPr>
          <p:cNvPr id="58" name="Image 0" descr="preencoded.png"/>
          <p:cNvPicPr>
            <a:picLocks noChangeAspect="1"/>
          </p:cNvPicPr>
          <p:nvPr/>
        </p:nvPicPr>
        <p:blipFill>
          <a:blip r:embed="rId3"/>
          <a:stretch>
            <a:fillRect/>
          </a:stretch>
        </p:blipFill>
        <p:spPr>
          <a:xfrm>
            <a:off x="462201" y="7399258"/>
            <a:ext cx="100965" cy="80724"/>
          </a:xfrm>
          <a:prstGeom prst="rect">
            <a:avLst/>
          </a:prstGeom>
        </p:spPr>
      </p:pic>
      <p:sp>
        <p:nvSpPr>
          <p:cNvPr id="59" name="Text 56"/>
          <p:cNvSpPr/>
          <p:nvPr/>
        </p:nvSpPr>
        <p:spPr>
          <a:xfrm>
            <a:off x="627698" y="7393781"/>
            <a:ext cx="2175867" cy="100965"/>
          </a:xfrm>
          <a:prstGeom prst="rect">
            <a:avLst/>
          </a:prstGeom>
          <a:noFill/>
          <a:ln/>
        </p:spPr>
        <p:txBody>
          <a:bodyPr wrap="none" lIns="0" tIns="0" rIns="0" bIns="0" rtlCol="0" anchor="t"/>
          <a:lstStyle/>
          <a:p>
            <a:pPr marL="0" indent="0" algn="l">
              <a:lnSpc>
                <a:spcPts val="750"/>
              </a:lnSpc>
              <a:buNone/>
            </a:pPr>
            <a:r>
              <a:rPr lang="en-US" sz="600" b="1" dirty="0">
                <a:solidFill>
                  <a:srgbClr val="000000"/>
                </a:solidFill>
                <a:latin typeface="Inter Bold" pitchFamily="34" charset="0"/>
                <a:ea typeface="Inter Bold" pitchFamily="34" charset="-122"/>
                <a:cs typeface="Inter Bold" pitchFamily="34" charset="-120"/>
              </a:rPr>
              <a:t>Maîtrise des Risques : Approche Progressive Sécurisée</a:t>
            </a:r>
            <a:endParaRPr lang="en-US" sz="600" dirty="0"/>
          </a:p>
        </p:txBody>
      </p:sp>
      <p:sp>
        <p:nvSpPr>
          <p:cNvPr id="60" name="Text 57"/>
          <p:cNvSpPr/>
          <p:nvPr/>
        </p:nvSpPr>
        <p:spPr>
          <a:xfrm>
            <a:off x="627698" y="7559278"/>
            <a:ext cx="13540502" cy="206693"/>
          </a:xfrm>
          <a:prstGeom prst="rect">
            <a:avLst/>
          </a:prstGeom>
          <a:noFill/>
          <a:ln/>
        </p:spPr>
        <p:txBody>
          <a:bodyPr wrap="square" lIns="0" tIns="0" rIns="0" bIns="0" rtlCol="0" anchor="t"/>
          <a:lstStyle/>
          <a:p>
            <a:pPr marL="0" indent="0" algn="l">
              <a:lnSpc>
                <a:spcPts val="800"/>
              </a:lnSpc>
              <a:buNone/>
            </a:pPr>
            <a:r>
              <a:rPr lang="en-US" sz="500" b="1" dirty="0">
                <a:solidFill>
                  <a:srgbClr val="000000"/>
                </a:solidFill>
                <a:latin typeface="Inter" pitchFamily="34" charset="0"/>
                <a:ea typeface="Inter" pitchFamily="34" charset="-122"/>
                <a:cs typeface="Inter" pitchFamily="34" charset="-120"/>
              </a:rPr>
              <a:t>Approche incrémentale :</a:t>
            </a:r>
            <a:r>
              <a:rPr lang="en-US" sz="500" dirty="0">
                <a:solidFill>
                  <a:srgbClr val="000000"/>
                </a:solidFill>
                <a:latin typeface="Inter" pitchFamily="34" charset="0"/>
                <a:ea typeface="Inter" pitchFamily="34" charset="-122"/>
                <a:cs typeface="Inter" pitchFamily="34" charset="-120"/>
              </a:rPr>
              <a:t> POC de 6 mois (Phase 1) valide empiriquement toutes les hypothèses critiques avant tout engagement de scale industriel (pas de déploiement "big bang" à haut risque). </a:t>
            </a:r>
            <a:r>
              <a:rPr lang="en-US" sz="500" b="1" dirty="0">
                <a:solidFill>
                  <a:srgbClr val="000000"/>
                </a:solidFill>
                <a:latin typeface="Inter" pitchFamily="34" charset="0"/>
                <a:ea typeface="Inter" pitchFamily="34" charset="-122"/>
                <a:cs typeface="Inter" pitchFamily="34" charset="-120"/>
              </a:rPr>
              <a:t>Budget maîtrisé :</a:t>
            </a:r>
            <a:r>
              <a:rPr lang="en-US" sz="500" dirty="0">
                <a:solidFill>
                  <a:srgbClr val="000000"/>
                </a:solidFill>
                <a:latin typeface="Inter" pitchFamily="34" charset="0"/>
                <a:ea typeface="Inter" pitchFamily="34" charset="-122"/>
                <a:cs typeface="Inter" pitchFamily="34" charset="-120"/>
              </a:rPr>
              <a:t> 1.35M CHF étalé sur 24 mois représente un investissement modéré et raisonnable versus le ROI attendu de +20M CHF/an. </a:t>
            </a:r>
            <a:r>
              <a:rPr lang="en-US" sz="500" b="1" dirty="0">
                <a:solidFill>
                  <a:srgbClr val="000000"/>
                </a:solidFill>
                <a:latin typeface="Inter" pitchFamily="34" charset="0"/>
                <a:ea typeface="Inter" pitchFamily="34" charset="-122"/>
                <a:cs typeface="Inter" pitchFamily="34" charset="-120"/>
              </a:rPr>
              <a:t>Break-even rapide :</a:t>
            </a:r>
            <a:r>
              <a:rPr lang="en-US" sz="500" dirty="0">
                <a:solidFill>
                  <a:srgbClr val="000000"/>
                </a:solidFill>
                <a:latin typeface="Inter" pitchFamily="34" charset="0"/>
                <a:ea typeface="Inter" pitchFamily="34" charset="-122"/>
                <a:cs typeface="Inter" pitchFamily="34" charset="-120"/>
              </a:rPr>
              <a:t> 6 mois seulement après la fin du POC valide la viabilité financière de manière précoce. </a:t>
            </a:r>
            <a:r>
              <a:rPr lang="en-US" sz="500" b="1" dirty="0">
                <a:solidFill>
                  <a:srgbClr val="000000"/>
                </a:solidFill>
                <a:latin typeface="Inter" pitchFamily="34" charset="0"/>
                <a:ea typeface="Inter" pitchFamily="34" charset="-122"/>
                <a:cs typeface="Inter" pitchFamily="34" charset="-120"/>
              </a:rPr>
              <a:t>Conformité garantie :</a:t>
            </a:r>
            <a:r>
              <a:rPr lang="en-US" sz="500" dirty="0">
                <a:solidFill>
                  <a:srgbClr val="000000"/>
                </a:solidFill>
                <a:latin typeface="Inter" pitchFamily="34" charset="0"/>
                <a:ea typeface="Inter" pitchFamily="34" charset="-122"/>
                <a:cs typeface="Inter" pitchFamily="34" charset="-120"/>
              </a:rPr>
              <a:t> GDPR/PIPL respectés by design via l'architecture fédérée (aucun risque légal rétrospectif ou correctif coûteux a posteriori).</a:t>
            </a:r>
            <a:endParaRPr lang="en-US" sz="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9595" y="391597"/>
            <a:ext cx="4251008" cy="289322"/>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Inter Bold" pitchFamily="34" charset="0"/>
                <a:ea typeface="Inter Bold" pitchFamily="34" charset="-122"/>
                <a:cs typeface="Inter Bold" pitchFamily="34" charset="-120"/>
              </a:rPr>
              <a:t>Conclusion &amp; Call-to-Action Immédiat</a:t>
            </a:r>
            <a:endParaRPr lang="en-US" sz="1800" dirty="0"/>
          </a:p>
        </p:txBody>
      </p:sp>
      <p:sp>
        <p:nvSpPr>
          <p:cNvPr id="3" name="Text 1"/>
          <p:cNvSpPr/>
          <p:nvPr/>
        </p:nvSpPr>
        <p:spPr>
          <a:xfrm>
            <a:off x="569595" y="912257"/>
            <a:ext cx="2958465" cy="144661"/>
          </a:xfrm>
          <a:prstGeom prst="rect">
            <a:avLst/>
          </a:prstGeom>
          <a:noFill/>
          <a:ln/>
        </p:spPr>
        <p:txBody>
          <a:bodyPr wrap="none" lIns="0" tIns="0" rIns="0" bIns="0" rtlCol="0" anchor="t"/>
          <a:lstStyle/>
          <a:p>
            <a:pPr marL="0" indent="0" algn="l">
              <a:lnSpc>
                <a:spcPts val="1100"/>
              </a:lnSpc>
              <a:buNone/>
            </a:pPr>
            <a:r>
              <a:rPr lang="en-US" sz="900" b="1" dirty="0">
                <a:solidFill>
                  <a:srgbClr val="000000"/>
                </a:solidFill>
                <a:latin typeface="Inter Bold" pitchFamily="34" charset="0"/>
                <a:ea typeface="Inter Bold" pitchFamily="34" charset="-122"/>
                <a:cs typeface="Inter Bold" pitchFamily="34" charset="-120"/>
              </a:rPr>
              <a:t>Synthèse Stratégique : Convergence d'Opportunités</a:t>
            </a:r>
            <a:endParaRPr lang="en-US" sz="900" dirty="0"/>
          </a:p>
        </p:txBody>
      </p:sp>
      <p:sp>
        <p:nvSpPr>
          <p:cNvPr id="4" name="Text 2"/>
          <p:cNvSpPr/>
          <p:nvPr/>
        </p:nvSpPr>
        <p:spPr>
          <a:xfrm>
            <a:off x="569595" y="1149429"/>
            <a:ext cx="7318534" cy="591979"/>
          </a:xfrm>
          <a:prstGeom prst="rect">
            <a:avLst/>
          </a:prstGeom>
          <a:noFill/>
          <a:ln/>
        </p:spPr>
        <p:txBody>
          <a:bodyPr wrap="square" lIns="0" tIns="0" rIns="0" bIns="0" rtlCol="0" anchor="t"/>
          <a:lstStyle/>
          <a:p>
            <a:pPr marL="0" indent="0" algn="l">
              <a:lnSpc>
                <a:spcPts val="1150"/>
              </a:lnSpc>
              <a:buNone/>
            </a:pPr>
            <a:r>
              <a:rPr lang="en-US" sz="700" dirty="0">
                <a:solidFill>
                  <a:srgbClr val="000000"/>
                </a:solidFill>
                <a:latin typeface="Inter" pitchFamily="34" charset="0"/>
                <a:ea typeface="Inter" pitchFamily="34" charset="-122"/>
                <a:cs typeface="Inter" pitchFamily="34" charset="-120"/>
              </a:rPr>
              <a:t>Le luxe horloger traverse une </a:t>
            </a:r>
            <a:r>
              <a:rPr lang="en-US" sz="700" b="1" dirty="0">
                <a:solidFill>
                  <a:srgbClr val="000000"/>
                </a:solidFill>
                <a:latin typeface="Inter" pitchFamily="34" charset="0"/>
                <a:ea typeface="Inter" pitchFamily="34" charset="-122"/>
                <a:cs typeface="Inter" pitchFamily="34" charset="-120"/>
              </a:rPr>
              <a:t>crise de pertinence expérientielle</a:t>
            </a:r>
            <a:r>
              <a:rPr lang="en-US" sz="700" dirty="0">
                <a:solidFill>
                  <a:srgbClr val="000000"/>
                </a:solidFill>
                <a:latin typeface="Inter" pitchFamily="34" charset="0"/>
                <a:ea typeface="Inter" pitchFamily="34" charset="-122"/>
                <a:cs typeface="Inter" pitchFamily="34" charset="-120"/>
              </a:rPr>
              <a:t> sans précédent, alimentée par trois forces convergentes majeures : Fatigue documentée du luxe (-10% de clientèle en 2 ans, applications mobiles horlogères à 1.8/5), Impératif générationnel (Gen Z + Millennials = 75% des acheteurs luxe d'ici 2026, standards d'excellence = fluidité Amazon + écosystème Apple), Mondialisation des attentes déségrégées (comparaison systématique aux standards hôtellerie 5★, banque privée, aviation d'affaires).</a:t>
            </a:r>
            <a:endParaRPr lang="en-US" sz="700" dirty="0"/>
          </a:p>
        </p:txBody>
      </p:sp>
      <p:sp>
        <p:nvSpPr>
          <p:cNvPr id="5" name="Text 3"/>
          <p:cNvSpPr/>
          <p:nvPr/>
        </p:nvSpPr>
        <p:spPr>
          <a:xfrm>
            <a:off x="569595" y="1824633"/>
            <a:ext cx="7318534" cy="591979"/>
          </a:xfrm>
          <a:prstGeom prst="rect">
            <a:avLst/>
          </a:prstGeom>
          <a:noFill/>
          <a:ln/>
        </p:spPr>
        <p:txBody>
          <a:bodyPr wrap="square" lIns="0" tIns="0" rIns="0" bIns="0" rtlCol="0" anchor="t"/>
          <a:lstStyle/>
          <a:p>
            <a:pPr marL="0" indent="0" algn="l">
              <a:lnSpc>
                <a:spcPts val="1150"/>
              </a:lnSpc>
              <a:buNone/>
            </a:pPr>
            <a:r>
              <a:rPr lang="en-US" sz="700" b="1" dirty="0">
                <a:solidFill>
                  <a:srgbClr val="008150"/>
                </a:solidFill>
                <a:latin typeface="Inter" pitchFamily="34" charset="0"/>
                <a:ea typeface="Inter" pitchFamily="34" charset="-122"/>
                <a:cs typeface="Inter" pitchFamily="34" charset="-120"/>
              </a:rPr>
              <a:t>TAG Heuer possède des avantages asymétriques uniques</a:t>
            </a:r>
            <a:r>
              <a:rPr lang="en-US" sz="700" dirty="0">
                <a:solidFill>
                  <a:srgbClr val="000000"/>
                </a:solidFill>
                <a:latin typeface="Inter" pitchFamily="34" charset="0"/>
                <a:ea typeface="Inter" pitchFamily="34" charset="-122"/>
                <a:cs typeface="Inter" pitchFamily="34" charset="-120"/>
              </a:rPr>
              <a:t> que ses concurrents directs ne peuvent pas répliquer simultanément : Légitimité technologique incontestée (Connected Watch = passerelle données consenties Young Striver), Écosystème LVMH mature (philosophie "Quiet Tech" éprouvée + MaIA utilisé par 40,000 collaborateurs + Infrastructure GCP/Alibaba Cloud mutualisée), Gaps concurrentiels majeurs non exploités (intelligence culturelle totalement absente du marché + orchestration omnicanale sous-optimale : 69% de trafic online n'atteignant jamais le canal Care Agent à 10% de conversion).</a:t>
            </a:r>
            <a:endParaRPr lang="en-US" sz="700" dirty="0"/>
          </a:p>
        </p:txBody>
      </p:sp>
      <p:sp>
        <p:nvSpPr>
          <p:cNvPr id="6" name="Text 4"/>
          <p:cNvSpPr/>
          <p:nvPr/>
        </p:nvSpPr>
        <p:spPr>
          <a:xfrm>
            <a:off x="8121491" y="912257"/>
            <a:ext cx="1535192" cy="144661"/>
          </a:xfrm>
          <a:prstGeom prst="rect">
            <a:avLst/>
          </a:prstGeom>
          <a:noFill/>
          <a:ln/>
        </p:spPr>
        <p:txBody>
          <a:bodyPr wrap="none" lIns="0" tIns="0" rIns="0" bIns="0" rtlCol="0" anchor="t"/>
          <a:lstStyle/>
          <a:p>
            <a:pPr marL="0" indent="0" algn="l">
              <a:lnSpc>
                <a:spcPts val="1100"/>
              </a:lnSpc>
              <a:buNone/>
            </a:pPr>
            <a:r>
              <a:rPr lang="en-US" sz="900" b="1" dirty="0">
                <a:solidFill>
                  <a:srgbClr val="000000"/>
                </a:solidFill>
                <a:latin typeface="Inter Bold" pitchFamily="34" charset="0"/>
                <a:ea typeface="Inter Bold" pitchFamily="34" charset="-122"/>
                <a:cs typeface="Inter Bold" pitchFamily="34" charset="-120"/>
              </a:rPr>
              <a:t>Solution Technique Validée</a:t>
            </a:r>
            <a:endParaRPr lang="en-US" sz="900" dirty="0"/>
          </a:p>
        </p:txBody>
      </p:sp>
      <p:sp>
        <p:nvSpPr>
          <p:cNvPr id="7" name="Text 5"/>
          <p:cNvSpPr/>
          <p:nvPr/>
        </p:nvSpPr>
        <p:spPr>
          <a:xfrm>
            <a:off x="8121491" y="1160978"/>
            <a:ext cx="92512" cy="115610"/>
          </a:xfrm>
          <a:prstGeom prst="rect">
            <a:avLst/>
          </a:prstGeom>
          <a:noFill/>
          <a:ln/>
        </p:spPr>
        <p:txBody>
          <a:bodyPr wrap="none" lIns="0" tIns="0" rIns="0" bIns="0" rtlCol="0" anchor="t"/>
          <a:lstStyle/>
          <a:p>
            <a:pPr marL="0" indent="0" algn="l">
              <a:lnSpc>
                <a:spcPts val="1150"/>
              </a:lnSpc>
              <a:buNone/>
            </a:pPr>
            <a:r>
              <a:rPr lang="en-US" sz="700" dirty="0">
                <a:solidFill>
                  <a:srgbClr val="000000"/>
                </a:solidFill>
                <a:latin typeface="Inter Light" pitchFamily="34" charset="0"/>
                <a:ea typeface="Inter Light" pitchFamily="34" charset="-122"/>
                <a:cs typeface="Inter Light" pitchFamily="34" charset="-120"/>
              </a:rPr>
              <a:t>01</a:t>
            </a:r>
            <a:endParaRPr lang="en-US" sz="700" dirty="0"/>
          </a:p>
        </p:txBody>
      </p:sp>
      <p:sp>
        <p:nvSpPr>
          <p:cNvPr id="8" name="Shape 6"/>
          <p:cNvSpPr/>
          <p:nvPr/>
        </p:nvSpPr>
        <p:spPr>
          <a:xfrm>
            <a:off x="8121491" y="1302901"/>
            <a:ext cx="5946815" cy="15240"/>
          </a:xfrm>
          <a:prstGeom prst="rect">
            <a:avLst/>
          </a:prstGeom>
          <a:solidFill>
            <a:srgbClr val="008150"/>
          </a:solidFill>
          <a:ln/>
        </p:spPr>
        <p:txBody>
          <a:bodyPr/>
          <a:lstStyle/>
          <a:p>
            <a:endParaRPr lang="fr-CH"/>
          </a:p>
        </p:txBody>
      </p:sp>
      <p:sp>
        <p:nvSpPr>
          <p:cNvPr id="9" name="Text 7"/>
          <p:cNvSpPr/>
          <p:nvPr/>
        </p:nvSpPr>
        <p:spPr>
          <a:xfrm>
            <a:off x="8121491" y="1379577"/>
            <a:ext cx="5946815" cy="147995"/>
          </a:xfrm>
          <a:prstGeom prst="rect">
            <a:avLst/>
          </a:prstGeom>
          <a:noFill/>
          <a:ln/>
        </p:spPr>
        <p:txBody>
          <a:bodyPr wrap="non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Personnalisation N=1</a:t>
            </a:r>
            <a:r>
              <a:rPr lang="en-US" sz="700" dirty="0">
                <a:solidFill>
                  <a:srgbClr val="000000"/>
                </a:solidFill>
                <a:latin typeface="Inter" pitchFamily="34" charset="0"/>
                <a:ea typeface="Inter" pitchFamily="34" charset="-122"/>
                <a:cs typeface="Inter" pitchFamily="34" charset="-120"/>
              </a:rPr>
              <a:t> basée sur historique intégralement consenti du client connu (style Four Seasons : anticipation proactive)</a:t>
            </a:r>
            <a:endParaRPr lang="en-US" sz="700" dirty="0"/>
          </a:p>
        </p:txBody>
      </p:sp>
      <p:sp>
        <p:nvSpPr>
          <p:cNvPr id="10" name="Text 8"/>
          <p:cNvSpPr/>
          <p:nvPr/>
        </p:nvSpPr>
        <p:spPr>
          <a:xfrm>
            <a:off x="8121491" y="1689497"/>
            <a:ext cx="92512" cy="115610"/>
          </a:xfrm>
          <a:prstGeom prst="rect">
            <a:avLst/>
          </a:prstGeom>
          <a:noFill/>
          <a:ln/>
        </p:spPr>
        <p:txBody>
          <a:bodyPr wrap="none" lIns="0" tIns="0" rIns="0" bIns="0" rtlCol="0" anchor="t"/>
          <a:lstStyle/>
          <a:p>
            <a:pPr marL="0" indent="0" algn="l">
              <a:lnSpc>
                <a:spcPts val="1150"/>
              </a:lnSpc>
              <a:buNone/>
            </a:pPr>
            <a:r>
              <a:rPr lang="en-US" sz="700" dirty="0">
                <a:solidFill>
                  <a:srgbClr val="000000"/>
                </a:solidFill>
                <a:latin typeface="Inter Light" pitchFamily="34" charset="0"/>
                <a:ea typeface="Inter Light" pitchFamily="34" charset="-122"/>
                <a:cs typeface="Inter Light" pitchFamily="34" charset="-120"/>
              </a:rPr>
              <a:t>02</a:t>
            </a:r>
            <a:endParaRPr lang="en-US" sz="700" dirty="0"/>
          </a:p>
        </p:txBody>
      </p:sp>
      <p:sp>
        <p:nvSpPr>
          <p:cNvPr id="11" name="Shape 9"/>
          <p:cNvSpPr/>
          <p:nvPr/>
        </p:nvSpPr>
        <p:spPr>
          <a:xfrm>
            <a:off x="8121491" y="1831419"/>
            <a:ext cx="5946815" cy="15240"/>
          </a:xfrm>
          <a:prstGeom prst="rect">
            <a:avLst/>
          </a:prstGeom>
          <a:solidFill>
            <a:srgbClr val="E3001D"/>
          </a:solidFill>
          <a:ln/>
        </p:spPr>
        <p:txBody>
          <a:bodyPr/>
          <a:lstStyle/>
          <a:p>
            <a:endParaRPr lang="fr-CH"/>
          </a:p>
        </p:txBody>
      </p:sp>
      <p:sp>
        <p:nvSpPr>
          <p:cNvPr id="12" name="Text 10"/>
          <p:cNvSpPr/>
          <p:nvPr/>
        </p:nvSpPr>
        <p:spPr>
          <a:xfrm>
            <a:off x="8121491" y="1908096"/>
            <a:ext cx="5946815" cy="295989"/>
          </a:xfrm>
          <a:prstGeom prst="rect">
            <a:avLst/>
          </a:prstGeom>
          <a:noFill/>
          <a:ln/>
        </p:spPr>
        <p:txBody>
          <a:bodyPr wrap="squar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Patterns comportementaux régionaux</a:t>
            </a:r>
            <a:r>
              <a:rPr lang="en-US" sz="700" dirty="0">
                <a:solidFill>
                  <a:srgbClr val="000000"/>
                </a:solidFill>
                <a:latin typeface="Inter" pitchFamily="34" charset="0"/>
                <a:ea typeface="Inter" pitchFamily="34" charset="-122"/>
                <a:cs typeface="Inter" pitchFamily="34" charset="-120"/>
              </a:rPr>
              <a:t> comme hypothèses probabilistes testées via A/B tests, apprentissage comportement réel, validation humaine systématique</a:t>
            </a:r>
            <a:endParaRPr lang="en-US" sz="700" dirty="0"/>
          </a:p>
        </p:txBody>
      </p:sp>
      <p:sp>
        <p:nvSpPr>
          <p:cNvPr id="13" name="Text 11"/>
          <p:cNvSpPr/>
          <p:nvPr/>
        </p:nvSpPr>
        <p:spPr>
          <a:xfrm>
            <a:off x="8121491" y="2366010"/>
            <a:ext cx="92512" cy="115610"/>
          </a:xfrm>
          <a:prstGeom prst="rect">
            <a:avLst/>
          </a:prstGeom>
          <a:noFill/>
          <a:ln/>
        </p:spPr>
        <p:txBody>
          <a:bodyPr wrap="none" lIns="0" tIns="0" rIns="0" bIns="0" rtlCol="0" anchor="t"/>
          <a:lstStyle/>
          <a:p>
            <a:pPr marL="0" indent="0" algn="l">
              <a:lnSpc>
                <a:spcPts val="1150"/>
              </a:lnSpc>
              <a:buNone/>
            </a:pPr>
            <a:r>
              <a:rPr lang="en-US" sz="700" dirty="0">
                <a:solidFill>
                  <a:srgbClr val="000000"/>
                </a:solidFill>
                <a:latin typeface="Inter Light" pitchFamily="34" charset="0"/>
                <a:ea typeface="Inter Light" pitchFamily="34" charset="-122"/>
                <a:cs typeface="Inter Light" pitchFamily="34" charset="-120"/>
              </a:rPr>
              <a:t>03</a:t>
            </a:r>
            <a:endParaRPr lang="en-US" sz="700" dirty="0"/>
          </a:p>
        </p:txBody>
      </p:sp>
      <p:sp>
        <p:nvSpPr>
          <p:cNvPr id="14" name="Shape 12"/>
          <p:cNvSpPr/>
          <p:nvPr/>
        </p:nvSpPr>
        <p:spPr>
          <a:xfrm>
            <a:off x="8121491" y="2507933"/>
            <a:ext cx="5946815" cy="15240"/>
          </a:xfrm>
          <a:prstGeom prst="rect">
            <a:avLst/>
          </a:prstGeom>
          <a:solidFill>
            <a:srgbClr val="008150"/>
          </a:solidFill>
          <a:ln/>
        </p:spPr>
        <p:txBody>
          <a:bodyPr/>
          <a:lstStyle/>
          <a:p>
            <a:endParaRPr lang="fr-CH"/>
          </a:p>
        </p:txBody>
      </p:sp>
      <p:sp>
        <p:nvSpPr>
          <p:cNvPr id="15" name="Text 13"/>
          <p:cNvSpPr/>
          <p:nvPr/>
        </p:nvSpPr>
        <p:spPr>
          <a:xfrm>
            <a:off x="8121491" y="2584609"/>
            <a:ext cx="5946815" cy="147995"/>
          </a:xfrm>
          <a:prstGeom prst="rect">
            <a:avLst/>
          </a:prstGeom>
          <a:noFill/>
          <a:ln/>
        </p:spPr>
        <p:txBody>
          <a:bodyPr wrap="non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Care Agent augmenté</a:t>
            </a:r>
            <a:r>
              <a:rPr lang="en-US" sz="700" dirty="0">
                <a:solidFill>
                  <a:srgbClr val="000000"/>
                </a:solidFill>
                <a:latin typeface="Inter" pitchFamily="34" charset="0"/>
                <a:ea typeface="Inter" pitchFamily="34" charset="-122"/>
                <a:cs typeface="Inter" pitchFamily="34" charset="-120"/>
              </a:rPr>
              <a:t> : IA assure routage intelligent + MaIA fournit insights temps réel, mais l'humain décide toujours</a:t>
            </a:r>
            <a:endParaRPr lang="en-US" sz="700" dirty="0"/>
          </a:p>
        </p:txBody>
      </p:sp>
      <p:sp>
        <p:nvSpPr>
          <p:cNvPr id="16" name="Shape 14"/>
          <p:cNvSpPr/>
          <p:nvPr/>
        </p:nvSpPr>
        <p:spPr>
          <a:xfrm>
            <a:off x="569595" y="3056378"/>
            <a:ext cx="13491210" cy="19169"/>
          </a:xfrm>
          <a:prstGeom prst="rect">
            <a:avLst/>
          </a:prstGeom>
          <a:solidFill>
            <a:srgbClr val="000000">
              <a:alpha val="50000"/>
            </a:srgbClr>
          </a:solidFill>
          <a:ln/>
        </p:spPr>
        <p:txBody>
          <a:bodyPr/>
          <a:lstStyle/>
          <a:p>
            <a:endParaRPr lang="fr-CH"/>
          </a:p>
        </p:txBody>
      </p:sp>
      <p:sp>
        <p:nvSpPr>
          <p:cNvPr id="17" name="Text 15"/>
          <p:cNvSpPr/>
          <p:nvPr/>
        </p:nvSpPr>
        <p:spPr>
          <a:xfrm>
            <a:off x="569595" y="3272076"/>
            <a:ext cx="2178487" cy="181094"/>
          </a:xfrm>
          <a:prstGeom prst="rect">
            <a:avLst/>
          </a:prstGeom>
          <a:noFill/>
          <a:ln/>
        </p:spPr>
        <p:txBody>
          <a:bodyPr wrap="none" lIns="0" tIns="0" rIns="0" bIns="0" rtlCol="0" anchor="t"/>
          <a:lstStyle/>
          <a:p>
            <a:pPr marL="0" indent="0" algn="l">
              <a:lnSpc>
                <a:spcPts val="1350"/>
              </a:lnSpc>
              <a:buNone/>
            </a:pPr>
            <a:r>
              <a:rPr lang="en-US" sz="1050" b="1" dirty="0">
                <a:solidFill>
                  <a:srgbClr val="000000"/>
                </a:solidFill>
                <a:latin typeface="Inter Bold" pitchFamily="34" charset="0"/>
                <a:ea typeface="Inter Bold" pitchFamily="34" charset="-122"/>
                <a:cs typeface="Inter Bold" pitchFamily="34" charset="-120"/>
              </a:rPr>
              <a:t>❌ Le Piège à Éviter Absolument</a:t>
            </a:r>
            <a:endParaRPr lang="en-US" sz="1050" dirty="0"/>
          </a:p>
        </p:txBody>
      </p:sp>
      <p:sp>
        <p:nvSpPr>
          <p:cNvPr id="18" name="Text 16"/>
          <p:cNvSpPr/>
          <p:nvPr/>
        </p:nvSpPr>
        <p:spPr>
          <a:xfrm>
            <a:off x="569595" y="3545681"/>
            <a:ext cx="6632734" cy="147995"/>
          </a:xfrm>
          <a:prstGeom prst="rect">
            <a:avLst/>
          </a:prstGeom>
          <a:noFill/>
          <a:ln/>
        </p:spPr>
        <p:txBody>
          <a:bodyPr wrap="non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Jumeau Numérique Culturel automatisé client-facing</a:t>
            </a:r>
            <a:r>
              <a:rPr lang="en-US" sz="700" dirty="0">
                <a:solidFill>
                  <a:srgbClr val="000000"/>
                </a:solidFill>
                <a:latin typeface="Inter" pitchFamily="34" charset="0"/>
                <a:ea typeface="Inter" pitchFamily="34" charset="-122"/>
                <a:cs typeface="Inter" pitchFamily="34" charset="-120"/>
              </a:rPr>
              <a:t> = Risque triple intenable et existentiel :</a:t>
            </a:r>
            <a:endParaRPr lang="en-US" sz="700" dirty="0"/>
          </a:p>
        </p:txBody>
      </p:sp>
      <p:sp>
        <p:nvSpPr>
          <p:cNvPr id="19" name="Text 17"/>
          <p:cNvSpPr/>
          <p:nvPr/>
        </p:nvSpPr>
        <p:spPr>
          <a:xfrm>
            <a:off x="569595" y="3776901"/>
            <a:ext cx="6632734" cy="295989"/>
          </a:xfrm>
          <a:prstGeom prst="rect">
            <a:avLst/>
          </a:prstGeom>
          <a:noFill/>
          <a:ln/>
        </p:spPr>
        <p:txBody>
          <a:bodyPr wrap="square" lIns="0" tIns="0" rIns="0" bIns="0" rtlCol="0" anchor="t"/>
          <a:lstStyle/>
          <a:p>
            <a:pPr marL="342900" indent="-342900" algn="l">
              <a:lnSpc>
                <a:spcPts val="1150"/>
              </a:lnSpc>
              <a:buSzPct val="100000"/>
              <a:buFont typeface="+mj-lt"/>
              <a:buAutoNum type="arabicPeriod"/>
            </a:pPr>
            <a:r>
              <a:rPr lang="en-US" sz="700" b="1" dirty="0">
                <a:solidFill>
                  <a:srgbClr val="000000"/>
                </a:solidFill>
                <a:latin typeface="Inter" pitchFamily="34" charset="0"/>
                <a:ea typeface="Inter" pitchFamily="34" charset="-122"/>
                <a:cs typeface="Inter" pitchFamily="34" charset="-120"/>
              </a:rPr>
              <a:t>Risque Légal :</a:t>
            </a:r>
            <a:r>
              <a:rPr lang="en-US" sz="700" dirty="0">
                <a:solidFill>
                  <a:srgbClr val="000000"/>
                </a:solidFill>
                <a:latin typeface="Inter" pitchFamily="34" charset="0"/>
                <a:ea typeface="Inter" pitchFamily="34" charset="-122"/>
                <a:cs typeface="Inter" pitchFamily="34" charset="-120"/>
              </a:rPr>
              <a:t> Violation frontale GDPR Article 22 (profilage automatisé interdit), EU AI Act classifie système "haut risque" (contraintes conformité lourdes)</a:t>
            </a:r>
            <a:endParaRPr lang="en-US" sz="700" dirty="0"/>
          </a:p>
        </p:txBody>
      </p:sp>
      <p:sp>
        <p:nvSpPr>
          <p:cNvPr id="20" name="Text 18"/>
          <p:cNvSpPr/>
          <p:nvPr/>
        </p:nvSpPr>
        <p:spPr>
          <a:xfrm>
            <a:off x="569595" y="4105275"/>
            <a:ext cx="6632734" cy="147995"/>
          </a:xfrm>
          <a:prstGeom prst="rect">
            <a:avLst/>
          </a:prstGeom>
          <a:noFill/>
          <a:ln/>
        </p:spPr>
        <p:txBody>
          <a:bodyPr wrap="none" lIns="0" tIns="0" rIns="0" bIns="0" rtlCol="0" anchor="t"/>
          <a:lstStyle/>
          <a:p>
            <a:pPr marL="342900" indent="-342900" algn="l">
              <a:lnSpc>
                <a:spcPts val="1150"/>
              </a:lnSpc>
              <a:buSzPct val="100000"/>
              <a:buFont typeface="+mj-lt"/>
              <a:buAutoNum type="arabicPeriod" startAt="2"/>
            </a:pPr>
            <a:r>
              <a:rPr lang="en-US" sz="700" b="1" dirty="0">
                <a:solidFill>
                  <a:srgbClr val="000000"/>
                </a:solidFill>
                <a:latin typeface="Inter" pitchFamily="34" charset="0"/>
                <a:ea typeface="Inter" pitchFamily="34" charset="-122"/>
                <a:cs typeface="Inter" pitchFamily="34" charset="-120"/>
              </a:rPr>
              <a:t>Risque Éthique :</a:t>
            </a:r>
            <a:r>
              <a:rPr lang="en-US" sz="700" dirty="0">
                <a:solidFill>
                  <a:srgbClr val="000000"/>
                </a:solidFill>
                <a:latin typeface="Inter" pitchFamily="34" charset="0"/>
                <a:ea typeface="Inter" pitchFamily="34" charset="-122"/>
                <a:cs typeface="Inter" pitchFamily="34" charset="-120"/>
              </a:rPr>
              <a:t> Stéréotypage culturel = dommage de marque potentiellement irréversible, "AI Booing" = backlash public médiatisé</a:t>
            </a:r>
            <a:endParaRPr lang="en-US" sz="700" dirty="0"/>
          </a:p>
        </p:txBody>
      </p:sp>
      <p:sp>
        <p:nvSpPr>
          <p:cNvPr id="21" name="Text 19"/>
          <p:cNvSpPr/>
          <p:nvPr/>
        </p:nvSpPr>
        <p:spPr>
          <a:xfrm>
            <a:off x="569595" y="4285655"/>
            <a:ext cx="6632734" cy="295989"/>
          </a:xfrm>
          <a:prstGeom prst="rect">
            <a:avLst/>
          </a:prstGeom>
          <a:noFill/>
          <a:ln/>
        </p:spPr>
        <p:txBody>
          <a:bodyPr wrap="square" lIns="0" tIns="0" rIns="0" bIns="0" rtlCol="0" anchor="t"/>
          <a:lstStyle/>
          <a:p>
            <a:pPr marL="342900" indent="-342900" algn="l">
              <a:lnSpc>
                <a:spcPts val="1150"/>
              </a:lnSpc>
              <a:buSzPct val="100000"/>
              <a:buFont typeface="+mj-lt"/>
              <a:buAutoNum type="arabicPeriod" startAt="3"/>
            </a:pPr>
            <a:r>
              <a:rPr lang="en-US" sz="700" b="1" dirty="0">
                <a:solidFill>
                  <a:srgbClr val="000000"/>
                </a:solidFill>
                <a:latin typeface="Inter" pitchFamily="34" charset="0"/>
                <a:ea typeface="Inter" pitchFamily="34" charset="-122"/>
                <a:cs typeface="Inter" pitchFamily="34" charset="-120"/>
              </a:rPr>
              <a:t>Risque Stratégique :</a:t>
            </a:r>
            <a:r>
              <a:rPr lang="en-US" sz="700" dirty="0">
                <a:solidFill>
                  <a:srgbClr val="000000"/>
                </a:solidFill>
                <a:latin typeface="Inter" pitchFamily="34" charset="0"/>
                <a:ea typeface="Inter" pitchFamily="34" charset="-122"/>
                <a:cs typeface="Inter" pitchFamily="34" charset="-120"/>
              </a:rPr>
              <a:t> Sur-optimisation algorithmique tue la sérendipité (cas validé LVMH : IA trop précise → stagnation, pivot "déséquilibres stratégiques" → +23% conversion prouve qu'une IA excessivement précise devient contre-productive dans le luxe)</a:t>
            </a:r>
            <a:endParaRPr lang="en-US" sz="700" dirty="0"/>
          </a:p>
        </p:txBody>
      </p:sp>
      <p:sp>
        <p:nvSpPr>
          <p:cNvPr id="22" name="Text 20"/>
          <p:cNvSpPr/>
          <p:nvPr/>
        </p:nvSpPr>
        <p:spPr>
          <a:xfrm>
            <a:off x="7435691" y="3272076"/>
            <a:ext cx="2456140" cy="181094"/>
          </a:xfrm>
          <a:prstGeom prst="rect">
            <a:avLst/>
          </a:prstGeom>
          <a:noFill/>
          <a:ln/>
        </p:spPr>
        <p:txBody>
          <a:bodyPr wrap="none" lIns="0" tIns="0" rIns="0" bIns="0" rtlCol="0" anchor="t"/>
          <a:lstStyle/>
          <a:p>
            <a:pPr marL="0" indent="0" algn="l">
              <a:lnSpc>
                <a:spcPts val="1350"/>
              </a:lnSpc>
              <a:buNone/>
            </a:pPr>
            <a:r>
              <a:rPr lang="en-US" sz="1050" b="1" dirty="0">
                <a:solidFill>
                  <a:srgbClr val="000000"/>
                </a:solidFill>
                <a:latin typeface="Inter Bold" pitchFamily="34" charset="0"/>
                <a:ea typeface="Inter Bold" pitchFamily="34" charset="-122"/>
                <a:cs typeface="Inter Bold" pitchFamily="34" charset="-120"/>
              </a:rPr>
              <a:t>✅ La Voie Recommandée Sécurisée</a:t>
            </a:r>
            <a:endParaRPr lang="en-US" sz="1050" dirty="0"/>
          </a:p>
        </p:txBody>
      </p:sp>
      <p:sp>
        <p:nvSpPr>
          <p:cNvPr id="23" name="Text 21"/>
          <p:cNvSpPr/>
          <p:nvPr/>
        </p:nvSpPr>
        <p:spPr>
          <a:xfrm>
            <a:off x="7435691" y="3545681"/>
            <a:ext cx="6632734" cy="147995"/>
          </a:xfrm>
          <a:prstGeom prst="rect">
            <a:avLst/>
          </a:prstGeom>
          <a:noFill/>
          <a:ln/>
        </p:spPr>
        <p:txBody>
          <a:bodyPr wrap="non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Roadmap progressive 4 phases validée :</a:t>
            </a:r>
            <a:endParaRPr lang="en-US" sz="700" dirty="0"/>
          </a:p>
        </p:txBody>
      </p:sp>
      <p:sp>
        <p:nvSpPr>
          <p:cNvPr id="24" name="Text 22"/>
          <p:cNvSpPr/>
          <p:nvPr/>
        </p:nvSpPr>
        <p:spPr>
          <a:xfrm>
            <a:off x="7435691" y="3776901"/>
            <a:ext cx="6632734" cy="147995"/>
          </a:xfrm>
          <a:prstGeom prst="rect">
            <a:avLst/>
          </a:prstGeom>
          <a:noFill/>
          <a:ln/>
        </p:spPr>
        <p:txBody>
          <a:bodyPr wrap="none" lIns="0" tIns="0" rIns="0" bIns="0" rtlCol="0" anchor="t"/>
          <a:lstStyle/>
          <a:p>
            <a:pPr marL="342900" indent="-342900" algn="l">
              <a:lnSpc>
                <a:spcPts val="1150"/>
              </a:lnSpc>
              <a:buSzPct val="100000"/>
              <a:buChar char="•"/>
            </a:pPr>
            <a:r>
              <a:rPr lang="en-US" sz="700" dirty="0">
                <a:solidFill>
                  <a:srgbClr val="000000"/>
                </a:solidFill>
                <a:latin typeface="Inter" pitchFamily="34" charset="0"/>
                <a:ea typeface="Inter" pitchFamily="34" charset="-122"/>
                <a:cs typeface="Inter" pitchFamily="34" charset="-120"/>
              </a:rPr>
              <a:t>Phase 1 </a:t>
            </a:r>
            <a:r>
              <a:rPr lang="en-US" sz="700" b="1" dirty="0">
                <a:solidFill>
                  <a:srgbClr val="000000"/>
                </a:solidFill>
                <a:latin typeface="Inter" pitchFamily="34" charset="0"/>
                <a:ea typeface="Inter" pitchFamily="34" charset="-122"/>
                <a:cs typeface="Inter" pitchFamily="34" charset="-120"/>
              </a:rPr>
              <a:t>CODIFIER</a:t>
            </a:r>
            <a:r>
              <a:rPr lang="en-US" sz="700" dirty="0">
                <a:solidFill>
                  <a:srgbClr val="000000"/>
                </a:solidFill>
                <a:latin typeface="Inter" pitchFamily="34" charset="0"/>
                <a:ea typeface="Inter" pitchFamily="34" charset="-122"/>
                <a:cs typeface="Inter" pitchFamily="34" charset="-120"/>
              </a:rPr>
              <a:t> savoir-faire (6 mois, 150K CHF, simulateur interne sécurisé)</a:t>
            </a:r>
            <a:endParaRPr lang="en-US" sz="700" dirty="0"/>
          </a:p>
        </p:txBody>
      </p:sp>
      <p:sp>
        <p:nvSpPr>
          <p:cNvPr id="25" name="Text 23"/>
          <p:cNvSpPr/>
          <p:nvPr/>
        </p:nvSpPr>
        <p:spPr>
          <a:xfrm>
            <a:off x="7435691" y="3957280"/>
            <a:ext cx="6632734" cy="147995"/>
          </a:xfrm>
          <a:prstGeom prst="rect">
            <a:avLst/>
          </a:prstGeom>
          <a:noFill/>
          <a:ln/>
        </p:spPr>
        <p:txBody>
          <a:bodyPr wrap="none" lIns="0" tIns="0" rIns="0" bIns="0" rtlCol="0" anchor="t"/>
          <a:lstStyle/>
          <a:p>
            <a:pPr marL="342900" indent="-342900" algn="l">
              <a:lnSpc>
                <a:spcPts val="1150"/>
              </a:lnSpc>
              <a:buSzPct val="100000"/>
              <a:buChar char="•"/>
            </a:pPr>
            <a:r>
              <a:rPr lang="en-US" sz="700" dirty="0">
                <a:solidFill>
                  <a:srgbClr val="000000"/>
                </a:solidFill>
                <a:latin typeface="Inter" pitchFamily="34" charset="0"/>
                <a:ea typeface="Inter" pitchFamily="34" charset="-122"/>
                <a:cs typeface="Inter" pitchFamily="34" charset="-120"/>
              </a:rPr>
              <a:t>Phase 2 </a:t>
            </a:r>
            <a:r>
              <a:rPr lang="en-US" sz="700" b="1" dirty="0">
                <a:solidFill>
                  <a:srgbClr val="000000"/>
                </a:solidFill>
                <a:latin typeface="Inter" pitchFamily="34" charset="0"/>
                <a:ea typeface="Inter" pitchFamily="34" charset="-122"/>
                <a:cs typeface="Inter" pitchFamily="34" charset="-120"/>
              </a:rPr>
              <a:t>UNIFIER</a:t>
            </a:r>
            <a:r>
              <a:rPr lang="en-US" sz="700" dirty="0">
                <a:solidFill>
                  <a:srgbClr val="000000"/>
                </a:solidFill>
                <a:latin typeface="Inter" pitchFamily="34" charset="0"/>
                <a:ea typeface="Inter" pitchFamily="34" charset="-122"/>
                <a:cs typeface="Inter" pitchFamily="34" charset="-120"/>
              </a:rPr>
              <a:t> données (12 mois, 400K CHF, CDP résout fragmentation critique)</a:t>
            </a:r>
            <a:endParaRPr lang="en-US" sz="700" dirty="0"/>
          </a:p>
        </p:txBody>
      </p:sp>
      <p:sp>
        <p:nvSpPr>
          <p:cNvPr id="26" name="Text 24"/>
          <p:cNvSpPr/>
          <p:nvPr/>
        </p:nvSpPr>
        <p:spPr>
          <a:xfrm>
            <a:off x="7435691" y="4137660"/>
            <a:ext cx="6632734" cy="147995"/>
          </a:xfrm>
          <a:prstGeom prst="rect">
            <a:avLst/>
          </a:prstGeom>
          <a:noFill/>
          <a:ln/>
        </p:spPr>
        <p:txBody>
          <a:bodyPr wrap="none" lIns="0" tIns="0" rIns="0" bIns="0" rtlCol="0" anchor="t"/>
          <a:lstStyle/>
          <a:p>
            <a:pPr marL="342900" indent="-342900" algn="l">
              <a:lnSpc>
                <a:spcPts val="1150"/>
              </a:lnSpc>
              <a:buSzPct val="100000"/>
              <a:buChar char="•"/>
            </a:pPr>
            <a:r>
              <a:rPr lang="en-US" sz="700" dirty="0">
                <a:solidFill>
                  <a:srgbClr val="000000"/>
                </a:solidFill>
                <a:latin typeface="Inter" pitchFamily="34" charset="0"/>
                <a:ea typeface="Inter" pitchFamily="34" charset="-122"/>
                <a:cs typeface="Inter" pitchFamily="34" charset="-120"/>
              </a:rPr>
              <a:t>Phase 3 </a:t>
            </a:r>
            <a:r>
              <a:rPr lang="en-US" sz="700" b="1" dirty="0">
                <a:solidFill>
                  <a:srgbClr val="000000"/>
                </a:solidFill>
                <a:latin typeface="Inter" pitchFamily="34" charset="0"/>
                <a:ea typeface="Inter" pitchFamily="34" charset="-122"/>
                <a:cs typeface="Inter" pitchFamily="34" charset="-120"/>
              </a:rPr>
              <a:t>PERSONNALISER N=1</a:t>
            </a:r>
            <a:r>
              <a:rPr lang="en-US" sz="700" dirty="0">
                <a:solidFill>
                  <a:srgbClr val="000000"/>
                </a:solidFill>
                <a:latin typeface="Inter" pitchFamily="34" charset="0"/>
                <a:ea typeface="Inter" pitchFamily="34" charset="-122"/>
                <a:cs typeface="Inter" pitchFamily="34" charset="-120"/>
              </a:rPr>
              <a:t> (18 mois, 400K CHF, Care Agent augmenté via MaIA)</a:t>
            </a:r>
            <a:endParaRPr lang="en-US" sz="700" dirty="0"/>
          </a:p>
        </p:txBody>
      </p:sp>
      <p:sp>
        <p:nvSpPr>
          <p:cNvPr id="27" name="Text 25"/>
          <p:cNvSpPr/>
          <p:nvPr/>
        </p:nvSpPr>
        <p:spPr>
          <a:xfrm>
            <a:off x="7435691" y="4318040"/>
            <a:ext cx="6632734" cy="147995"/>
          </a:xfrm>
          <a:prstGeom prst="rect">
            <a:avLst/>
          </a:prstGeom>
          <a:noFill/>
          <a:ln/>
        </p:spPr>
        <p:txBody>
          <a:bodyPr wrap="none" lIns="0" tIns="0" rIns="0" bIns="0" rtlCol="0" anchor="t"/>
          <a:lstStyle/>
          <a:p>
            <a:pPr marL="342900" indent="-342900" algn="l">
              <a:lnSpc>
                <a:spcPts val="1150"/>
              </a:lnSpc>
              <a:buSzPct val="100000"/>
              <a:buChar char="•"/>
            </a:pPr>
            <a:r>
              <a:rPr lang="en-US" sz="700" dirty="0">
                <a:solidFill>
                  <a:srgbClr val="000000"/>
                </a:solidFill>
                <a:latin typeface="Inter" pitchFamily="34" charset="0"/>
                <a:ea typeface="Inter" pitchFamily="34" charset="-122"/>
                <a:cs typeface="Inter" pitchFamily="34" charset="-120"/>
              </a:rPr>
              <a:t>Phase 4 </a:t>
            </a:r>
            <a:r>
              <a:rPr lang="en-US" sz="700" b="1" dirty="0">
                <a:solidFill>
                  <a:srgbClr val="000000"/>
                </a:solidFill>
                <a:latin typeface="Inter" pitchFamily="34" charset="0"/>
                <a:ea typeface="Inter" pitchFamily="34" charset="-122"/>
                <a:cs typeface="Inter" pitchFamily="34" charset="-120"/>
              </a:rPr>
              <a:t>EXPÉRIMENTER</a:t>
            </a:r>
            <a:r>
              <a:rPr lang="en-US" sz="700" dirty="0">
                <a:solidFill>
                  <a:srgbClr val="000000"/>
                </a:solidFill>
                <a:latin typeface="Inter" pitchFamily="34" charset="0"/>
                <a:ea typeface="Inter" pitchFamily="34" charset="-122"/>
                <a:cs typeface="Inter" pitchFamily="34" charset="-120"/>
              </a:rPr>
              <a:t> (24 mois, 400K CHF, A/B tests patterns + scale global)</a:t>
            </a:r>
            <a:endParaRPr lang="en-US" sz="700" dirty="0"/>
          </a:p>
        </p:txBody>
      </p:sp>
      <p:sp>
        <p:nvSpPr>
          <p:cNvPr id="28" name="Text 26"/>
          <p:cNvSpPr/>
          <p:nvPr/>
        </p:nvSpPr>
        <p:spPr>
          <a:xfrm>
            <a:off x="7435691" y="4549259"/>
            <a:ext cx="6632734" cy="147995"/>
          </a:xfrm>
          <a:prstGeom prst="rect">
            <a:avLst/>
          </a:prstGeom>
          <a:noFill/>
          <a:ln/>
        </p:spPr>
        <p:txBody>
          <a:bodyPr wrap="non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Financier :</a:t>
            </a:r>
            <a:r>
              <a:rPr lang="en-US" sz="700" dirty="0">
                <a:solidFill>
                  <a:srgbClr val="000000"/>
                </a:solidFill>
                <a:latin typeface="Inter" pitchFamily="34" charset="0"/>
                <a:ea typeface="Inter" pitchFamily="34" charset="-122"/>
                <a:cs typeface="Inter" pitchFamily="34" charset="-120"/>
              </a:rPr>
              <a:t> Budget total maîtrisé 1.35M CHF, ROI attendu +20M CHF/an, break-even rapide à 6 mois.</a:t>
            </a:r>
            <a:endParaRPr lang="en-US" sz="700" dirty="0"/>
          </a:p>
        </p:txBody>
      </p:sp>
      <p:sp>
        <p:nvSpPr>
          <p:cNvPr id="29" name="Shape 27"/>
          <p:cNvSpPr/>
          <p:nvPr/>
        </p:nvSpPr>
        <p:spPr>
          <a:xfrm>
            <a:off x="569595" y="4930779"/>
            <a:ext cx="13491210" cy="19169"/>
          </a:xfrm>
          <a:prstGeom prst="rect">
            <a:avLst/>
          </a:prstGeom>
          <a:solidFill>
            <a:srgbClr val="000000">
              <a:alpha val="50000"/>
            </a:srgbClr>
          </a:solidFill>
          <a:ln/>
        </p:spPr>
        <p:txBody>
          <a:bodyPr/>
          <a:lstStyle/>
          <a:p>
            <a:endParaRPr lang="fr-CH"/>
          </a:p>
        </p:txBody>
      </p:sp>
      <p:sp>
        <p:nvSpPr>
          <p:cNvPr id="30" name="Text 28"/>
          <p:cNvSpPr/>
          <p:nvPr/>
        </p:nvSpPr>
        <p:spPr>
          <a:xfrm>
            <a:off x="569595" y="5088731"/>
            <a:ext cx="2208014" cy="144661"/>
          </a:xfrm>
          <a:prstGeom prst="rect">
            <a:avLst/>
          </a:prstGeom>
          <a:noFill/>
          <a:ln/>
        </p:spPr>
        <p:txBody>
          <a:bodyPr wrap="none" lIns="0" tIns="0" rIns="0" bIns="0" rtlCol="0" anchor="t"/>
          <a:lstStyle/>
          <a:p>
            <a:pPr marL="0" indent="0" algn="l">
              <a:lnSpc>
                <a:spcPts val="1100"/>
              </a:lnSpc>
              <a:buNone/>
            </a:pPr>
            <a:r>
              <a:rPr lang="en-US" sz="900" b="1" dirty="0">
                <a:solidFill>
                  <a:srgbClr val="000000"/>
                </a:solidFill>
                <a:latin typeface="Inter Bold" pitchFamily="34" charset="0"/>
                <a:ea typeface="Inter Bold" pitchFamily="34" charset="-122"/>
                <a:cs typeface="Inter Bold" pitchFamily="34" charset="-120"/>
              </a:rPr>
              <a:t>Différenciation Concurrentielle Durable</a:t>
            </a:r>
            <a:endParaRPr lang="en-US" sz="900" dirty="0"/>
          </a:p>
        </p:txBody>
      </p:sp>
      <p:sp>
        <p:nvSpPr>
          <p:cNvPr id="31" name="Text 29"/>
          <p:cNvSpPr/>
          <p:nvPr/>
        </p:nvSpPr>
        <p:spPr>
          <a:xfrm>
            <a:off x="569595" y="5372219"/>
            <a:ext cx="13491210" cy="295989"/>
          </a:xfrm>
          <a:prstGeom prst="rect">
            <a:avLst/>
          </a:prstGeom>
          <a:noFill/>
          <a:ln/>
        </p:spPr>
        <p:txBody>
          <a:bodyPr wrap="square" lIns="0" tIns="0" rIns="0" bIns="0" rtlCol="0" anchor="t"/>
          <a:lstStyle/>
          <a:p>
            <a:pPr marL="0" indent="0" algn="l">
              <a:lnSpc>
                <a:spcPts val="1150"/>
              </a:lnSpc>
              <a:buNone/>
            </a:pPr>
            <a:r>
              <a:rPr lang="en-US" sz="700" b="1" dirty="0">
                <a:solidFill>
                  <a:srgbClr val="000000"/>
                </a:solidFill>
                <a:latin typeface="Inter" pitchFamily="34" charset="0"/>
                <a:ea typeface="Inter" pitchFamily="34" charset="-122"/>
                <a:cs typeface="Inter" pitchFamily="34" charset="-120"/>
              </a:rPr>
              <a:t>Philosophie "Quiet Tech" LVMH respectée :</a:t>
            </a:r>
            <a:r>
              <a:rPr lang="en-US" sz="700" dirty="0">
                <a:solidFill>
                  <a:srgbClr val="000000"/>
                </a:solidFill>
                <a:latin typeface="Inter" pitchFamily="34" charset="0"/>
                <a:ea typeface="Inter" pitchFamily="34" charset="-122"/>
                <a:cs typeface="Inter" pitchFamily="34" charset="-120"/>
              </a:rPr>
              <a:t> L'IA reste invisible pour le client final (expérience fluide et naturelle), mais devient indispensable pour l'employé (augmentation capacités humaines, jamais remplacement). </a:t>
            </a:r>
            <a:r>
              <a:rPr lang="en-US" sz="700" b="1" dirty="0">
                <a:solidFill>
                  <a:srgbClr val="000000"/>
                </a:solidFill>
                <a:latin typeface="Inter" pitchFamily="34" charset="0"/>
                <a:ea typeface="Inter" pitchFamily="34" charset="-122"/>
                <a:cs typeface="Inter" pitchFamily="34" charset="-120"/>
              </a:rPr>
              <a:t>Architecture fédérée :</a:t>
            </a:r>
            <a:r>
              <a:rPr lang="en-US" sz="700" dirty="0">
                <a:solidFill>
                  <a:srgbClr val="000000"/>
                </a:solidFill>
                <a:latin typeface="Inter" pitchFamily="34" charset="0"/>
                <a:ea typeface="Inter" pitchFamily="34" charset="-122"/>
                <a:cs typeface="Inter" pitchFamily="34" charset="-120"/>
              </a:rPr>
              <a:t> Garantit conformité régionale + performance locale optimale, GDPR/PIPL respectés by design (pas de correctif coûteux a posteriori). </a:t>
            </a:r>
            <a:r>
              <a:rPr lang="en-US" sz="700" b="1" dirty="0">
                <a:solidFill>
                  <a:srgbClr val="000000"/>
                </a:solidFill>
                <a:latin typeface="Inter" pitchFamily="34" charset="0"/>
                <a:ea typeface="Inter" pitchFamily="34" charset="-122"/>
                <a:cs typeface="Inter" pitchFamily="34" charset="-120"/>
              </a:rPr>
              <a:t>Human-in-the-loop systématique :</a:t>
            </a:r>
            <a:r>
              <a:rPr lang="en-US" sz="700" dirty="0">
                <a:solidFill>
                  <a:srgbClr val="000000"/>
                </a:solidFill>
                <a:latin typeface="Inter" pitchFamily="34" charset="0"/>
                <a:ea typeface="Inter" pitchFamily="34" charset="-122"/>
                <a:cs typeface="Inter" pitchFamily="34" charset="-120"/>
              </a:rPr>
              <a:t> Validation humaine obligatoire à chaque décision client-facing préserve l'authenticité fondamentale de la relation luxe.</a:t>
            </a:r>
            <a:endParaRPr lang="en-US" sz="700" dirty="0"/>
          </a:p>
        </p:txBody>
      </p:sp>
      <p:sp>
        <p:nvSpPr>
          <p:cNvPr id="32" name="Shape 30"/>
          <p:cNvSpPr/>
          <p:nvPr/>
        </p:nvSpPr>
        <p:spPr>
          <a:xfrm>
            <a:off x="569595" y="5772269"/>
            <a:ext cx="13491210" cy="968931"/>
          </a:xfrm>
          <a:prstGeom prst="roundRect">
            <a:avLst>
              <a:gd name="adj" fmla="val 4012"/>
            </a:avLst>
          </a:prstGeom>
          <a:solidFill>
            <a:srgbClr val="B3FFE2"/>
          </a:solidFill>
          <a:ln/>
        </p:spPr>
        <p:txBody>
          <a:bodyPr/>
          <a:lstStyle/>
          <a:p>
            <a:endParaRPr lang="fr-CH"/>
          </a:p>
        </p:txBody>
      </p:sp>
      <p:pic>
        <p:nvPicPr>
          <p:cNvPr id="33" name="Image 0" descr="preencoded.png"/>
          <p:cNvPicPr>
            <a:picLocks noChangeAspect="1"/>
          </p:cNvPicPr>
          <p:nvPr/>
        </p:nvPicPr>
        <p:blipFill>
          <a:blip r:embed="rId3"/>
          <a:stretch>
            <a:fillRect/>
          </a:stretch>
        </p:blipFill>
        <p:spPr>
          <a:xfrm>
            <a:off x="662107" y="5903476"/>
            <a:ext cx="173474" cy="138827"/>
          </a:xfrm>
          <a:prstGeom prst="rect">
            <a:avLst/>
          </a:prstGeom>
        </p:spPr>
      </p:pic>
      <p:sp>
        <p:nvSpPr>
          <p:cNvPr id="34" name="Text 31"/>
          <p:cNvSpPr/>
          <p:nvPr/>
        </p:nvSpPr>
        <p:spPr>
          <a:xfrm>
            <a:off x="928092" y="5887879"/>
            <a:ext cx="3382089" cy="173474"/>
          </a:xfrm>
          <a:prstGeom prst="rect">
            <a:avLst/>
          </a:prstGeom>
          <a:noFill/>
          <a:ln/>
        </p:spPr>
        <p:txBody>
          <a:bodyPr wrap="none" lIns="0" tIns="0" rIns="0" bIns="0" rtlCol="0" anchor="t"/>
          <a:lstStyle/>
          <a:p>
            <a:pPr marL="0" indent="0" algn="l">
              <a:lnSpc>
                <a:spcPts val="1350"/>
              </a:lnSpc>
              <a:buNone/>
            </a:pPr>
            <a:r>
              <a:rPr lang="en-US" sz="1050" b="1" dirty="0">
                <a:solidFill>
                  <a:srgbClr val="000000"/>
                </a:solidFill>
                <a:latin typeface="Inter Bold" pitchFamily="34" charset="0"/>
                <a:ea typeface="Inter Bold" pitchFamily="34" charset="-122"/>
                <a:cs typeface="Inter Bold" pitchFamily="34" charset="-120"/>
              </a:rPr>
              <a:t>Call-to-Action Immédiat pour Direction TAG Heuer</a:t>
            </a:r>
            <a:endParaRPr lang="en-US" sz="1050" dirty="0"/>
          </a:p>
        </p:txBody>
      </p:sp>
      <p:sp>
        <p:nvSpPr>
          <p:cNvPr id="35" name="Text 32"/>
          <p:cNvSpPr/>
          <p:nvPr/>
        </p:nvSpPr>
        <p:spPr>
          <a:xfrm>
            <a:off x="928092" y="6153864"/>
            <a:ext cx="13040201" cy="147995"/>
          </a:xfrm>
          <a:prstGeom prst="rect">
            <a:avLst/>
          </a:prstGeom>
          <a:noFill/>
          <a:ln/>
        </p:spPr>
        <p:txBody>
          <a:bodyPr wrap="none" lIns="0" tIns="0" rIns="0" bIns="0" rtlCol="0" anchor="t"/>
          <a:lstStyle/>
          <a:p>
            <a:pPr marL="342900" indent="-342900" algn="l">
              <a:lnSpc>
                <a:spcPts val="1150"/>
              </a:lnSpc>
              <a:buSzPct val="100000"/>
              <a:buFont typeface="+mj-lt"/>
              <a:buAutoNum type="arabicPeriod"/>
            </a:pPr>
            <a:r>
              <a:rPr lang="en-US" sz="700" b="1" dirty="0">
                <a:solidFill>
                  <a:srgbClr val="000000"/>
                </a:solidFill>
                <a:latin typeface="Inter" pitchFamily="34" charset="0"/>
                <a:ea typeface="Inter" pitchFamily="34" charset="-122"/>
                <a:cs typeface="Inter" pitchFamily="34" charset="-120"/>
              </a:rPr>
              <a:t>Valider le lancement Phase 1 :</a:t>
            </a:r>
            <a:r>
              <a:rPr lang="en-US" sz="700" dirty="0">
                <a:solidFill>
                  <a:srgbClr val="000000"/>
                </a:solidFill>
                <a:latin typeface="Inter" pitchFamily="34" charset="0"/>
                <a:ea typeface="Inter" pitchFamily="34" charset="-122"/>
                <a:cs typeface="Inter" pitchFamily="34" charset="-120"/>
              </a:rPr>
              <a:t> Bac à Sable Comportemental (6-9 mois, environnement 100% sécurisé avec zéro donnée client réelle, codification systématique du savoir-faire des meilleurs vendeurs mondiaux TAG Heuer)</a:t>
            </a:r>
            <a:endParaRPr lang="en-US" sz="700" dirty="0"/>
          </a:p>
        </p:txBody>
      </p:sp>
      <p:sp>
        <p:nvSpPr>
          <p:cNvPr id="36" name="Text 33"/>
          <p:cNvSpPr/>
          <p:nvPr/>
        </p:nvSpPr>
        <p:spPr>
          <a:xfrm>
            <a:off x="928092" y="6334244"/>
            <a:ext cx="13040201" cy="147995"/>
          </a:xfrm>
          <a:prstGeom prst="rect">
            <a:avLst/>
          </a:prstGeom>
          <a:noFill/>
          <a:ln/>
        </p:spPr>
        <p:txBody>
          <a:bodyPr wrap="none" lIns="0" tIns="0" rIns="0" bIns="0" rtlCol="0" anchor="t"/>
          <a:lstStyle/>
          <a:p>
            <a:pPr marL="342900" indent="-342900" algn="l">
              <a:lnSpc>
                <a:spcPts val="1150"/>
              </a:lnSpc>
              <a:buSzPct val="100000"/>
              <a:buFont typeface="+mj-lt"/>
              <a:buAutoNum type="arabicPeriod" startAt="2"/>
            </a:pPr>
            <a:r>
              <a:rPr lang="en-US" sz="700" b="1" dirty="0">
                <a:solidFill>
                  <a:srgbClr val="000000"/>
                </a:solidFill>
                <a:latin typeface="Inter" pitchFamily="34" charset="0"/>
                <a:ea typeface="Inter" pitchFamily="34" charset="-122"/>
                <a:cs typeface="Inter" pitchFamily="34" charset="-120"/>
              </a:rPr>
              <a:t>Initier le chantier prioritaire absolu :</a:t>
            </a:r>
            <a:r>
              <a:rPr lang="en-US" sz="700" dirty="0">
                <a:solidFill>
                  <a:srgbClr val="000000"/>
                </a:solidFill>
                <a:latin typeface="Inter" pitchFamily="34" charset="0"/>
                <a:ea typeface="Inter" pitchFamily="34" charset="-122"/>
                <a:cs typeface="Inter" pitchFamily="34" charset="-120"/>
              </a:rPr>
              <a:t> Implémentation de la Customer Data Platform (résolution définitive de la fragmentation données online/offline = prérequis technique non négociable pour toute personnalisation N=1 crédible)</a:t>
            </a:r>
            <a:endParaRPr lang="en-US" sz="700" dirty="0"/>
          </a:p>
        </p:txBody>
      </p:sp>
      <p:sp>
        <p:nvSpPr>
          <p:cNvPr id="37" name="Text 34"/>
          <p:cNvSpPr/>
          <p:nvPr/>
        </p:nvSpPr>
        <p:spPr>
          <a:xfrm>
            <a:off x="928092" y="6514624"/>
            <a:ext cx="13040201" cy="147995"/>
          </a:xfrm>
          <a:prstGeom prst="rect">
            <a:avLst/>
          </a:prstGeom>
          <a:noFill/>
          <a:ln/>
        </p:spPr>
        <p:txBody>
          <a:bodyPr wrap="none" lIns="0" tIns="0" rIns="0" bIns="0" rtlCol="0" anchor="t"/>
          <a:lstStyle/>
          <a:p>
            <a:pPr marL="342900" indent="-342900" algn="l">
              <a:lnSpc>
                <a:spcPts val="1150"/>
              </a:lnSpc>
              <a:buSzPct val="100000"/>
              <a:buFont typeface="+mj-lt"/>
              <a:buAutoNum type="arabicPeriod" startAt="3"/>
            </a:pPr>
            <a:r>
              <a:rPr lang="en-US" sz="700" b="1" dirty="0">
                <a:solidFill>
                  <a:srgbClr val="000000"/>
                </a:solidFill>
                <a:latin typeface="Inter" pitchFamily="34" charset="0"/>
                <a:ea typeface="Inter" pitchFamily="34" charset="-122"/>
                <a:cs typeface="Inter" pitchFamily="34" charset="-120"/>
              </a:rPr>
              <a:t>Mobiliser l'équipe transverse requise :</a:t>
            </a:r>
            <a:r>
              <a:rPr lang="en-US" sz="700" dirty="0">
                <a:solidFill>
                  <a:srgbClr val="000000"/>
                </a:solidFill>
                <a:latin typeface="Inter" pitchFamily="34" charset="0"/>
                <a:ea typeface="Inter" pitchFamily="34" charset="-122"/>
                <a:cs typeface="Inter" pitchFamily="34" charset="-120"/>
              </a:rPr>
              <a:t> Data + IT + Retail + Marketing (sponsorship visible et explicite de la direction générale LVMH absolument requis pour succès)</a:t>
            </a:r>
            <a:endParaRPr lang="en-US" sz="700" dirty="0"/>
          </a:p>
        </p:txBody>
      </p:sp>
      <p:sp>
        <p:nvSpPr>
          <p:cNvPr id="38" name="Text 35"/>
          <p:cNvSpPr/>
          <p:nvPr/>
        </p:nvSpPr>
        <p:spPr>
          <a:xfrm>
            <a:off x="708422" y="6984087"/>
            <a:ext cx="1570553" cy="173474"/>
          </a:xfrm>
          <a:prstGeom prst="rect">
            <a:avLst/>
          </a:prstGeom>
          <a:noFill/>
          <a:ln/>
        </p:spPr>
        <p:txBody>
          <a:bodyPr wrap="none" lIns="0" tIns="0" rIns="0" bIns="0" rtlCol="0" anchor="t"/>
          <a:lstStyle/>
          <a:p>
            <a:pPr marL="0" indent="0" algn="l">
              <a:lnSpc>
                <a:spcPts val="1350"/>
              </a:lnSpc>
              <a:buNone/>
            </a:pPr>
            <a:r>
              <a:rPr lang="en-US" sz="1050" b="1" dirty="0">
                <a:solidFill>
                  <a:srgbClr val="000000"/>
                </a:solidFill>
                <a:latin typeface="Inter Bold" pitchFamily="34" charset="0"/>
                <a:ea typeface="Inter Bold" pitchFamily="34" charset="-122"/>
                <a:cs typeface="Inter Bold" pitchFamily="34" charset="-120"/>
              </a:rPr>
              <a:t>Vision TAG Heuer 2027</a:t>
            </a:r>
            <a:endParaRPr lang="en-US" sz="1050" dirty="0"/>
          </a:p>
        </p:txBody>
      </p:sp>
      <p:sp>
        <p:nvSpPr>
          <p:cNvPr id="39" name="Text 36"/>
          <p:cNvSpPr/>
          <p:nvPr/>
        </p:nvSpPr>
        <p:spPr>
          <a:xfrm>
            <a:off x="708422" y="7296388"/>
            <a:ext cx="13352383" cy="443984"/>
          </a:xfrm>
          <a:prstGeom prst="rect">
            <a:avLst/>
          </a:prstGeom>
          <a:noFill/>
          <a:ln/>
        </p:spPr>
        <p:txBody>
          <a:bodyPr wrap="square" lIns="0" tIns="0" rIns="0" bIns="0" rtlCol="0" anchor="t"/>
          <a:lstStyle/>
          <a:p>
            <a:pPr marL="0" indent="0" algn="l">
              <a:lnSpc>
                <a:spcPts val="1150"/>
              </a:lnSpc>
              <a:buNone/>
            </a:pPr>
            <a:r>
              <a:rPr lang="en-US" sz="700" dirty="0">
                <a:solidFill>
                  <a:srgbClr val="000000"/>
                </a:solidFill>
                <a:latin typeface="Inter" pitchFamily="34" charset="0"/>
                <a:ea typeface="Inter" pitchFamily="34" charset="-122"/>
                <a:cs typeface="Inter" pitchFamily="34" charset="-120"/>
              </a:rPr>
              <a:t>TAG Heuer est reconnu comme le </a:t>
            </a:r>
            <a:r>
              <a:rPr lang="en-US" sz="700" b="1" dirty="0">
                <a:solidFill>
                  <a:srgbClr val="000000"/>
                </a:solidFill>
                <a:latin typeface="Inter" pitchFamily="34" charset="0"/>
                <a:ea typeface="Inter" pitchFamily="34" charset="-122"/>
                <a:cs typeface="Inter" pitchFamily="34" charset="-120"/>
              </a:rPr>
              <a:t>pionnier mondial</a:t>
            </a:r>
            <a:r>
              <a:rPr lang="en-US" sz="700" dirty="0">
                <a:solidFill>
                  <a:srgbClr val="000000"/>
                </a:solidFill>
                <a:latin typeface="Inter" pitchFamily="34" charset="0"/>
                <a:ea typeface="Inter" pitchFamily="34" charset="-122"/>
                <a:cs typeface="Inter" pitchFamily="34" charset="-120"/>
              </a:rPr>
              <a:t> de l'intelligence culturelle dans l'horlogerie de luxe. L'expérience client omnicanale seamless combine harmonieusement l'intimité Four Seasons + l'échelle industrielle mondiale + l'authenticité humaine préservée. Les 69% de trafic online actuellement anonyme sont transformés en opportunités de conversion à 10% via Care Agent augmenté et parfaitement informé. La différenciation concurrentielle est durable et mesurable versus Cartier (IA comportementale uniquement) + Rolex (absence complète d'IA client-facing) + Omega (focus exclusif produit/technique sans dimension clienteling).</a:t>
            </a:r>
            <a:endParaRPr lang="en-US" sz="700" dirty="0"/>
          </a:p>
        </p:txBody>
      </p:sp>
      <p:sp>
        <p:nvSpPr>
          <p:cNvPr id="40" name="Shape 37"/>
          <p:cNvSpPr/>
          <p:nvPr/>
        </p:nvSpPr>
        <p:spPr>
          <a:xfrm>
            <a:off x="569595" y="6845260"/>
            <a:ext cx="15240" cy="999173"/>
          </a:xfrm>
          <a:prstGeom prst="rect">
            <a:avLst/>
          </a:prstGeom>
          <a:solidFill>
            <a:srgbClr val="008150"/>
          </a:solidFill>
          <a:ln/>
        </p:spPr>
        <p:txBody>
          <a:bodyPr/>
          <a:lstStyle/>
          <a:p>
            <a:endParaRPr lang="fr-CH"/>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b2662fe-1100-4049-b315-619699f6744f">
      <Terms xmlns="http://schemas.microsoft.com/office/infopath/2007/PartnerControls"/>
    </lcf76f155ced4ddcb4097134ff3c332f>
    <TaxCatchAll xmlns="17b2e45a-2c95-47f2-b5e9-90692000f98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5FF3513656F7041B59E667E19173942" ma:contentTypeVersion="10" ma:contentTypeDescription="Crée un document." ma:contentTypeScope="" ma:versionID="569b4e6f9b4574a2b23885b839d664f5">
  <xsd:schema xmlns:xsd="http://www.w3.org/2001/XMLSchema" xmlns:xs="http://www.w3.org/2001/XMLSchema" xmlns:p="http://schemas.microsoft.com/office/2006/metadata/properties" xmlns:ns2="6b2662fe-1100-4049-b315-619699f6744f" xmlns:ns3="17b2e45a-2c95-47f2-b5e9-90692000f981" targetNamespace="http://schemas.microsoft.com/office/2006/metadata/properties" ma:root="true" ma:fieldsID="45ebd98263c2f2178473156b04c07f91" ns2:_="" ns3:_="">
    <xsd:import namespace="6b2662fe-1100-4049-b315-619699f6744f"/>
    <xsd:import namespace="17b2e45a-2c95-47f2-b5e9-90692000f9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2662fe-1100-4049-b315-619699f674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e5965820-1b97-4994-ad5a-2b1f2cea3fc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7b2e45a-2c95-47f2-b5e9-90692000f98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6186a78-2de1-4aef-9334-bd14d59dd99f}" ma:internalName="TaxCatchAll" ma:showField="CatchAllData" ma:web="17b2e45a-2c95-47f2-b5e9-90692000f9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F5A787-1DC7-4BBD-B3E5-ED5C517C6C28}">
  <ds:schemaRefs>
    <ds:schemaRef ds:uri="http://schemas.microsoft.com/sharepoint/v3/contenttype/forms"/>
  </ds:schemaRefs>
</ds:datastoreItem>
</file>

<file path=customXml/itemProps2.xml><?xml version="1.0" encoding="utf-8"?>
<ds:datastoreItem xmlns:ds="http://schemas.openxmlformats.org/officeDocument/2006/customXml" ds:itemID="{56159CE5-ADE3-49B1-A920-572CD3358E3D}">
  <ds:schemaRefs>
    <ds:schemaRef ds:uri="http://schemas.microsoft.com/office/2006/documentManagement/types"/>
    <ds:schemaRef ds:uri="6b2662fe-1100-4049-b315-619699f6744f"/>
    <ds:schemaRef ds:uri="17b2e45a-2c95-47f2-b5e9-90692000f981"/>
    <ds:schemaRef ds:uri="http://schemas.microsoft.com/office/infopath/2007/PartnerControls"/>
    <ds:schemaRef ds:uri="http://www.w3.org/XML/1998/namespace"/>
    <ds:schemaRef ds:uri="http://purl.org/dc/elements/1.1/"/>
    <ds:schemaRef ds:uri="http://schemas.microsoft.com/office/2006/metadata/propertie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DA071A23-F7BB-49CA-A40E-704E198CAA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2662fe-1100-4049-b315-619699f6744f"/>
    <ds:schemaRef ds:uri="17b2e45a-2c95-47f2-b5e9-90692000f9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7990</Words>
  <Application>Microsoft Office PowerPoint</Application>
  <PresentationFormat>Personnalisé</PresentationFormat>
  <Paragraphs>392</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Inter Bold</vt:lpstr>
      <vt:lpstr>Inter Light</vt:lpstr>
      <vt:lpstr>Arial</vt:lpstr>
      <vt:lpstr>Inter</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Nicolas Alexandre</cp:lastModifiedBy>
  <cp:revision>1</cp:revision>
  <dcterms:created xsi:type="dcterms:W3CDTF">2025-11-14T10:45:55Z</dcterms:created>
  <dcterms:modified xsi:type="dcterms:W3CDTF">2025-11-14T11:16:15Z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0x01010085FF3513656F7041B59E667E19173942</vt:lpwstr>
  </property>
  <property fmtid="{D5CDD505-2E9C-101B-9397-08002B2CF9AE}" pid="3" name="MediaServiceImageTags">
    <vt:lpwstr/>
  </property>
</Properties>
</file>